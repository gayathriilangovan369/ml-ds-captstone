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5.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548640" y="502920"/>
            <a:ext cx="1353312" cy="365760"/>
          </a:xfrm>
          <a:prstGeom prst="rect">
            <a:avLst/>
          </a:prstGeom>
        </p:spPr>
      </p:pic>
      <p:sp>
        <p:nvSpPr>
          <p:cNvPr id="3" name="Text 0"/>
          <p:cNvSpPr txBox="1"/>
          <p:nvPr/>
        </p:nvSpPr>
        <p:spPr>
          <a:xfrm>
            <a:off x="548640" y="1554480"/>
            <a:ext cx="7315200" cy="320040"/>
          </a:xfrm>
          <a:prstGeom prst="rect">
            <a:avLst/>
          </a:prstGeom>
          <a:noFill/>
          <a:ln/>
        </p:spPr>
        <p:txBody>
          <a:bodyPr wrap="square" lIns="0" tIns="0" rIns="0" bIns="0" rtlCol="0" anchor="ctr"/>
          <a:lstStyle/>
          <a:p>
            <a:pPr indent="0" marL="0">
              <a:buNone/>
            </a:pPr>
            <a:r>
              <a:rPr lang="en-US" sz="1200" b="1" spc="300" kern="0" dirty="0">
                <a:solidFill>
                  <a:srgbClr val="FF4D57"/>
                </a:solidFill>
                <a:latin typeface="Segoe UI" pitchFamily="34" charset="0"/>
                <a:ea typeface="Segoe UI" pitchFamily="34" charset="-122"/>
                <a:cs typeface="Segoe UI" pitchFamily="34" charset="-120"/>
              </a:rPr>
              <a:t>NETFLIX CUSTOMER CHURN ANALYSIS</a:t>
            </a:r>
            <a:endParaRPr lang="en-US" sz="1200" dirty="0"/>
          </a:p>
        </p:txBody>
      </p:sp>
      <p:sp>
        <p:nvSpPr>
          <p:cNvPr id="4" name="Text 1"/>
          <p:cNvSpPr txBox="1"/>
          <p:nvPr/>
        </p:nvSpPr>
        <p:spPr>
          <a:xfrm>
            <a:off x="548640" y="1901952"/>
            <a:ext cx="9144000" cy="868680"/>
          </a:xfrm>
          <a:prstGeom prst="rect">
            <a:avLst/>
          </a:prstGeom>
          <a:noFill/>
          <a:ln/>
        </p:spPr>
        <p:txBody>
          <a:bodyPr wrap="square" lIns="0" tIns="0" rIns="0" bIns="0" rtlCol="0" anchor="ctr"/>
          <a:lstStyle/>
          <a:p>
            <a:pPr indent="0" marL="0">
              <a:buNone/>
            </a:pPr>
            <a:r>
              <a:rPr lang="en-US" sz="5000" b="1" dirty="0">
                <a:solidFill>
                  <a:srgbClr val="F5F5F1"/>
                </a:solidFill>
                <a:latin typeface="Segoe UI" pitchFamily="34" charset="0"/>
                <a:ea typeface="Segoe UI" pitchFamily="34" charset="-122"/>
                <a:cs typeface="Segoe UI" pitchFamily="34" charset="-120"/>
              </a:rPr>
              <a:t>Exploratory Data Analysis</a:t>
            </a:r>
            <a:endParaRPr lang="en-US" sz="5000" dirty="0"/>
          </a:p>
        </p:txBody>
      </p:sp>
      <p:sp>
        <p:nvSpPr>
          <p:cNvPr id="5" name="Text 2"/>
          <p:cNvSpPr txBox="1"/>
          <p:nvPr/>
        </p:nvSpPr>
        <p:spPr>
          <a:xfrm>
            <a:off x="548640" y="2743200"/>
            <a:ext cx="9144000" cy="640080"/>
          </a:xfrm>
          <a:prstGeom prst="rect">
            <a:avLst/>
          </a:prstGeom>
          <a:noFill/>
          <a:ln/>
        </p:spPr>
        <p:txBody>
          <a:bodyPr wrap="square" lIns="0" tIns="0" rIns="0" bIns="0" rtlCol="0" anchor="ctr"/>
          <a:lstStyle/>
          <a:p>
            <a:pPr indent="0" marL="0">
              <a:buNone/>
            </a:pPr>
            <a:r>
              <a:rPr lang="en-US" sz="3000" b="1" dirty="0">
                <a:solidFill>
                  <a:srgbClr val="FF4D57"/>
                </a:solidFill>
                <a:latin typeface="Segoe UI" pitchFamily="34" charset="0"/>
                <a:ea typeface="Segoe UI" pitchFamily="34" charset="-122"/>
                <a:cs typeface="Segoe UI" pitchFamily="34" charset="-120"/>
              </a:rPr>
              <a:t>Findings &amp; Insights</a:t>
            </a:r>
            <a:endParaRPr lang="en-US" sz="3000" dirty="0"/>
          </a:p>
        </p:txBody>
      </p:sp>
      <p:sp>
        <p:nvSpPr>
          <p:cNvPr id="6" name="Text 3"/>
          <p:cNvSpPr txBox="1"/>
          <p:nvPr/>
        </p:nvSpPr>
        <p:spPr>
          <a:xfrm>
            <a:off x="548640" y="3401568"/>
            <a:ext cx="7772400" cy="411480"/>
          </a:xfrm>
          <a:prstGeom prst="rect">
            <a:avLst/>
          </a:prstGeom>
          <a:noFill/>
          <a:ln/>
        </p:spPr>
        <p:txBody>
          <a:bodyPr wrap="square" lIns="0" tIns="0" rIns="0" bIns="0" rtlCol="0" anchor="ctr"/>
          <a:lstStyle/>
          <a:p>
            <a:pPr indent="0" marL="0">
              <a:buNone/>
            </a:pPr>
            <a:r>
              <a:rPr lang="en-US" sz="1600" dirty="0">
                <a:solidFill>
                  <a:srgbClr val="A6A6A6"/>
                </a:solidFill>
                <a:latin typeface="Segoe UI" pitchFamily="34" charset="0"/>
                <a:ea typeface="Segoe UI" pitchFamily="34" charset="-122"/>
                <a:cs typeface="Segoe UI" pitchFamily="34" charset="-120"/>
              </a:rPr>
              <a:t>Who is leaving, what warns us early, and how much revenue is at risk</a:t>
            </a:r>
            <a:endParaRPr lang="en-US" sz="1600" dirty="0"/>
          </a:p>
        </p:txBody>
      </p:sp>
      <p:sp>
        <p:nvSpPr>
          <p:cNvPr id="7" name="Shape 4"/>
          <p:cNvSpPr/>
          <p:nvPr/>
        </p:nvSpPr>
        <p:spPr>
          <a:xfrm>
            <a:off x="548640" y="4343400"/>
            <a:ext cx="0" cy="914400"/>
          </a:xfrm>
          <a:prstGeom prst="line">
            <a:avLst/>
          </a:prstGeom>
          <a:noFill/>
          <a:ln w="25400">
            <a:solidFill>
              <a:srgbClr val="E50914"/>
            </a:solidFill>
            <a:prstDash val="solid"/>
          </a:ln>
        </p:spPr>
      </p:sp>
      <p:sp>
        <p:nvSpPr>
          <p:cNvPr id="8" name="Text 5"/>
          <p:cNvSpPr txBox="1"/>
          <p:nvPr/>
        </p:nvSpPr>
        <p:spPr>
          <a:xfrm>
            <a:off x="731520" y="4297680"/>
            <a:ext cx="2103120" cy="566928"/>
          </a:xfrm>
          <a:prstGeom prst="rect">
            <a:avLst/>
          </a:prstGeom>
          <a:noFill/>
          <a:ln/>
        </p:spPr>
        <p:txBody>
          <a:bodyPr wrap="square" lIns="0" tIns="0" rIns="0" bIns="0" rtlCol="0" anchor="b"/>
          <a:lstStyle/>
          <a:p>
            <a:pPr indent="0" marL="0">
              <a:buNone/>
            </a:pPr>
            <a:r>
              <a:rPr lang="en-US" sz="3000" b="1" dirty="0">
                <a:solidFill>
                  <a:srgbClr val="F5F5F1"/>
                </a:solidFill>
                <a:latin typeface="Segoe UI" pitchFamily="34" charset="0"/>
                <a:ea typeface="Segoe UI" pitchFamily="34" charset="-122"/>
                <a:cs typeface="Segoe UI" pitchFamily="34" charset="-120"/>
              </a:rPr>
              <a:t>5,000</a:t>
            </a:r>
            <a:endParaRPr lang="en-US" sz="3000" dirty="0"/>
          </a:p>
        </p:txBody>
      </p:sp>
      <p:sp>
        <p:nvSpPr>
          <p:cNvPr id="9" name="Text 6"/>
          <p:cNvSpPr txBox="1"/>
          <p:nvPr/>
        </p:nvSpPr>
        <p:spPr>
          <a:xfrm>
            <a:off x="731520" y="4910328"/>
            <a:ext cx="2103120" cy="36576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Customers analysed</a:t>
            </a:r>
            <a:endParaRPr lang="en-US" sz="1100" dirty="0"/>
          </a:p>
        </p:txBody>
      </p:sp>
      <p:sp>
        <p:nvSpPr>
          <p:cNvPr id="10" name="Shape 7"/>
          <p:cNvSpPr/>
          <p:nvPr/>
        </p:nvSpPr>
        <p:spPr>
          <a:xfrm>
            <a:off x="2926080" y="4343400"/>
            <a:ext cx="0" cy="914400"/>
          </a:xfrm>
          <a:prstGeom prst="line">
            <a:avLst/>
          </a:prstGeom>
          <a:noFill/>
          <a:ln w="25400">
            <a:solidFill>
              <a:srgbClr val="2A2A2A"/>
            </a:solidFill>
            <a:prstDash val="solid"/>
          </a:ln>
        </p:spPr>
      </p:sp>
      <p:sp>
        <p:nvSpPr>
          <p:cNvPr id="11" name="Text 8"/>
          <p:cNvSpPr txBox="1"/>
          <p:nvPr/>
        </p:nvSpPr>
        <p:spPr>
          <a:xfrm>
            <a:off x="3108960" y="4297680"/>
            <a:ext cx="2103120" cy="566928"/>
          </a:xfrm>
          <a:prstGeom prst="rect">
            <a:avLst/>
          </a:prstGeom>
          <a:noFill/>
          <a:ln/>
        </p:spPr>
        <p:txBody>
          <a:bodyPr wrap="square" lIns="0" tIns="0" rIns="0" bIns="0" rtlCol="0" anchor="b"/>
          <a:lstStyle/>
          <a:p>
            <a:pPr indent="0" marL="0">
              <a:buNone/>
            </a:pPr>
            <a:r>
              <a:rPr lang="en-US" sz="3000" b="1" dirty="0">
                <a:solidFill>
                  <a:srgbClr val="F5F5F1"/>
                </a:solidFill>
                <a:latin typeface="Segoe UI" pitchFamily="34" charset="0"/>
                <a:ea typeface="Segoe UI" pitchFamily="34" charset="-122"/>
                <a:cs typeface="Segoe UI" pitchFamily="34" charset="-120"/>
              </a:rPr>
              <a:t>29</a:t>
            </a:r>
            <a:endParaRPr lang="en-US" sz="3000" dirty="0"/>
          </a:p>
        </p:txBody>
      </p:sp>
      <p:sp>
        <p:nvSpPr>
          <p:cNvPr id="12" name="Text 9"/>
          <p:cNvSpPr txBox="1"/>
          <p:nvPr/>
        </p:nvSpPr>
        <p:spPr>
          <a:xfrm>
            <a:off x="3108960" y="4910328"/>
            <a:ext cx="2103120" cy="36576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Columns, incl. 15 calculated</a:t>
            </a:r>
            <a:endParaRPr lang="en-US" sz="1100" dirty="0"/>
          </a:p>
        </p:txBody>
      </p:sp>
      <p:sp>
        <p:nvSpPr>
          <p:cNvPr id="13" name="Shape 10"/>
          <p:cNvSpPr/>
          <p:nvPr/>
        </p:nvSpPr>
        <p:spPr>
          <a:xfrm>
            <a:off x="5303520" y="4343400"/>
            <a:ext cx="0" cy="914400"/>
          </a:xfrm>
          <a:prstGeom prst="line">
            <a:avLst/>
          </a:prstGeom>
          <a:noFill/>
          <a:ln w="25400">
            <a:solidFill>
              <a:srgbClr val="2A2A2A"/>
            </a:solidFill>
            <a:prstDash val="solid"/>
          </a:ln>
        </p:spPr>
      </p:sp>
      <p:sp>
        <p:nvSpPr>
          <p:cNvPr id="14" name="Text 11"/>
          <p:cNvSpPr txBox="1"/>
          <p:nvPr/>
        </p:nvSpPr>
        <p:spPr>
          <a:xfrm>
            <a:off x="5486400" y="4297680"/>
            <a:ext cx="2103120" cy="566928"/>
          </a:xfrm>
          <a:prstGeom prst="rect">
            <a:avLst/>
          </a:prstGeom>
          <a:noFill/>
          <a:ln/>
        </p:spPr>
        <p:txBody>
          <a:bodyPr wrap="square" lIns="0" tIns="0" rIns="0" bIns="0" rtlCol="0" anchor="b"/>
          <a:lstStyle/>
          <a:p>
            <a:pPr indent="0" marL="0">
              <a:buNone/>
            </a:pPr>
            <a:r>
              <a:rPr lang="en-US" sz="3000" b="1" dirty="0">
                <a:solidFill>
                  <a:srgbClr val="F5F5F1"/>
                </a:solidFill>
                <a:latin typeface="Segoe UI" pitchFamily="34" charset="0"/>
                <a:ea typeface="Segoe UI" pitchFamily="34" charset="-122"/>
                <a:cs typeface="Segoe UI" pitchFamily="34" charset="-120"/>
              </a:rPr>
              <a:t>15</a:t>
            </a:r>
            <a:endParaRPr lang="en-US" sz="3000" dirty="0"/>
          </a:p>
        </p:txBody>
      </p:sp>
      <p:sp>
        <p:nvSpPr>
          <p:cNvPr id="15" name="Text 12"/>
          <p:cNvSpPr txBox="1"/>
          <p:nvPr/>
        </p:nvSpPr>
        <p:spPr>
          <a:xfrm>
            <a:off x="5486400" y="4910328"/>
            <a:ext cx="2103120" cy="36576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Business questions</a:t>
            </a:r>
            <a:endParaRPr lang="en-US" sz="1100" dirty="0"/>
          </a:p>
        </p:txBody>
      </p:sp>
      <p:sp>
        <p:nvSpPr>
          <p:cNvPr id="16" name="Shape 13"/>
          <p:cNvSpPr/>
          <p:nvPr/>
        </p:nvSpPr>
        <p:spPr>
          <a:xfrm>
            <a:off x="7680960" y="4343400"/>
            <a:ext cx="0" cy="914400"/>
          </a:xfrm>
          <a:prstGeom prst="line">
            <a:avLst/>
          </a:prstGeom>
          <a:noFill/>
          <a:ln w="25400">
            <a:solidFill>
              <a:srgbClr val="2A2A2A"/>
            </a:solidFill>
            <a:prstDash val="solid"/>
          </a:ln>
        </p:spPr>
      </p:sp>
      <p:sp>
        <p:nvSpPr>
          <p:cNvPr id="17" name="Text 14"/>
          <p:cNvSpPr txBox="1"/>
          <p:nvPr/>
        </p:nvSpPr>
        <p:spPr>
          <a:xfrm>
            <a:off x="7863840" y="4297680"/>
            <a:ext cx="2103120" cy="566928"/>
          </a:xfrm>
          <a:prstGeom prst="rect">
            <a:avLst/>
          </a:prstGeom>
          <a:noFill/>
          <a:ln/>
        </p:spPr>
        <p:txBody>
          <a:bodyPr wrap="square" lIns="0" tIns="0" rIns="0" bIns="0" rtlCol="0" anchor="b"/>
          <a:lstStyle/>
          <a:p>
            <a:pPr indent="0" marL="0">
              <a:buNone/>
            </a:pPr>
            <a:r>
              <a:rPr lang="en-US" sz="3000" b="1" dirty="0">
                <a:solidFill>
                  <a:srgbClr val="FF4D57"/>
                </a:solidFill>
                <a:latin typeface="Segoe UI" pitchFamily="34" charset="0"/>
                <a:ea typeface="Segoe UI" pitchFamily="34" charset="-122"/>
                <a:cs typeface="Segoe UI" pitchFamily="34" charset="-120"/>
              </a:rPr>
              <a:t>50.3%</a:t>
            </a:r>
            <a:endParaRPr lang="en-US" sz="3000" dirty="0"/>
          </a:p>
        </p:txBody>
      </p:sp>
      <p:sp>
        <p:nvSpPr>
          <p:cNvPr id="18" name="Text 15"/>
          <p:cNvSpPr txBox="1"/>
          <p:nvPr/>
        </p:nvSpPr>
        <p:spPr>
          <a:xfrm>
            <a:off x="7863840" y="4910328"/>
            <a:ext cx="2103120" cy="36576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Customers who churned</a:t>
            </a:r>
            <a:endParaRPr lang="en-US" sz="1100" dirty="0"/>
          </a:p>
        </p:txBody>
      </p:sp>
      <p:sp>
        <p:nvSpPr>
          <p:cNvPr id="19" name="Text 16"/>
          <p:cNvSpPr txBox="1"/>
          <p:nvPr/>
        </p:nvSpPr>
        <p:spPr>
          <a:xfrm>
            <a:off x="548640" y="6263640"/>
            <a:ext cx="7315200" cy="274320"/>
          </a:xfrm>
          <a:prstGeom prst="rect">
            <a:avLst/>
          </a:prstGeom>
          <a:noFill/>
          <a:ln/>
        </p:spPr>
        <p:txBody>
          <a:bodyPr wrap="square" lIns="0" tIns="0" rIns="0" bIns="0" rtlCol="0" anchor="ctr"/>
          <a:lstStyle/>
          <a:p>
            <a:pPr indent="0" marL="0">
              <a:buNone/>
            </a:pPr>
            <a:r>
              <a:rPr lang="en-US" sz="1050" dirty="0">
                <a:solidFill>
                  <a:srgbClr val="A6A6A6"/>
                </a:solidFill>
                <a:latin typeface="Segoe UI" pitchFamily="34" charset="0"/>
                <a:ea typeface="Segoe UI" pitchFamily="34" charset="-122"/>
                <a:cs typeface="Segoe UI" pitchFamily="34" charset="-120"/>
              </a:rPr>
              <a:t>Gayathri Ilangovan   |   ML &amp; Data Science Capstone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OVERVIEW</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The Business Problem</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Netflix earns its revenue from monthly subscriptions, so every cancellation is recurring revenue lost.</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02 / 27</a:t>
            </a:r>
            <a:endParaRPr lang="en-US" sz="900" dirty="0"/>
          </a:p>
        </p:txBody>
      </p:sp>
      <p:sp>
        <p:nvSpPr>
          <p:cNvPr id="10" name="Text 7"/>
          <p:cNvSpPr txBox="1"/>
          <p:nvPr/>
        </p:nvSpPr>
        <p:spPr>
          <a:xfrm>
            <a:off x="548640" y="1965960"/>
            <a:ext cx="11064240" cy="731520"/>
          </a:xfrm>
          <a:prstGeom prst="rect">
            <a:avLst/>
          </a:prstGeom>
          <a:noFill/>
          <a:ln/>
        </p:spPr>
        <p:txBody>
          <a:bodyPr wrap="square" lIns="0" tIns="0" rIns="0" bIns="0" rtlCol="0" anchor="t"/>
          <a:lstStyle/>
          <a:p>
            <a:pPr indent="0" marL="0">
              <a:buNone/>
            </a:pPr>
            <a:r>
              <a:rPr lang="en-US" sz="1400" dirty="0">
                <a:solidFill>
                  <a:srgbClr val="F5F5F1"/>
                </a:solidFill>
                <a:latin typeface="Segoe UI" pitchFamily="34" charset="0"/>
                <a:ea typeface="Segoe UI" pitchFamily="34" charset="-122"/>
                <a:cs typeface="Segoe UI" pitchFamily="34" charset="-120"/>
              </a:rPr>
              <a:t>Winning a new subscriber costs far more than keeping an existing one, yet unhappy customers are usually only noticed once they have already left. This analysis explores 5,000 customer records to understand churn before it happens.</a:t>
            </a:r>
            <a:endParaRPr lang="en-US" sz="1400" dirty="0"/>
          </a:p>
        </p:txBody>
      </p:sp>
      <p:sp>
        <p:nvSpPr>
          <p:cNvPr id="11" name="Shape 8"/>
          <p:cNvSpPr/>
          <p:nvPr/>
        </p:nvSpPr>
        <p:spPr>
          <a:xfrm>
            <a:off x="548640" y="2971800"/>
            <a:ext cx="3593592" cy="3108960"/>
          </a:xfrm>
          <a:prstGeom prst="roundRect">
            <a:avLst>
              <a:gd name="adj" fmla="val 2353"/>
            </a:avLst>
          </a:prstGeom>
          <a:solidFill>
            <a:srgbClr val="151515"/>
          </a:solidFill>
          <a:ln w="9525">
            <a:solidFill>
              <a:srgbClr val="2A2A2A"/>
            </a:solidFill>
            <a:prstDash val="solid"/>
          </a:ln>
        </p:spPr>
      </p:sp>
      <p:sp>
        <p:nvSpPr>
          <p:cNvPr id="12" name="Shape 9"/>
          <p:cNvSpPr/>
          <p:nvPr/>
        </p:nvSpPr>
        <p:spPr>
          <a:xfrm>
            <a:off x="749808" y="2971800"/>
            <a:ext cx="548640" cy="36576"/>
          </a:xfrm>
          <a:prstGeom prst="rect">
            <a:avLst/>
          </a:prstGeom>
          <a:solidFill>
            <a:srgbClr val="E50914"/>
          </a:solidFill>
          <a:ln w="12700">
            <a:solidFill>
              <a:srgbClr val="E50914"/>
            </a:solidFill>
            <a:prstDash val="solid"/>
          </a:ln>
        </p:spPr>
      </p:sp>
      <p:pic>
        <p:nvPicPr>
          <p:cNvPr id="13" name="Image 1" descr="/tmp/claude-0/-home-claude/0afb8f05-6c65-583f-af33-ecd94b11a885/scratchpad/eda/assets/churned.png">    </p:cNvPr>
          <p:cNvPicPr>
            <a:picLocks noChangeAspect="1"/>
          </p:cNvPicPr>
          <p:nvPr/>
        </p:nvPicPr>
        <p:blipFill>
          <a:blip r:embed="rId3"/>
          <a:stretch>
            <a:fillRect/>
          </a:stretch>
        </p:blipFill>
        <p:spPr>
          <a:xfrm>
            <a:off x="822960" y="3291840"/>
            <a:ext cx="548640" cy="548640"/>
          </a:xfrm>
          <a:prstGeom prst="rect">
            <a:avLst/>
          </a:prstGeom>
        </p:spPr>
      </p:pic>
      <p:sp>
        <p:nvSpPr>
          <p:cNvPr id="14" name="Text 10"/>
          <p:cNvSpPr txBox="1"/>
          <p:nvPr/>
        </p:nvSpPr>
        <p:spPr>
          <a:xfrm>
            <a:off x="3291840" y="3246120"/>
            <a:ext cx="640080" cy="457200"/>
          </a:xfrm>
          <a:prstGeom prst="rect">
            <a:avLst/>
          </a:prstGeom>
          <a:noFill/>
          <a:ln/>
        </p:spPr>
        <p:txBody>
          <a:bodyPr wrap="square" lIns="0" tIns="0" rIns="0" bIns="0" rtlCol="0" anchor="ctr"/>
          <a:lstStyle/>
          <a:p>
            <a:pPr algn="r" indent="0" marL="0">
              <a:buNone/>
            </a:pPr>
            <a:r>
              <a:rPr lang="en-US" sz="2400" b="1" dirty="0">
                <a:solidFill>
                  <a:srgbClr val="3A3A3A"/>
                </a:solidFill>
                <a:latin typeface="Segoe UI" pitchFamily="34" charset="0"/>
                <a:ea typeface="Segoe UI" pitchFamily="34" charset="-122"/>
                <a:cs typeface="Segoe UI" pitchFamily="34" charset="-120"/>
              </a:rPr>
              <a:t>01</a:t>
            </a:r>
            <a:endParaRPr lang="en-US" sz="2400" dirty="0"/>
          </a:p>
        </p:txBody>
      </p:sp>
      <p:sp>
        <p:nvSpPr>
          <p:cNvPr id="15" name="Text 11"/>
          <p:cNvSpPr txBox="1"/>
          <p:nvPr/>
        </p:nvSpPr>
        <p:spPr>
          <a:xfrm>
            <a:off x="822960" y="4069080"/>
            <a:ext cx="3108960" cy="411480"/>
          </a:xfrm>
          <a:prstGeom prst="rect">
            <a:avLst/>
          </a:prstGeom>
          <a:noFill/>
          <a:ln/>
        </p:spPr>
        <p:txBody>
          <a:bodyPr wrap="square" lIns="0" tIns="0" rIns="0" bIns="0" rtlCol="0" anchor="ctr"/>
          <a:lstStyle/>
          <a:p>
            <a:pPr indent="0" marL="0">
              <a:buNone/>
            </a:pPr>
            <a:r>
              <a:rPr lang="en-US" sz="1800" b="1" dirty="0">
                <a:solidFill>
                  <a:srgbClr val="F5F5F1"/>
                </a:solidFill>
                <a:latin typeface="Segoe UI" pitchFamily="34" charset="0"/>
                <a:ea typeface="Segoe UI" pitchFamily="34" charset="-122"/>
                <a:cs typeface="Segoe UI" pitchFamily="34" charset="-120"/>
              </a:rPr>
              <a:t>Who is leaving?</a:t>
            </a:r>
            <a:endParaRPr lang="en-US" sz="1800" dirty="0"/>
          </a:p>
        </p:txBody>
      </p:sp>
      <p:sp>
        <p:nvSpPr>
          <p:cNvPr id="16" name="Text 12"/>
          <p:cNvSpPr txBox="1"/>
          <p:nvPr/>
        </p:nvSpPr>
        <p:spPr>
          <a:xfrm>
            <a:off x="822960" y="4572000"/>
            <a:ext cx="3108960" cy="1188720"/>
          </a:xfrm>
          <a:prstGeom prst="rect">
            <a:avLst/>
          </a:prstGeom>
          <a:noFill/>
          <a:ln/>
        </p:spPr>
        <p:txBody>
          <a:bodyPr wrap="square" lIns="0" tIns="0" rIns="0" bIns="0" rtlCol="0" anchor="t"/>
          <a:lstStyle/>
          <a:p>
            <a:pPr indent="0" marL="0">
              <a:buNone/>
            </a:pPr>
            <a:r>
              <a:rPr lang="en-US" sz="1250" dirty="0">
                <a:solidFill>
                  <a:srgbClr val="A6A6A6"/>
                </a:solidFill>
                <a:latin typeface="Segoe UI" pitchFamily="34" charset="0"/>
                <a:ea typeface="Segoe UI" pitchFamily="34" charset="-122"/>
                <a:cs typeface="Segoe UI" pitchFamily="34" charset="-120"/>
              </a:rPr>
              <a:t>Which customer groups cancel the most, and how large is the problem?</a:t>
            </a:r>
            <a:endParaRPr lang="en-US" sz="1250" dirty="0"/>
          </a:p>
        </p:txBody>
      </p:sp>
      <p:sp>
        <p:nvSpPr>
          <p:cNvPr id="17" name="Shape 13"/>
          <p:cNvSpPr/>
          <p:nvPr/>
        </p:nvSpPr>
        <p:spPr>
          <a:xfrm>
            <a:off x="4297680" y="2971800"/>
            <a:ext cx="3593592" cy="3108960"/>
          </a:xfrm>
          <a:prstGeom prst="roundRect">
            <a:avLst>
              <a:gd name="adj" fmla="val 2353"/>
            </a:avLst>
          </a:prstGeom>
          <a:solidFill>
            <a:srgbClr val="151515"/>
          </a:solidFill>
          <a:ln w="9525">
            <a:solidFill>
              <a:srgbClr val="2A2A2A"/>
            </a:solidFill>
            <a:prstDash val="solid"/>
          </a:ln>
        </p:spPr>
      </p:sp>
      <p:sp>
        <p:nvSpPr>
          <p:cNvPr id="18" name="Shape 14"/>
          <p:cNvSpPr/>
          <p:nvPr/>
        </p:nvSpPr>
        <p:spPr>
          <a:xfrm>
            <a:off x="4498848" y="2971800"/>
            <a:ext cx="548640" cy="36576"/>
          </a:xfrm>
          <a:prstGeom prst="rect">
            <a:avLst/>
          </a:prstGeom>
          <a:solidFill>
            <a:srgbClr val="E50914"/>
          </a:solidFill>
          <a:ln w="12700">
            <a:solidFill>
              <a:srgbClr val="E50914"/>
            </a:solidFill>
            <a:prstDash val="solid"/>
          </a:ln>
        </p:spPr>
      </p:sp>
      <p:pic>
        <p:nvPicPr>
          <p:cNvPr id="19" name="Image 2" descr="/tmp/claude-0/-home-claude/0afb8f05-6c65-583f-af33-ecd94b11a885/scratchpad/eda/assets/warning.png">    </p:cNvPr>
          <p:cNvPicPr>
            <a:picLocks noChangeAspect="1"/>
          </p:cNvPicPr>
          <p:nvPr/>
        </p:nvPicPr>
        <p:blipFill>
          <a:blip r:embed="rId4"/>
          <a:stretch>
            <a:fillRect/>
          </a:stretch>
        </p:blipFill>
        <p:spPr>
          <a:xfrm>
            <a:off x="4572000" y="3291840"/>
            <a:ext cx="548640" cy="548640"/>
          </a:xfrm>
          <a:prstGeom prst="rect">
            <a:avLst/>
          </a:prstGeom>
        </p:spPr>
      </p:pic>
      <p:sp>
        <p:nvSpPr>
          <p:cNvPr id="20" name="Text 15"/>
          <p:cNvSpPr txBox="1"/>
          <p:nvPr/>
        </p:nvSpPr>
        <p:spPr>
          <a:xfrm>
            <a:off x="7040880" y="3246120"/>
            <a:ext cx="640080" cy="457200"/>
          </a:xfrm>
          <a:prstGeom prst="rect">
            <a:avLst/>
          </a:prstGeom>
          <a:noFill/>
          <a:ln/>
        </p:spPr>
        <p:txBody>
          <a:bodyPr wrap="square" lIns="0" tIns="0" rIns="0" bIns="0" rtlCol="0" anchor="ctr"/>
          <a:lstStyle/>
          <a:p>
            <a:pPr algn="r" indent="0" marL="0">
              <a:buNone/>
            </a:pPr>
            <a:r>
              <a:rPr lang="en-US" sz="2400" b="1" dirty="0">
                <a:solidFill>
                  <a:srgbClr val="3A3A3A"/>
                </a:solidFill>
                <a:latin typeface="Segoe UI" pitchFamily="34" charset="0"/>
                <a:ea typeface="Segoe UI" pitchFamily="34" charset="-122"/>
                <a:cs typeface="Segoe UI" pitchFamily="34" charset="-120"/>
              </a:rPr>
              <a:t>02</a:t>
            </a:r>
            <a:endParaRPr lang="en-US" sz="2400" dirty="0"/>
          </a:p>
        </p:txBody>
      </p:sp>
      <p:sp>
        <p:nvSpPr>
          <p:cNvPr id="21" name="Text 16"/>
          <p:cNvSpPr txBox="1"/>
          <p:nvPr/>
        </p:nvSpPr>
        <p:spPr>
          <a:xfrm>
            <a:off x="4572000" y="4069080"/>
            <a:ext cx="3108960" cy="411480"/>
          </a:xfrm>
          <a:prstGeom prst="rect">
            <a:avLst/>
          </a:prstGeom>
          <a:noFill/>
          <a:ln/>
        </p:spPr>
        <p:txBody>
          <a:bodyPr wrap="square" lIns="0" tIns="0" rIns="0" bIns="0" rtlCol="0" anchor="ctr"/>
          <a:lstStyle/>
          <a:p>
            <a:pPr indent="0" marL="0">
              <a:buNone/>
            </a:pPr>
            <a:r>
              <a:rPr lang="en-US" sz="1800" b="1" dirty="0">
                <a:solidFill>
                  <a:srgbClr val="F5F5F1"/>
                </a:solidFill>
                <a:latin typeface="Segoe UI" pitchFamily="34" charset="0"/>
                <a:ea typeface="Segoe UI" pitchFamily="34" charset="-122"/>
                <a:cs typeface="Segoe UI" pitchFamily="34" charset="-120"/>
              </a:rPr>
              <a:t>What are the warning signs?</a:t>
            </a:r>
            <a:endParaRPr lang="en-US" sz="1800" dirty="0"/>
          </a:p>
        </p:txBody>
      </p:sp>
      <p:sp>
        <p:nvSpPr>
          <p:cNvPr id="22" name="Text 17"/>
          <p:cNvSpPr txBox="1"/>
          <p:nvPr/>
        </p:nvSpPr>
        <p:spPr>
          <a:xfrm>
            <a:off x="4572000" y="4572000"/>
            <a:ext cx="3108960" cy="1188720"/>
          </a:xfrm>
          <a:prstGeom prst="rect">
            <a:avLst/>
          </a:prstGeom>
          <a:noFill/>
          <a:ln/>
        </p:spPr>
        <p:txBody>
          <a:bodyPr wrap="square" lIns="0" tIns="0" rIns="0" bIns="0" rtlCol="0" anchor="t"/>
          <a:lstStyle/>
          <a:p>
            <a:pPr indent="0" marL="0">
              <a:buNone/>
            </a:pPr>
            <a:r>
              <a:rPr lang="en-US" sz="1250" dirty="0">
                <a:solidFill>
                  <a:srgbClr val="A6A6A6"/>
                </a:solidFill>
                <a:latin typeface="Segoe UI" pitchFamily="34" charset="0"/>
                <a:ea typeface="Segoe UI" pitchFamily="34" charset="-122"/>
                <a:cs typeface="Segoe UI" pitchFamily="34" charset="-120"/>
              </a:rPr>
              <a:t>Which behaviours, such as inactivity or low viewing, signal that a customer may leave?</a:t>
            </a:r>
            <a:endParaRPr lang="en-US" sz="1250" dirty="0"/>
          </a:p>
        </p:txBody>
      </p:sp>
      <p:sp>
        <p:nvSpPr>
          <p:cNvPr id="23" name="Shape 18"/>
          <p:cNvSpPr/>
          <p:nvPr/>
        </p:nvSpPr>
        <p:spPr>
          <a:xfrm>
            <a:off x="8046720" y="2971800"/>
            <a:ext cx="3593592" cy="3108960"/>
          </a:xfrm>
          <a:prstGeom prst="roundRect">
            <a:avLst>
              <a:gd name="adj" fmla="val 2353"/>
            </a:avLst>
          </a:prstGeom>
          <a:solidFill>
            <a:srgbClr val="151515"/>
          </a:solidFill>
          <a:ln w="9525">
            <a:solidFill>
              <a:srgbClr val="2A2A2A"/>
            </a:solidFill>
            <a:prstDash val="solid"/>
          </a:ln>
        </p:spPr>
      </p:sp>
      <p:sp>
        <p:nvSpPr>
          <p:cNvPr id="24" name="Shape 19"/>
          <p:cNvSpPr/>
          <p:nvPr/>
        </p:nvSpPr>
        <p:spPr>
          <a:xfrm>
            <a:off x="8247888" y="2971800"/>
            <a:ext cx="548640" cy="36576"/>
          </a:xfrm>
          <a:prstGeom prst="rect">
            <a:avLst/>
          </a:prstGeom>
          <a:solidFill>
            <a:srgbClr val="E50914"/>
          </a:solidFill>
          <a:ln w="12700">
            <a:solidFill>
              <a:srgbClr val="E50914"/>
            </a:solidFill>
            <a:prstDash val="solid"/>
          </a:ln>
        </p:spPr>
      </p:sp>
      <p:pic>
        <p:nvPicPr>
          <p:cNvPr id="25" name="Image 3" descr="/tmp/claude-0/-home-claude/0afb8f05-6c65-583f-af33-ecd94b11a885/scratchpad/eda/assets/dollar.png">    </p:cNvPr>
          <p:cNvPicPr>
            <a:picLocks noChangeAspect="1"/>
          </p:cNvPicPr>
          <p:nvPr/>
        </p:nvPicPr>
        <p:blipFill>
          <a:blip r:embed="rId5"/>
          <a:stretch>
            <a:fillRect/>
          </a:stretch>
        </p:blipFill>
        <p:spPr>
          <a:xfrm>
            <a:off x="8321040" y="3291840"/>
            <a:ext cx="548640" cy="548640"/>
          </a:xfrm>
          <a:prstGeom prst="rect">
            <a:avLst/>
          </a:prstGeom>
        </p:spPr>
      </p:pic>
      <p:sp>
        <p:nvSpPr>
          <p:cNvPr id="26" name="Text 20"/>
          <p:cNvSpPr txBox="1"/>
          <p:nvPr/>
        </p:nvSpPr>
        <p:spPr>
          <a:xfrm>
            <a:off x="10789920" y="3246120"/>
            <a:ext cx="640080" cy="457200"/>
          </a:xfrm>
          <a:prstGeom prst="rect">
            <a:avLst/>
          </a:prstGeom>
          <a:noFill/>
          <a:ln/>
        </p:spPr>
        <p:txBody>
          <a:bodyPr wrap="square" lIns="0" tIns="0" rIns="0" bIns="0" rtlCol="0" anchor="ctr"/>
          <a:lstStyle/>
          <a:p>
            <a:pPr algn="r" indent="0" marL="0">
              <a:buNone/>
            </a:pPr>
            <a:r>
              <a:rPr lang="en-US" sz="2400" b="1" dirty="0">
                <a:solidFill>
                  <a:srgbClr val="3A3A3A"/>
                </a:solidFill>
                <a:latin typeface="Segoe UI" pitchFamily="34" charset="0"/>
                <a:ea typeface="Segoe UI" pitchFamily="34" charset="-122"/>
                <a:cs typeface="Segoe UI" pitchFamily="34" charset="-120"/>
              </a:rPr>
              <a:t>03</a:t>
            </a:r>
            <a:endParaRPr lang="en-US" sz="2400" dirty="0"/>
          </a:p>
        </p:txBody>
      </p:sp>
      <p:sp>
        <p:nvSpPr>
          <p:cNvPr id="27" name="Text 21"/>
          <p:cNvSpPr txBox="1"/>
          <p:nvPr/>
        </p:nvSpPr>
        <p:spPr>
          <a:xfrm>
            <a:off x="8321040" y="4069080"/>
            <a:ext cx="3108960" cy="411480"/>
          </a:xfrm>
          <a:prstGeom prst="rect">
            <a:avLst/>
          </a:prstGeom>
          <a:noFill/>
          <a:ln/>
        </p:spPr>
        <p:txBody>
          <a:bodyPr wrap="square" lIns="0" tIns="0" rIns="0" bIns="0" rtlCol="0" anchor="ctr"/>
          <a:lstStyle/>
          <a:p>
            <a:pPr indent="0" marL="0">
              <a:buNone/>
            </a:pPr>
            <a:r>
              <a:rPr lang="en-US" sz="1800" b="1" dirty="0">
                <a:solidFill>
                  <a:srgbClr val="F5F5F1"/>
                </a:solidFill>
                <a:latin typeface="Segoe UI" pitchFamily="34" charset="0"/>
                <a:ea typeface="Segoe UI" pitchFamily="34" charset="-122"/>
                <a:cs typeface="Segoe UI" pitchFamily="34" charset="-120"/>
              </a:rPr>
              <a:t>How much revenue is at risk?</a:t>
            </a:r>
            <a:endParaRPr lang="en-US" sz="1800" dirty="0"/>
          </a:p>
        </p:txBody>
      </p:sp>
      <p:sp>
        <p:nvSpPr>
          <p:cNvPr id="28" name="Text 22"/>
          <p:cNvSpPr txBox="1"/>
          <p:nvPr/>
        </p:nvSpPr>
        <p:spPr>
          <a:xfrm>
            <a:off x="8321040" y="4572000"/>
            <a:ext cx="3108960" cy="1188720"/>
          </a:xfrm>
          <a:prstGeom prst="rect">
            <a:avLst/>
          </a:prstGeom>
          <a:noFill/>
          <a:ln/>
        </p:spPr>
        <p:txBody>
          <a:bodyPr wrap="square" lIns="0" tIns="0" rIns="0" bIns="0" rtlCol="0" anchor="t"/>
          <a:lstStyle/>
          <a:p>
            <a:pPr indent="0" marL="0">
              <a:buNone/>
            </a:pPr>
            <a:r>
              <a:rPr lang="en-US" sz="1250" dirty="0">
                <a:solidFill>
                  <a:srgbClr val="A6A6A6"/>
                </a:solidFill>
                <a:latin typeface="Segoe UI" pitchFamily="34" charset="0"/>
                <a:ea typeface="Segoe UI" pitchFamily="34" charset="-122"/>
                <a:cs typeface="Segoe UI" pitchFamily="34" charset="-120"/>
              </a:rPr>
              <a:t>Which groups hold the most revenue at risk, and where should retention start?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UNDERSTANDING THE DATA</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Original Columns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Each row is one customer; churned is the target variable (1 = left, 0 = stayed).</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03 / 27</a:t>
            </a:r>
            <a:endParaRPr lang="en-US" sz="900" dirty="0"/>
          </a:p>
        </p:txBody>
      </p:sp>
      <p:sp>
        <p:nvSpPr>
          <p:cNvPr id="10" name="Shape 7"/>
          <p:cNvSpPr/>
          <p:nvPr/>
        </p:nvSpPr>
        <p:spPr>
          <a:xfrm>
            <a:off x="548640" y="1920240"/>
            <a:ext cx="5486400" cy="512064"/>
          </a:xfrm>
          <a:prstGeom prst="roundRect">
            <a:avLst>
              <a:gd name="adj" fmla="val 10714"/>
            </a:avLst>
          </a:prstGeom>
          <a:solidFill>
            <a:srgbClr val="151515"/>
          </a:solidFill>
          <a:ln w="9525">
            <a:solidFill>
              <a:srgbClr val="2A2A2A"/>
            </a:solidFill>
            <a:prstDash val="solid"/>
          </a:ln>
        </p:spPr>
      </p:sp>
      <p:sp>
        <p:nvSpPr>
          <p:cNvPr id="11" name="Text 8"/>
          <p:cNvSpPr txBox="1"/>
          <p:nvPr/>
        </p:nvSpPr>
        <p:spPr>
          <a:xfrm>
            <a:off x="749808" y="1920240"/>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customer_id</a:t>
            </a:r>
            <a:endParaRPr lang="en-US" sz="1100" dirty="0"/>
          </a:p>
        </p:txBody>
      </p:sp>
      <p:sp>
        <p:nvSpPr>
          <p:cNvPr id="12" name="Text 9"/>
          <p:cNvSpPr txBox="1"/>
          <p:nvPr/>
        </p:nvSpPr>
        <p:spPr>
          <a:xfrm>
            <a:off x="3017520" y="1920240"/>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Unique anonymous subscriber identifier</a:t>
            </a:r>
            <a:endParaRPr lang="en-US" sz="1100" dirty="0"/>
          </a:p>
        </p:txBody>
      </p:sp>
      <p:sp>
        <p:nvSpPr>
          <p:cNvPr id="13" name="Shape 10"/>
          <p:cNvSpPr/>
          <p:nvPr/>
        </p:nvSpPr>
        <p:spPr>
          <a:xfrm>
            <a:off x="548640" y="2523744"/>
            <a:ext cx="5486400" cy="512064"/>
          </a:xfrm>
          <a:prstGeom prst="roundRect">
            <a:avLst>
              <a:gd name="adj" fmla="val 10714"/>
            </a:avLst>
          </a:prstGeom>
          <a:solidFill>
            <a:srgbClr val="151515"/>
          </a:solidFill>
          <a:ln w="9525">
            <a:solidFill>
              <a:srgbClr val="2A2A2A"/>
            </a:solidFill>
            <a:prstDash val="solid"/>
          </a:ln>
        </p:spPr>
      </p:sp>
      <p:sp>
        <p:nvSpPr>
          <p:cNvPr id="14" name="Text 11"/>
          <p:cNvSpPr txBox="1"/>
          <p:nvPr/>
        </p:nvSpPr>
        <p:spPr>
          <a:xfrm>
            <a:off x="749808" y="2523744"/>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age</a:t>
            </a:r>
            <a:endParaRPr lang="en-US" sz="1100" dirty="0"/>
          </a:p>
        </p:txBody>
      </p:sp>
      <p:sp>
        <p:nvSpPr>
          <p:cNvPr id="15" name="Text 12"/>
          <p:cNvSpPr txBox="1"/>
          <p:nvPr/>
        </p:nvSpPr>
        <p:spPr>
          <a:xfrm>
            <a:off x="3017520" y="2523744"/>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Customer age, 18 to 70</a:t>
            </a:r>
            <a:endParaRPr lang="en-US" sz="1100" dirty="0"/>
          </a:p>
        </p:txBody>
      </p:sp>
      <p:sp>
        <p:nvSpPr>
          <p:cNvPr id="16" name="Shape 13"/>
          <p:cNvSpPr/>
          <p:nvPr/>
        </p:nvSpPr>
        <p:spPr>
          <a:xfrm>
            <a:off x="548640" y="3127248"/>
            <a:ext cx="5486400" cy="512064"/>
          </a:xfrm>
          <a:prstGeom prst="roundRect">
            <a:avLst>
              <a:gd name="adj" fmla="val 10714"/>
            </a:avLst>
          </a:prstGeom>
          <a:solidFill>
            <a:srgbClr val="151515"/>
          </a:solidFill>
          <a:ln w="9525">
            <a:solidFill>
              <a:srgbClr val="2A2A2A"/>
            </a:solidFill>
            <a:prstDash val="solid"/>
          </a:ln>
        </p:spPr>
      </p:sp>
      <p:sp>
        <p:nvSpPr>
          <p:cNvPr id="17" name="Text 14"/>
          <p:cNvSpPr txBox="1"/>
          <p:nvPr/>
        </p:nvSpPr>
        <p:spPr>
          <a:xfrm>
            <a:off x="749808" y="3127248"/>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gender</a:t>
            </a:r>
            <a:endParaRPr lang="en-US" sz="1100" dirty="0"/>
          </a:p>
        </p:txBody>
      </p:sp>
      <p:sp>
        <p:nvSpPr>
          <p:cNvPr id="18" name="Text 15"/>
          <p:cNvSpPr txBox="1"/>
          <p:nvPr/>
        </p:nvSpPr>
        <p:spPr>
          <a:xfrm>
            <a:off x="3017520" y="3127248"/>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Female, Male, Other</a:t>
            </a:r>
            <a:endParaRPr lang="en-US" sz="1100" dirty="0"/>
          </a:p>
        </p:txBody>
      </p:sp>
      <p:sp>
        <p:nvSpPr>
          <p:cNvPr id="19" name="Shape 16"/>
          <p:cNvSpPr/>
          <p:nvPr/>
        </p:nvSpPr>
        <p:spPr>
          <a:xfrm>
            <a:off x="548640" y="3730752"/>
            <a:ext cx="5486400" cy="512064"/>
          </a:xfrm>
          <a:prstGeom prst="roundRect">
            <a:avLst>
              <a:gd name="adj" fmla="val 10714"/>
            </a:avLst>
          </a:prstGeom>
          <a:solidFill>
            <a:srgbClr val="151515"/>
          </a:solidFill>
          <a:ln w="9525">
            <a:solidFill>
              <a:srgbClr val="2A2A2A"/>
            </a:solidFill>
            <a:prstDash val="solid"/>
          </a:ln>
        </p:spPr>
      </p:sp>
      <p:sp>
        <p:nvSpPr>
          <p:cNvPr id="20" name="Text 17"/>
          <p:cNvSpPr txBox="1"/>
          <p:nvPr/>
        </p:nvSpPr>
        <p:spPr>
          <a:xfrm>
            <a:off x="749808" y="3730752"/>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subscription_type</a:t>
            </a:r>
            <a:endParaRPr lang="en-US" sz="1100" dirty="0"/>
          </a:p>
        </p:txBody>
      </p:sp>
      <p:sp>
        <p:nvSpPr>
          <p:cNvPr id="21" name="Text 18"/>
          <p:cNvSpPr txBox="1"/>
          <p:nvPr/>
        </p:nvSpPr>
        <p:spPr>
          <a:xfrm>
            <a:off x="3017520" y="3730752"/>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Basic, Standard, Premium</a:t>
            </a:r>
            <a:endParaRPr lang="en-US" sz="1100" dirty="0"/>
          </a:p>
        </p:txBody>
      </p:sp>
      <p:sp>
        <p:nvSpPr>
          <p:cNvPr id="22" name="Shape 19"/>
          <p:cNvSpPr/>
          <p:nvPr/>
        </p:nvSpPr>
        <p:spPr>
          <a:xfrm>
            <a:off x="548640" y="4334256"/>
            <a:ext cx="5486400" cy="512064"/>
          </a:xfrm>
          <a:prstGeom prst="roundRect">
            <a:avLst>
              <a:gd name="adj" fmla="val 10714"/>
            </a:avLst>
          </a:prstGeom>
          <a:solidFill>
            <a:srgbClr val="151515"/>
          </a:solidFill>
          <a:ln w="9525">
            <a:solidFill>
              <a:srgbClr val="2A2A2A"/>
            </a:solidFill>
            <a:prstDash val="solid"/>
          </a:ln>
        </p:spPr>
      </p:sp>
      <p:sp>
        <p:nvSpPr>
          <p:cNvPr id="23" name="Text 20"/>
          <p:cNvSpPr txBox="1"/>
          <p:nvPr/>
        </p:nvSpPr>
        <p:spPr>
          <a:xfrm>
            <a:off x="749808" y="4334256"/>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watch_hours</a:t>
            </a:r>
            <a:endParaRPr lang="en-US" sz="1100" dirty="0"/>
          </a:p>
        </p:txBody>
      </p:sp>
      <p:sp>
        <p:nvSpPr>
          <p:cNvPr id="24" name="Text 21"/>
          <p:cNvSpPr txBox="1"/>
          <p:nvPr/>
        </p:nvSpPr>
        <p:spPr>
          <a:xfrm>
            <a:off x="3017520" y="4334256"/>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Total streaming hours per month</a:t>
            </a:r>
            <a:endParaRPr lang="en-US" sz="1100" dirty="0"/>
          </a:p>
        </p:txBody>
      </p:sp>
      <p:sp>
        <p:nvSpPr>
          <p:cNvPr id="25" name="Shape 22"/>
          <p:cNvSpPr/>
          <p:nvPr/>
        </p:nvSpPr>
        <p:spPr>
          <a:xfrm>
            <a:off x="548640" y="4937760"/>
            <a:ext cx="5486400" cy="512064"/>
          </a:xfrm>
          <a:prstGeom prst="roundRect">
            <a:avLst>
              <a:gd name="adj" fmla="val 10714"/>
            </a:avLst>
          </a:prstGeom>
          <a:solidFill>
            <a:srgbClr val="151515"/>
          </a:solidFill>
          <a:ln w="9525">
            <a:solidFill>
              <a:srgbClr val="2A2A2A"/>
            </a:solidFill>
            <a:prstDash val="solid"/>
          </a:ln>
        </p:spPr>
      </p:sp>
      <p:sp>
        <p:nvSpPr>
          <p:cNvPr id="26" name="Text 23"/>
          <p:cNvSpPr txBox="1"/>
          <p:nvPr/>
        </p:nvSpPr>
        <p:spPr>
          <a:xfrm>
            <a:off x="749808" y="4937760"/>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last_login_days</a:t>
            </a:r>
            <a:endParaRPr lang="en-US" sz="1100" dirty="0"/>
          </a:p>
        </p:txBody>
      </p:sp>
      <p:sp>
        <p:nvSpPr>
          <p:cNvPr id="27" name="Text 24"/>
          <p:cNvSpPr txBox="1"/>
          <p:nvPr/>
        </p:nvSpPr>
        <p:spPr>
          <a:xfrm>
            <a:off x="3017520" y="4937760"/>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Days since last login, 0 to 60</a:t>
            </a:r>
            <a:endParaRPr lang="en-US" sz="1100" dirty="0"/>
          </a:p>
        </p:txBody>
      </p:sp>
      <p:sp>
        <p:nvSpPr>
          <p:cNvPr id="28" name="Shape 25"/>
          <p:cNvSpPr/>
          <p:nvPr/>
        </p:nvSpPr>
        <p:spPr>
          <a:xfrm>
            <a:off x="548640" y="5541264"/>
            <a:ext cx="5486400" cy="512064"/>
          </a:xfrm>
          <a:prstGeom prst="roundRect">
            <a:avLst>
              <a:gd name="adj" fmla="val 10714"/>
            </a:avLst>
          </a:prstGeom>
          <a:solidFill>
            <a:srgbClr val="151515"/>
          </a:solidFill>
          <a:ln w="9525">
            <a:solidFill>
              <a:srgbClr val="2A2A2A"/>
            </a:solidFill>
            <a:prstDash val="solid"/>
          </a:ln>
        </p:spPr>
      </p:sp>
      <p:sp>
        <p:nvSpPr>
          <p:cNvPr id="29" name="Text 26"/>
          <p:cNvSpPr txBox="1"/>
          <p:nvPr/>
        </p:nvSpPr>
        <p:spPr>
          <a:xfrm>
            <a:off x="749808" y="5541264"/>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region</a:t>
            </a:r>
            <a:endParaRPr lang="en-US" sz="1100" dirty="0"/>
          </a:p>
        </p:txBody>
      </p:sp>
      <p:sp>
        <p:nvSpPr>
          <p:cNvPr id="30" name="Text 27"/>
          <p:cNvSpPr txBox="1"/>
          <p:nvPr/>
        </p:nvSpPr>
        <p:spPr>
          <a:xfrm>
            <a:off x="3017520" y="5541264"/>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Six global regions</a:t>
            </a:r>
            <a:endParaRPr lang="en-US" sz="1100" dirty="0"/>
          </a:p>
        </p:txBody>
      </p:sp>
      <p:sp>
        <p:nvSpPr>
          <p:cNvPr id="31" name="Shape 28"/>
          <p:cNvSpPr/>
          <p:nvPr/>
        </p:nvSpPr>
        <p:spPr>
          <a:xfrm>
            <a:off x="6153912" y="1920240"/>
            <a:ext cx="5486400" cy="512064"/>
          </a:xfrm>
          <a:prstGeom prst="roundRect">
            <a:avLst>
              <a:gd name="adj" fmla="val 10714"/>
            </a:avLst>
          </a:prstGeom>
          <a:solidFill>
            <a:srgbClr val="151515"/>
          </a:solidFill>
          <a:ln w="9525">
            <a:solidFill>
              <a:srgbClr val="2A2A2A"/>
            </a:solidFill>
            <a:prstDash val="solid"/>
          </a:ln>
        </p:spPr>
      </p:sp>
      <p:sp>
        <p:nvSpPr>
          <p:cNvPr id="32" name="Text 29"/>
          <p:cNvSpPr txBox="1"/>
          <p:nvPr/>
        </p:nvSpPr>
        <p:spPr>
          <a:xfrm>
            <a:off x="6355080" y="1920240"/>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device</a:t>
            </a:r>
            <a:endParaRPr lang="en-US" sz="1100" dirty="0"/>
          </a:p>
        </p:txBody>
      </p:sp>
      <p:sp>
        <p:nvSpPr>
          <p:cNvPr id="33" name="Text 30"/>
          <p:cNvSpPr txBox="1"/>
          <p:nvPr/>
        </p:nvSpPr>
        <p:spPr>
          <a:xfrm>
            <a:off x="8622792" y="1920240"/>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Main viewing device</a:t>
            </a:r>
            <a:endParaRPr lang="en-US" sz="1100" dirty="0"/>
          </a:p>
        </p:txBody>
      </p:sp>
      <p:sp>
        <p:nvSpPr>
          <p:cNvPr id="34" name="Shape 31"/>
          <p:cNvSpPr/>
          <p:nvPr/>
        </p:nvSpPr>
        <p:spPr>
          <a:xfrm>
            <a:off x="6153912" y="2523744"/>
            <a:ext cx="5486400" cy="512064"/>
          </a:xfrm>
          <a:prstGeom prst="roundRect">
            <a:avLst>
              <a:gd name="adj" fmla="val 10714"/>
            </a:avLst>
          </a:prstGeom>
          <a:solidFill>
            <a:srgbClr val="151515"/>
          </a:solidFill>
          <a:ln w="9525">
            <a:solidFill>
              <a:srgbClr val="2A2A2A"/>
            </a:solidFill>
            <a:prstDash val="solid"/>
          </a:ln>
        </p:spPr>
      </p:sp>
      <p:sp>
        <p:nvSpPr>
          <p:cNvPr id="35" name="Text 32"/>
          <p:cNvSpPr txBox="1"/>
          <p:nvPr/>
        </p:nvSpPr>
        <p:spPr>
          <a:xfrm>
            <a:off x="6355080" y="2523744"/>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monthly_fee</a:t>
            </a:r>
            <a:endParaRPr lang="en-US" sz="1100" dirty="0"/>
          </a:p>
        </p:txBody>
      </p:sp>
      <p:sp>
        <p:nvSpPr>
          <p:cNvPr id="36" name="Text 33"/>
          <p:cNvSpPr txBox="1"/>
          <p:nvPr/>
        </p:nvSpPr>
        <p:spPr>
          <a:xfrm>
            <a:off x="8622792" y="2523744"/>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$8.99, $13.99, $17.99</a:t>
            </a:r>
            <a:endParaRPr lang="en-US" sz="1100" dirty="0"/>
          </a:p>
        </p:txBody>
      </p:sp>
      <p:sp>
        <p:nvSpPr>
          <p:cNvPr id="37" name="Shape 34"/>
          <p:cNvSpPr/>
          <p:nvPr/>
        </p:nvSpPr>
        <p:spPr>
          <a:xfrm>
            <a:off x="6153912" y="3127248"/>
            <a:ext cx="5486400" cy="512064"/>
          </a:xfrm>
          <a:prstGeom prst="roundRect">
            <a:avLst>
              <a:gd name="adj" fmla="val 10714"/>
            </a:avLst>
          </a:prstGeom>
          <a:solidFill>
            <a:srgbClr val="3A0D10"/>
          </a:solidFill>
          <a:ln w="9525">
            <a:solidFill>
              <a:srgbClr val="E50914"/>
            </a:solidFill>
            <a:prstDash val="solid"/>
          </a:ln>
        </p:spPr>
      </p:sp>
      <p:sp>
        <p:nvSpPr>
          <p:cNvPr id="38" name="Text 35"/>
          <p:cNvSpPr txBox="1"/>
          <p:nvPr/>
        </p:nvSpPr>
        <p:spPr>
          <a:xfrm>
            <a:off x="6355080" y="3127248"/>
            <a:ext cx="2240280" cy="512064"/>
          </a:xfrm>
          <a:prstGeom prst="rect">
            <a:avLst/>
          </a:prstGeom>
          <a:noFill/>
          <a:ln/>
        </p:spPr>
        <p:txBody>
          <a:bodyPr wrap="square" lIns="0" tIns="0" rIns="0" bIns="0" rtlCol="0" anchor="ctr"/>
          <a:lstStyle/>
          <a:p>
            <a:pPr indent="0" marL="0">
              <a:buNone/>
            </a:pPr>
            <a:r>
              <a:rPr lang="en-US" sz="1100" b="1" dirty="0">
                <a:solidFill>
                  <a:srgbClr val="FF4D57"/>
                </a:solidFill>
                <a:latin typeface="Consolas" pitchFamily="34" charset="0"/>
                <a:ea typeface="Consolas" pitchFamily="34" charset="-122"/>
                <a:cs typeface="Consolas" pitchFamily="34" charset="-120"/>
              </a:rPr>
              <a:t>churned</a:t>
            </a:r>
            <a:endParaRPr lang="en-US" sz="1100" dirty="0"/>
          </a:p>
        </p:txBody>
      </p:sp>
      <p:sp>
        <p:nvSpPr>
          <p:cNvPr id="39" name="Text 36"/>
          <p:cNvSpPr txBox="1"/>
          <p:nvPr/>
        </p:nvSpPr>
        <p:spPr>
          <a:xfrm>
            <a:off x="8622792" y="3127248"/>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Target: 1 = left, 0 = stayed</a:t>
            </a:r>
            <a:endParaRPr lang="en-US" sz="1100" dirty="0"/>
          </a:p>
        </p:txBody>
      </p:sp>
      <p:sp>
        <p:nvSpPr>
          <p:cNvPr id="40" name="Shape 37"/>
          <p:cNvSpPr/>
          <p:nvPr/>
        </p:nvSpPr>
        <p:spPr>
          <a:xfrm>
            <a:off x="6153912" y="3730752"/>
            <a:ext cx="5486400" cy="512064"/>
          </a:xfrm>
          <a:prstGeom prst="roundRect">
            <a:avLst>
              <a:gd name="adj" fmla="val 10714"/>
            </a:avLst>
          </a:prstGeom>
          <a:solidFill>
            <a:srgbClr val="151515"/>
          </a:solidFill>
          <a:ln w="9525">
            <a:solidFill>
              <a:srgbClr val="2A2A2A"/>
            </a:solidFill>
            <a:prstDash val="solid"/>
          </a:ln>
        </p:spPr>
      </p:sp>
      <p:sp>
        <p:nvSpPr>
          <p:cNvPr id="41" name="Text 38"/>
          <p:cNvSpPr txBox="1"/>
          <p:nvPr/>
        </p:nvSpPr>
        <p:spPr>
          <a:xfrm>
            <a:off x="6355080" y="3730752"/>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payment_method</a:t>
            </a:r>
            <a:endParaRPr lang="en-US" sz="1100" dirty="0"/>
          </a:p>
        </p:txBody>
      </p:sp>
      <p:sp>
        <p:nvSpPr>
          <p:cNvPr id="42" name="Text 39"/>
          <p:cNvSpPr txBox="1"/>
          <p:nvPr/>
        </p:nvSpPr>
        <p:spPr>
          <a:xfrm>
            <a:off x="8622792" y="3730752"/>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Credit Card, Debit Card, PayPal, Gift Card, Crypto</a:t>
            </a:r>
            <a:endParaRPr lang="en-US" sz="1100" dirty="0"/>
          </a:p>
        </p:txBody>
      </p:sp>
      <p:sp>
        <p:nvSpPr>
          <p:cNvPr id="43" name="Shape 40"/>
          <p:cNvSpPr/>
          <p:nvPr/>
        </p:nvSpPr>
        <p:spPr>
          <a:xfrm>
            <a:off x="6153912" y="4334256"/>
            <a:ext cx="5486400" cy="512064"/>
          </a:xfrm>
          <a:prstGeom prst="roundRect">
            <a:avLst>
              <a:gd name="adj" fmla="val 10714"/>
            </a:avLst>
          </a:prstGeom>
          <a:solidFill>
            <a:srgbClr val="151515"/>
          </a:solidFill>
          <a:ln w="9525">
            <a:solidFill>
              <a:srgbClr val="2A2A2A"/>
            </a:solidFill>
            <a:prstDash val="solid"/>
          </a:ln>
        </p:spPr>
      </p:sp>
      <p:sp>
        <p:nvSpPr>
          <p:cNvPr id="44" name="Text 41"/>
          <p:cNvSpPr txBox="1"/>
          <p:nvPr/>
        </p:nvSpPr>
        <p:spPr>
          <a:xfrm>
            <a:off x="6355080" y="4334256"/>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number_of_profiles</a:t>
            </a:r>
            <a:endParaRPr lang="en-US" sz="1100" dirty="0"/>
          </a:p>
        </p:txBody>
      </p:sp>
      <p:sp>
        <p:nvSpPr>
          <p:cNvPr id="45" name="Text 42"/>
          <p:cNvSpPr txBox="1"/>
          <p:nvPr/>
        </p:nvSpPr>
        <p:spPr>
          <a:xfrm>
            <a:off x="8622792" y="4334256"/>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Viewer profiles on the account, 1 to 5</a:t>
            </a:r>
            <a:endParaRPr lang="en-US" sz="1100" dirty="0"/>
          </a:p>
        </p:txBody>
      </p:sp>
      <p:sp>
        <p:nvSpPr>
          <p:cNvPr id="46" name="Shape 43"/>
          <p:cNvSpPr/>
          <p:nvPr/>
        </p:nvSpPr>
        <p:spPr>
          <a:xfrm>
            <a:off x="6153912" y="4937760"/>
            <a:ext cx="5486400" cy="512064"/>
          </a:xfrm>
          <a:prstGeom prst="roundRect">
            <a:avLst>
              <a:gd name="adj" fmla="val 10714"/>
            </a:avLst>
          </a:prstGeom>
          <a:solidFill>
            <a:srgbClr val="151515"/>
          </a:solidFill>
          <a:ln w="9525">
            <a:solidFill>
              <a:srgbClr val="2A2A2A"/>
            </a:solidFill>
            <a:prstDash val="solid"/>
          </a:ln>
        </p:spPr>
      </p:sp>
      <p:sp>
        <p:nvSpPr>
          <p:cNvPr id="47" name="Text 44"/>
          <p:cNvSpPr txBox="1"/>
          <p:nvPr/>
        </p:nvSpPr>
        <p:spPr>
          <a:xfrm>
            <a:off x="6355080" y="4937760"/>
            <a:ext cx="2240280" cy="512064"/>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avg_watch_time_per_day</a:t>
            </a:r>
            <a:endParaRPr lang="en-US" sz="1000" dirty="0"/>
          </a:p>
        </p:txBody>
      </p:sp>
      <p:sp>
        <p:nvSpPr>
          <p:cNvPr id="48" name="Text 45"/>
          <p:cNvSpPr txBox="1"/>
          <p:nvPr/>
        </p:nvSpPr>
        <p:spPr>
          <a:xfrm>
            <a:off x="8622792" y="4937760"/>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Average daily streaming hours</a:t>
            </a:r>
            <a:endParaRPr lang="en-US" sz="1100" dirty="0"/>
          </a:p>
        </p:txBody>
      </p:sp>
      <p:sp>
        <p:nvSpPr>
          <p:cNvPr id="49" name="Shape 46"/>
          <p:cNvSpPr/>
          <p:nvPr/>
        </p:nvSpPr>
        <p:spPr>
          <a:xfrm>
            <a:off x="6153912" y="5541264"/>
            <a:ext cx="5486400" cy="512064"/>
          </a:xfrm>
          <a:prstGeom prst="roundRect">
            <a:avLst>
              <a:gd name="adj" fmla="val 10714"/>
            </a:avLst>
          </a:prstGeom>
          <a:solidFill>
            <a:srgbClr val="151515"/>
          </a:solidFill>
          <a:ln w="9525">
            <a:solidFill>
              <a:srgbClr val="2A2A2A"/>
            </a:solidFill>
            <a:prstDash val="solid"/>
          </a:ln>
        </p:spPr>
      </p:sp>
      <p:sp>
        <p:nvSpPr>
          <p:cNvPr id="50" name="Text 47"/>
          <p:cNvSpPr txBox="1"/>
          <p:nvPr/>
        </p:nvSpPr>
        <p:spPr>
          <a:xfrm>
            <a:off x="6355080" y="5541264"/>
            <a:ext cx="2240280" cy="512064"/>
          </a:xfrm>
          <a:prstGeom prst="rect">
            <a:avLst/>
          </a:prstGeom>
          <a:noFill/>
          <a:ln/>
        </p:spPr>
        <p:txBody>
          <a:bodyPr wrap="square" lIns="0" tIns="0" rIns="0" bIns="0" rtlCol="0" anchor="ctr"/>
          <a:lstStyle/>
          <a:p>
            <a:pPr indent="0" marL="0">
              <a:buNone/>
            </a:pPr>
            <a:r>
              <a:rPr lang="en-US" sz="1100" dirty="0">
                <a:solidFill>
                  <a:srgbClr val="F5F5F1"/>
                </a:solidFill>
                <a:latin typeface="Consolas" pitchFamily="34" charset="0"/>
                <a:ea typeface="Consolas" pitchFamily="34" charset="-122"/>
                <a:cs typeface="Consolas" pitchFamily="34" charset="-120"/>
              </a:rPr>
              <a:t>favorite_genre</a:t>
            </a:r>
            <a:endParaRPr lang="en-US" sz="1100" dirty="0"/>
          </a:p>
        </p:txBody>
      </p:sp>
      <p:sp>
        <p:nvSpPr>
          <p:cNvPr id="51" name="Text 48"/>
          <p:cNvSpPr txBox="1"/>
          <p:nvPr/>
        </p:nvSpPr>
        <p:spPr>
          <a:xfrm>
            <a:off x="8622792" y="5541264"/>
            <a:ext cx="2926080" cy="512064"/>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Most-watched genre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UNDERSTANDING THE DATA</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Calculated Fields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15 engineered features were added to support segmentation, risk and revenue analysis, bringing the dataset to 29 columns.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04 / 27</a:t>
            </a:r>
            <a:endParaRPr lang="en-US" sz="900" dirty="0"/>
          </a:p>
        </p:txBody>
      </p:sp>
      <p:sp>
        <p:nvSpPr>
          <p:cNvPr id="10" name="Shape 7"/>
          <p:cNvSpPr/>
          <p:nvPr/>
        </p:nvSpPr>
        <p:spPr>
          <a:xfrm>
            <a:off x="548640" y="1965960"/>
            <a:ext cx="2670048" cy="4160520"/>
          </a:xfrm>
          <a:prstGeom prst="roundRect">
            <a:avLst>
              <a:gd name="adj" fmla="val 2740"/>
            </a:avLst>
          </a:prstGeom>
          <a:solidFill>
            <a:srgbClr val="151515"/>
          </a:solidFill>
          <a:ln w="9525">
            <a:solidFill>
              <a:srgbClr val="2A2A2A"/>
            </a:solidFill>
            <a:prstDash val="solid"/>
          </a:ln>
        </p:spPr>
      </p:sp>
      <p:sp>
        <p:nvSpPr>
          <p:cNvPr id="11" name="Shape 8"/>
          <p:cNvSpPr/>
          <p:nvPr/>
        </p:nvSpPr>
        <p:spPr>
          <a:xfrm>
            <a:off x="749808" y="196596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dollar.png">    </p:cNvPr>
          <p:cNvPicPr>
            <a:picLocks noChangeAspect="1"/>
          </p:cNvPicPr>
          <p:nvPr/>
        </p:nvPicPr>
        <p:blipFill>
          <a:blip r:embed="rId3"/>
          <a:stretch>
            <a:fillRect/>
          </a:stretch>
        </p:blipFill>
        <p:spPr>
          <a:xfrm>
            <a:off x="749808" y="2212848"/>
            <a:ext cx="365760" cy="365760"/>
          </a:xfrm>
          <a:prstGeom prst="rect">
            <a:avLst/>
          </a:prstGeom>
        </p:spPr>
      </p:pic>
      <p:sp>
        <p:nvSpPr>
          <p:cNvPr id="13" name="Text 9"/>
          <p:cNvSpPr txBox="1"/>
          <p:nvPr/>
        </p:nvSpPr>
        <p:spPr>
          <a:xfrm>
            <a:off x="1234440" y="2212848"/>
            <a:ext cx="1847088" cy="365760"/>
          </a:xfrm>
          <a:prstGeom prst="rect">
            <a:avLst/>
          </a:prstGeom>
          <a:noFill/>
          <a:ln/>
        </p:spPr>
        <p:txBody>
          <a:bodyPr wrap="square" lIns="0" tIns="0" rIns="0" bIns="0" rtlCol="0" anchor="ctr"/>
          <a:lstStyle/>
          <a:p>
            <a:pPr indent="0" marL="0">
              <a:buNone/>
            </a:pPr>
            <a:r>
              <a:rPr lang="en-US" sz="1350" b="1" dirty="0">
                <a:solidFill>
                  <a:srgbClr val="F5F5F1"/>
                </a:solidFill>
                <a:latin typeface="Segoe UI" pitchFamily="34" charset="0"/>
                <a:ea typeface="Segoe UI" pitchFamily="34" charset="-122"/>
                <a:cs typeface="Segoe UI" pitchFamily="34" charset="-120"/>
              </a:rPr>
              <a:t>Churn &amp; revenue</a:t>
            </a:r>
            <a:endParaRPr lang="en-US" sz="1350" dirty="0"/>
          </a:p>
        </p:txBody>
      </p:sp>
      <p:sp>
        <p:nvSpPr>
          <p:cNvPr id="14" name="Text 10"/>
          <p:cNvSpPr txBox="1"/>
          <p:nvPr/>
        </p:nvSpPr>
        <p:spPr>
          <a:xfrm>
            <a:off x="749808" y="2670048"/>
            <a:ext cx="1828800" cy="219456"/>
          </a:xfrm>
          <a:prstGeom prst="rect">
            <a:avLst/>
          </a:prstGeom>
          <a:noFill/>
          <a:ln/>
        </p:spPr>
        <p:txBody>
          <a:bodyPr wrap="square" lIns="0" tIns="0" rIns="0" bIns="0" rtlCol="0" anchor="ctr"/>
          <a:lstStyle/>
          <a:p>
            <a:pPr indent="0" marL="0">
              <a:buNone/>
            </a:pPr>
            <a:r>
              <a:rPr lang="en-US" sz="950" b="1" spc="100" kern="0" dirty="0">
                <a:solidFill>
                  <a:srgbClr val="FF4D57"/>
                </a:solidFill>
                <a:latin typeface="Segoe UI" pitchFamily="34" charset="0"/>
                <a:ea typeface="Segoe UI" pitchFamily="34" charset="-122"/>
                <a:cs typeface="Segoe UI" pitchFamily="34" charset="-120"/>
              </a:rPr>
              <a:t>3 fields</a:t>
            </a:r>
            <a:endParaRPr lang="en-US" sz="950" dirty="0"/>
          </a:p>
        </p:txBody>
      </p:sp>
      <p:sp>
        <p:nvSpPr>
          <p:cNvPr id="15" name="Shape 11"/>
          <p:cNvSpPr/>
          <p:nvPr/>
        </p:nvSpPr>
        <p:spPr>
          <a:xfrm>
            <a:off x="713232" y="3017520"/>
            <a:ext cx="2340864" cy="512064"/>
          </a:xfrm>
          <a:prstGeom prst="roundRect">
            <a:avLst>
              <a:gd name="adj" fmla="val 8929"/>
            </a:avLst>
          </a:prstGeom>
          <a:solidFill>
            <a:srgbClr val="1E1E1E"/>
          </a:solidFill>
          <a:ln w="12700">
            <a:solidFill>
              <a:srgbClr val="1E1E1E"/>
            </a:solidFill>
            <a:prstDash val="solid"/>
          </a:ln>
        </p:spPr>
      </p:sp>
      <p:sp>
        <p:nvSpPr>
          <p:cNvPr id="16" name="Text 12"/>
          <p:cNvSpPr txBox="1"/>
          <p:nvPr/>
        </p:nvSpPr>
        <p:spPr>
          <a:xfrm>
            <a:off x="822960" y="3072384"/>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churn_status</a:t>
            </a:r>
            <a:endParaRPr lang="en-US" sz="1000" dirty="0"/>
          </a:p>
        </p:txBody>
      </p:sp>
      <p:sp>
        <p:nvSpPr>
          <p:cNvPr id="17" name="Text 13"/>
          <p:cNvSpPr txBox="1"/>
          <p:nvPr/>
        </p:nvSpPr>
        <p:spPr>
          <a:xfrm>
            <a:off x="822960" y="3282696"/>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Left / Stayed</a:t>
            </a:r>
            <a:endParaRPr lang="en-US" sz="900" dirty="0"/>
          </a:p>
        </p:txBody>
      </p:sp>
      <p:sp>
        <p:nvSpPr>
          <p:cNvPr id="18" name="Shape 14"/>
          <p:cNvSpPr/>
          <p:nvPr/>
        </p:nvSpPr>
        <p:spPr>
          <a:xfrm>
            <a:off x="713232" y="3621024"/>
            <a:ext cx="2340864" cy="512064"/>
          </a:xfrm>
          <a:prstGeom prst="roundRect">
            <a:avLst>
              <a:gd name="adj" fmla="val 8929"/>
            </a:avLst>
          </a:prstGeom>
          <a:solidFill>
            <a:srgbClr val="1E1E1E"/>
          </a:solidFill>
          <a:ln w="12700">
            <a:solidFill>
              <a:srgbClr val="1E1E1E"/>
            </a:solidFill>
            <a:prstDash val="solid"/>
          </a:ln>
        </p:spPr>
      </p:sp>
      <p:sp>
        <p:nvSpPr>
          <p:cNvPr id="19" name="Text 15"/>
          <p:cNvSpPr txBox="1"/>
          <p:nvPr/>
        </p:nvSpPr>
        <p:spPr>
          <a:xfrm>
            <a:off x="822960" y="3675888"/>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revenue_lost</a:t>
            </a:r>
            <a:endParaRPr lang="en-US" sz="1000" dirty="0"/>
          </a:p>
        </p:txBody>
      </p:sp>
      <p:sp>
        <p:nvSpPr>
          <p:cNvPr id="20" name="Text 16"/>
          <p:cNvSpPr txBox="1"/>
          <p:nvPr/>
        </p:nvSpPr>
        <p:spPr>
          <a:xfrm>
            <a:off x="822960" y="3886200"/>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Monthly fee lost to churn</a:t>
            </a:r>
            <a:endParaRPr lang="en-US" sz="900" dirty="0"/>
          </a:p>
        </p:txBody>
      </p:sp>
      <p:sp>
        <p:nvSpPr>
          <p:cNvPr id="21" name="Shape 17"/>
          <p:cNvSpPr/>
          <p:nvPr/>
        </p:nvSpPr>
        <p:spPr>
          <a:xfrm>
            <a:off x="713232" y="4224528"/>
            <a:ext cx="2340864" cy="512064"/>
          </a:xfrm>
          <a:prstGeom prst="roundRect">
            <a:avLst>
              <a:gd name="adj" fmla="val 8929"/>
            </a:avLst>
          </a:prstGeom>
          <a:solidFill>
            <a:srgbClr val="1E1E1E"/>
          </a:solidFill>
          <a:ln w="12700">
            <a:solidFill>
              <a:srgbClr val="1E1E1E"/>
            </a:solidFill>
            <a:prstDash val="solid"/>
          </a:ln>
        </p:spPr>
      </p:sp>
      <p:sp>
        <p:nvSpPr>
          <p:cNvPr id="22" name="Text 18"/>
          <p:cNvSpPr txBox="1"/>
          <p:nvPr/>
        </p:nvSpPr>
        <p:spPr>
          <a:xfrm>
            <a:off x="822960" y="4279392"/>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annual_revenue_lost</a:t>
            </a:r>
            <a:endParaRPr lang="en-US" sz="1000" dirty="0"/>
          </a:p>
        </p:txBody>
      </p:sp>
      <p:sp>
        <p:nvSpPr>
          <p:cNvPr id="23" name="Text 19"/>
          <p:cNvSpPr txBox="1"/>
          <p:nvPr/>
        </p:nvSpPr>
        <p:spPr>
          <a:xfrm>
            <a:off x="822960" y="4489704"/>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Revenue lost over a year</a:t>
            </a:r>
            <a:endParaRPr lang="en-US" sz="900" dirty="0"/>
          </a:p>
        </p:txBody>
      </p:sp>
      <p:sp>
        <p:nvSpPr>
          <p:cNvPr id="24" name="Shape 20"/>
          <p:cNvSpPr/>
          <p:nvPr/>
        </p:nvSpPr>
        <p:spPr>
          <a:xfrm>
            <a:off x="3355848" y="1965960"/>
            <a:ext cx="2670048" cy="4160520"/>
          </a:xfrm>
          <a:prstGeom prst="roundRect">
            <a:avLst>
              <a:gd name="adj" fmla="val 2740"/>
            </a:avLst>
          </a:prstGeom>
          <a:solidFill>
            <a:srgbClr val="151515"/>
          </a:solidFill>
          <a:ln w="9525">
            <a:solidFill>
              <a:srgbClr val="2A2A2A"/>
            </a:solidFill>
            <a:prstDash val="solid"/>
          </a:ln>
        </p:spPr>
      </p:sp>
      <p:sp>
        <p:nvSpPr>
          <p:cNvPr id="25" name="Shape 21"/>
          <p:cNvSpPr/>
          <p:nvPr/>
        </p:nvSpPr>
        <p:spPr>
          <a:xfrm>
            <a:off x="3557016" y="1965960"/>
            <a:ext cx="548640" cy="36576"/>
          </a:xfrm>
          <a:prstGeom prst="rect">
            <a:avLst/>
          </a:prstGeom>
          <a:solidFill>
            <a:srgbClr val="E50914"/>
          </a:solidFill>
          <a:ln w="12700">
            <a:solidFill>
              <a:srgbClr val="E50914"/>
            </a:solidFill>
            <a:prstDash val="solid"/>
          </a:ln>
        </p:spPr>
      </p:sp>
      <p:pic>
        <p:nvPicPr>
          <p:cNvPr id="26" name="Image 2" descr="/tmp/claude-0/-home-claude/0afb8f05-6c65-583f-af33-ecd94b11a885/scratchpad/eda/assets/clock.png">    </p:cNvPr>
          <p:cNvPicPr>
            <a:picLocks noChangeAspect="1"/>
          </p:cNvPicPr>
          <p:nvPr/>
        </p:nvPicPr>
        <p:blipFill>
          <a:blip r:embed="rId4"/>
          <a:stretch>
            <a:fillRect/>
          </a:stretch>
        </p:blipFill>
        <p:spPr>
          <a:xfrm>
            <a:off x="3557016" y="2212848"/>
            <a:ext cx="365760" cy="365760"/>
          </a:xfrm>
          <a:prstGeom prst="rect">
            <a:avLst/>
          </a:prstGeom>
        </p:spPr>
      </p:pic>
      <p:sp>
        <p:nvSpPr>
          <p:cNvPr id="27" name="Text 22"/>
          <p:cNvSpPr txBox="1"/>
          <p:nvPr/>
        </p:nvSpPr>
        <p:spPr>
          <a:xfrm>
            <a:off x="4041648" y="2212848"/>
            <a:ext cx="1847088" cy="365760"/>
          </a:xfrm>
          <a:prstGeom prst="rect">
            <a:avLst/>
          </a:prstGeom>
          <a:noFill/>
          <a:ln/>
        </p:spPr>
        <p:txBody>
          <a:bodyPr wrap="square" lIns="0" tIns="0" rIns="0" bIns="0" rtlCol="0" anchor="ctr"/>
          <a:lstStyle/>
          <a:p>
            <a:pPr indent="0" marL="0">
              <a:buNone/>
            </a:pPr>
            <a:r>
              <a:rPr lang="en-US" sz="1350" b="1" dirty="0">
                <a:solidFill>
                  <a:srgbClr val="F5F5F1"/>
                </a:solidFill>
                <a:latin typeface="Segoe UI" pitchFamily="34" charset="0"/>
                <a:ea typeface="Segoe UI" pitchFamily="34" charset="-122"/>
                <a:cs typeface="Segoe UI" pitchFamily="34" charset="-120"/>
              </a:rPr>
              <a:t>Engagement</a:t>
            </a:r>
            <a:endParaRPr lang="en-US" sz="1350" dirty="0"/>
          </a:p>
        </p:txBody>
      </p:sp>
      <p:sp>
        <p:nvSpPr>
          <p:cNvPr id="28" name="Text 23"/>
          <p:cNvSpPr txBox="1"/>
          <p:nvPr/>
        </p:nvSpPr>
        <p:spPr>
          <a:xfrm>
            <a:off x="3557016" y="2670048"/>
            <a:ext cx="1828800" cy="219456"/>
          </a:xfrm>
          <a:prstGeom prst="rect">
            <a:avLst/>
          </a:prstGeom>
          <a:noFill/>
          <a:ln/>
        </p:spPr>
        <p:txBody>
          <a:bodyPr wrap="square" lIns="0" tIns="0" rIns="0" bIns="0" rtlCol="0" anchor="ctr"/>
          <a:lstStyle/>
          <a:p>
            <a:pPr indent="0" marL="0">
              <a:buNone/>
            </a:pPr>
            <a:r>
              <a:rPr lang="en-US" sz="950" b="1" spc="100" kern="0" dirty="0">
                <a:solidFill>
                  <a:srgbClr val="FF4D57"/>
                </a:solidFill>
                <a:latin typeface="Segoe UI" pitchFamily="34" charset="0"/>
                <a:ea typeface="Segoe UI" pitchFamily="34" charset="-122"/>
                <a:cs typeface="Segoe UI" pitchFamily="34" charset="-120"/>
              </a:rPr>
              <a:t>5 fields</a:t>
            </a:r>
            <a:endParaRPr lang="en-US" sz="950" dirty="0"/>
          </a:p>
        </p:txBody>
      </p:sp>
      <p:sp>
        <p:nvSpPr>
          <p:cNvPr id="29" name="Shape 24"/>
          <p:cNvSpPr/>
          <p:nvPr/>
        </p:nvSpPr>
        <p:spPr>
          <a:xfrm>
            <a:off x="3520440" y="3017520"/>
            <a:ext cx="2340864" cy="713232"/>
          </a:xfrm>
          <a:prstGeom prst="roundRect">
            <a:avLst>
              <a:gd name="adj" fmla="val 6410"/>
            </a:avLst>
          </a:prstGeom>
          <a:solidFill>
            <a:srgbClr val="1E1E1E"/>
          </a:solidFill>
          <a:ln w="12700">
            <a:solidFill>
              <a:srgbClr val="1E1E1E"/>
            </a:solidFill>
            <a:prstDash val="solid"/>
          </a:ln>
        </p:spPr>
      </p:sp>
      <p:sp>
        <p:nvSpPr>
          <p:cNvPr id="30" name="Text 25"/>
          <p:cNvSpPr txBox="1"/>
          <p:nvPr/>
        </p:nvSpPr>
        <p:spPr>
          <a:xfrm>
            <a:off x="3630168" y="3072384"/>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inactivity_group</a:t>
            </a:r>
            <a:endParaRPr lang="en-US" sz="1000" dirty="0"/>
          </a:p>
        </p:txBody>
      </p:sp>
      <p:sp>
        <p:nvSpPr>
          <p:cNvPr id="31" name="Text 26"/>
          <p:cNvSpPr txBox="1"/>
          <p:nvPr/>
        </p:nvSpPr>
        <p:spPr>
          <a:xfrm>
            <a:off x="3630168" y="3282696"/>
            <a:ext cx="2167128" cy="402336"/>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0–7, 8–14, 15–30, 31–45, 46–60 days</a:t>
            </a:r>
            <a:endParaRPr lang="en-US" sz="900" dirty="0"/>
          </a:p>
        </p:txBody>
      </p:sp>
      <p:sp>
        <p:nvSpPr>
          <p:cNvPr id="32" name="Shape 27"/>
          <p:cNvSpPr/>
          <p:nvPr/>
        </p:nvSpPr>
        <p:spPr>
          <a:xfrm>
            <a:off x="3520440" y="3621024"/>
            <a:ext cx="2340864" cy="512064"/>
          </a:xfrm>
          <a:prstGeom prst="roundRect">
            <a:avLst>
              <a:gd name="adj" fmla="val 8929"/>
            </a:avLst>
          </a:prstGeom>
          <a:solidFill>
            <a:srgbClr val="1E1E1E"/>
          </a:solidFill>
          <a:ln w="12700">
            <a:solidFill>
              <a:srgbClr val="1E1E1E"/>
            </a:solidFill>
            <a:prstDash val="solid"/>
          </a:ln>
        </p:spPr>
      </p:sp>
      <p:sp>
        <p:nvSpPr>
          <p:cNvPr id="33" name="Text 28"/>
          <p:cNvSpPr txBox="1"/>
          <p:nvPr/>
        </p:nvSpPr>
        <p:spPr>
          <a:xfrm>
            <a:off x="3630168" y="3675888"/>
            <a:ext cx="2167128" cy="219456"/>
          </a:xfrm>
          <a:prstGeom prst="rect">
            <a:avLst/>
          </a:prstGeom>
          <a:noFill/>
          <a:ln/>
        </p:spPr>
        <p:txBody>
          <a:bodyPr wrap="square" lIns="0" tIns="0" rIns="0" bIns="0" rtlCol="0" anchor="ctr"/>
          <a:lstStyle/>
          <a:p>
            <a:pPr indent="0" marL="0">
              <a:buNone/>
            </a:pPr>
            <a:r>
              <a:rPr lang="en-US" sz="900" dirty="0">
                <a:solidFill>
                  <a:srgbClr val="F5F5F1"/>
                </a:solidFill>
                <a:latin typeface="Consolas" pitchFamily="34" charset="0"/>
                <a:ea typeface="Consolas" pitchFamily="34" charset="-122"/>
                <a:cs typeface="Consolas" pitchFamily="34" charset="-120"/>
              </a:rPr>
              <a:t>inactive_over_30_days</a:t>
            </a:r>
            <a:endParaRPr lang="en-US" sz="900" dirty="0"/>
          </a:p>
        </p:txBody>
      </p:sp>
      <p:sp>
        <p:nvSpPr>
          <p:cNvPr id="34" name="Text 29"/>
          <p:cNvSpPr txBox="1"/>
          <p:nvPr/>
        </p:nvSpPr>
        <p:spPr>
          <a:xfrm>
            <a:off x="3630168" y="3886200"/>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Yes / No</a:t>
            </a:r>
            <a:endParaRPr lang="en-US" sz="900" dirty="0"/>
          </a:p>
        </p:txBody>
      </p:sp>
      <p:sp>
        <p:nvSpPr>
          <p:cNvPr id="35" name="Shape 30"/>
          <p:cNvSpPr/>
          <p:nvPr/>
        </p:nvSpPr>
        <p:spPr>
          <a:xfrm>
            <a:off x="3520440" y="4224528"/>
            <a:ext cx="2340864" cy="512064"/>
          </a:xfrm>
          <a:prstGeom prst="roundRect">
            <a:avLst>
              <a:gd name="adj" fmla="val 8929"/>
            </a:avLst>
          </a:prstGeom>
          <a:solidFill>
            <a:srgbClr val="1E1E1E"/>
          </a:solidFill>
          <a:ln w="12700">
            <a:solidFill>
              <a:srgbClr val="1E1E1E"/>
            </a:solidFill>
            <a:prstDash val="solid"/>
          </a:ln>
        </p:spPr>
      </p:sp>
      <p:sp>
        <p:nvSpPr>
          <p:cNvPr id="36" name="Text 31"/>
          <p:cNvSpPr txBox="1"/>
          <p:nvPr/>
        </p:nvSpPr>
        <p:spPr>
          <a:xfrm>
            <a:off x="3630168" y="4279392"/>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viewing_level</a:t>
            </a:r>
            <a:endParaRPr lang="en-US" sz="1000" dirty="0"/>
          </a:p>
        </p:txBody>
      </p:sp>
      <p:sp>
        <p:nvSpPr>
          <p:cNvPr id="37" name="Text 32"/>
          <p:cNvSpPr txBox="1"/>
          <p:nvPr/>
        </p:nvSpPr>
        <p:spPr>
          <a:xfrm>
            <a:off x="3630168" y="4489704"/>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Low / Medium / High</a:t>
            </a:r>
            <a:endParaRPr lang="en-US" sz="900" dirty="0"/>
          </a:p>
        </p:txBody>
      </p:sp>
      <p:sp>
        <p:nvSpPr>
          <p:cNvPr id="38" name="Shape 33"/>
          <p:cNvSpPr/>
          <p:nvPr/>
        </p:nvSpPr>
        <p:spPr>
          <a:xfrm>
            <a:off x="3520440" y="4828032"/>
            <a:ext cx="2340864" cy="512064"/>
          </a:xfrm>
          <a:prstGeom prst="roundRect">
            <a:avLst>
              <a:gd name="adj" fmla="val 8929"/>
            </a:avLst>
          </a:prstGeom>
          <a:solidFill>
            <a:srgbClr val="1E1E1E"/>
          </a:solidFill>
          <a:ln w="12700">
            <a:solidFill>
              <a:srgbClr val="1E1E1E"/>
            </a:solidFill>
            <a:prstDash val="solid"/>
          </a:ln>
        </p:spPr>
      </p:sp>
      <p:sp>
        <p:nvSpPr>
          <p:cNvPr id="39" name="Text 34"/>
          <p:cNvSpPr txBox="1"/>
          <p:nvPr/>
        </p:nvSpPr>
        <p:spPr>
          <a:xfrm>
            <a:off x="3630168" y="4882896"/>
            <a:ext cx="2167128" cy="219456"/>
          </a:xfrm>
          <a:prstGeom prst="rect">
            <a:avLst/>
          </a:prstGeom>
          <a:noFill/>
          <a:ln/>
        </p:spPr>
        <p:txBody>
          <a:bodyPr wrap="square" lIns="0" tIns="0" rIns="0" bIns="0" rtlCol="0" anchor="ctr"/>
          <a:lstStyle/>
          <a:p>
            <a:pPr indent="0" marL="0">
              <a:buNone/>
            </a:pPr>
            <a:r>
              <a:rPr lang="en-US" sz="900" dirty="0">
                <a:solidFill>
                  <a:srgbClr val="F5F5F1"/>
                </a:solidFill>
                <a:latin typeface="Consolas" pitchFamily="34" charset="0"/>
                <a:ea typeface="Consolas" pitchFamily="34" charset="-122"/>
                <a:cs typeface="Consolas" pitchFamily="34" charset="-120"/>
              </a:rPr>
              <a:t>avg_watch_recalculated</a:t>
            </a:r>
            <a:endParaRPr lang="en-US" sz="900" dirty="0"/>
          </a:p>
        </p:txBody>
      </p:sp>
      <p:sp>
        <p:nvSpPr>
          <p:cNvPr id="40" name="Text 35"/>
          <p:cNvSpPr txBox="1"/>
          <p:nvPr/>
        </p:nvSpPr>
        <p:spPr>
          <a:xfrm>
            <a:off x="3630168" y="5093208"/>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Daily watch time in minutes</a:t>
            </a:r>
            <a:endParaRPr lang="en-US" sz="900" dirty="0"/>
          </a:p>
        </p:txBody>
      </p:sp>
      <p:sp>
        <p:nvSpPr>
          <p:cNvPr id="41" name="Shape 36"/>
          <p:cNvSpPr/>
          <p:nvPr/>
        </p:nvSpPr>
        <p:spPr>
          <a:xfrm>
            <a:off x="3520440" y="5431536"/>
            <a:ext cx="2340864" cy="512064"/>
          </a:xfrm>
          <a:prstGeom prst="roundRect">
            <a:avLst>
              <a:gd name="adj" fmla="val 8929"/>
            </a:avLst>
          </a:prstGeom>
          <a:solidFill>
            <a:srgbClr val="1E1E1E"/>
          </a:solidFill>
          <a:ln w="12700">
            <a:solidFill>
              <a:srgbClr val="1E1E1E"/>
            </a:solidFill>
            <a:prstDash val="solid"/>
          </a:ln>
        </p:spPr>
      </p:sp>
      <p:sp>
        <p:nvSpPr>
          <p:cNvPr id="42" name="Text 37"/>
          <p:cNvSpPr txBox="1"/>
          <p:nvPr/>
        </p:nvSpPr>
        <p:spPr>
          <a:xfrm>
            <a:off x="3630168" y="5486400"/>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watch_time_mismatch</a:t>
            </a:r>
            <a:endParaRPr lang="en-US" sz="1000" dirty="0"/>
          </a:p>
        </p:txBody>
      </p:sp>
      <p:sp>
        <p:nvSpPr>
          <p:cNvPr id="43" name="Text 38"/>
          <p:cNvSpPr txBox="1"/>
          <p:nvPr/>
        </p:nvSpPr>
        <p:spPr>
          <a:xfrm>
            <a:off x="3630168" y="5696712"/>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Yes / No</a:t>
            </a:r>
            <a:endParaRPr lang="en-US" sz="900" dirty="0"/>
          </a:p>
        </p:txBody>
      </p:sp>
      <p:sp>
        <p:nvSpPr>
          <p:cNvPr id="44" name="Shape 39"/>
          <p:cNvSpPr/>
          <p:nvPr/>
        </p:nvSpPr>
        <p:spPr>
          <a:xfrm>
            <a:off x="6163056" y="1965960"/>
            <a:ext cx="2670048" cy="4160520"/>
          </a:xfrm>
          <a:prstGeom prst="roundRect">
            <a:avLst>
              <a:gd name="adj" fmla="val 2740"/>
            </a:avLst>
          </a:prstGeom>
          <a:solidFill>
            <a:srgbClr val="151515"/>
          </a:solidFill>
          <a:ln w="9525">
            <a:solidFill>
              <a:srgbClr val="2A2A2A"/>
            </a:solidFill>
            <a:prstDash val="solid"/>
          </a:ln>
        </p:spPr>
      </p:sp>
      <p:sp>
        <p:nvSpPr>
          <p:cNvPr id="45" name="Shape 40"/>
          <p:cNvSpPr/>
          <p:nvPr/>
        </p:nvSpPr>
        <p:spPr>
          <a:xfrm>
            <a:off x="6364224" y="1965960"/>
            <a:ext cx="548640" cy="36576"/>
          </a:xfrm>
          <a:prstGeom prst="rect">
            <a:avLst/>
          </a:prstGeom>
          <a:solidFill>
            <a:srgbClr val="E50914"/>
          </a:solidFill>
          <a:ln w="12700">
            <a:solidFill>
              <a:srgbClr val="E50914"/>
            </a:solidFill>
            <a:prstDash val="solid"/>
          </a:ln>
        </p:spPr>
      </p:sp>
      <p:pic>
        <p:nvPicPr>
          <p:cNvPr id="46" name="Image 3" descr="/tmp/claude-0/-home-claude/0afb8f05-6c65-583f-af33-ecd94b11a885/scratchpad/eda/assets/stayed.png">    </p:cNvPr>
          <p:cNvPicPr>
            <a:picLocks noChangeAspect="1"/>
          </p:cNvPicPr>
          <p:nvPr/>
        </p:nvPicPr>
        <p:blipFill>
          <a:blip r:embed="rId5"/>
          <a:stretch>
            <a:fillRect/>
          </a:stretch>
        </p:blipFill>
        <p:spPr>
          <a:xfrm>
            <a:off x="6364224" y="2212848"/>
            <a:ext cx="365760" cy="365760"/>
          </a:xfrm>
          <a:prstGeom prst="rect">
            <a:avLst/>
          </a:prstGeom>
        </p:spPr>
      </p:pic>
      <p:sp>
        <p:nvSpPr>
          <p:cNvPr id="47" name="Text 41"/>
          <p:cNvSpPr txBox="1"/>
          <p:nvPr/>
        </p:nvSpPr>
        <p:spPr>
          <a:xfrm>
            <a:off x="6848856" y="2212848"/>
            <a:ext cx="1847088" cy="365760"/>
          </a:xfrm>
          <a:prstGeom prst="rect">
            <a:avLst/>
          </a:prstGeom>
          <a:noFill/>
          <a:ln/>
        </p:spPr>
        <p:txBody>
          <a:bodyPr wrap="square" lIns="0" tIns="0" rIns="0" bIns="0" rtlCol="0" anchor="ctr"/>
          <a:lstStyle/>
          <a:p>
            <a:pPr indent="0" marL="0">
              <a:buNone/>
            </a:pPr>
            <a:r>
              <a:rPr lang="en-US" sz="1350" b="1" dirty="0">
                <a:solidFill>
                  <a:srgbClr val="F5F5F1"/>
                </a:solidFill>
                <a:latin typeface="Segoe UI" pitchFamily="34" charset="0"/>
                <a:ea typeface="Segoe UI" pitchFamily="34" charset="-122"/>
                <a:cs typeface="Segoe UI" pitchFamily="34" charset="-120"/>
              </a:rPr>
              <a:t>Customer profile</a:t>
            </a:r>
            <a:endParaRPr lang="en-US" sz="1350" dirty="0"/>
          </a:p>
        </p:txBody>
      </p:sp>
      <p:sp>
        <p:nvSpPr>
          <p:cNvPr id="48" name="Text 42"/>
          <p:cNvSpPr txBox="1"/>
          <p:nvPr/>
        </p:nvSpPr>
        <p:spPr>
          <a:xfrm>
            <a:off x="6364224" y="2670048"/>
            <a:ext cx="1828800" cy="219456"/>
          </a:xfrm>
          <a:prstGeom prst="rect">
            <a:avLst/>
          </a:prstGeom>
          <a:noFill/>
          <a:ln/>
        </p:spPr>
        <p:txBody>
          <a:bodyPr wrap="square" lIns="0" tIns="0" rIns="0" bIns="0" rtlCol="0" anchor="ctr"/>
          <a:lstStyle/>
          <a:p>
            <a:pPr indent="0" marL="0">
              <a:buNone/>
            </a:pPr>
            <a:r>
              <a:rPr lang="en-US" sz="950" b="1" spc="100" kern="0" dirty="0">
                <a:solidFill>
                  <a:srgbClr val="FF4D57"/>
                </a:solidFill>
                <a:latin typeface="Segoe UI" pitchFamily="34" charset="0"/>
                <a:ea typeface="Segoe UI" pitchFamily="34" charset="-122"/>
                <a:cs typeface="Segoe UI" pitchFamily="34" charset="-120"/>
              </a:rPr>
              <a:t>5 fields</a:t>
            </a:r>
            <a:endParaRPr lang="en-US" sz="950" dirty="0"/>
          </a:p>
        </p:txBody>
      </p:sp>
      <p:sp>
        <p:nvSpPr>
          <p:cNvPr id="49" name="Shape 43"/>
          <p:cNvSpPr/>
          <p:nvPr/>
        </p:nvSpPr>
        <p:spPr>
          <a:xfrm>
            <a:off x="6327648" y="3017520"/>
            <a:ext cx="2340864" cy="512064"/>
          </a:xfrm>
          <a:prstGeom prst="roundRect">
            <a:avLst>
              <a:gd name="adj" fmla="val 8929"/>
            </a:avLst>
          </a:prstGeom>
          <a:solidFill>
            <a:srgbClr val="1E1E1E"/>
          </a:solidFill>
          <a:ln w="12700">
            <a:solidFill>
              <a:srgbClr val="1E1E1E"/>
            </a:solidFill>
            <a:prstDash val="solid"/>
          </a:ln>
        </p:spPr>
      </p:sp>
      <p:sp>
        <p:nvSpPr>
          <p:cNvPr id="50" name="Text 44"/>
          <p:cNvSpPr txBox="1"/>
          <p:nvPr/>
        </p:nvSpPr>
        <p:spPr>
          <a:xfrm>
            <a:off x="6437376" y="3072384"/>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age_group</a:t>
            </a:r>
            <a:endParaRPr lang="en-US" sz="1000" dirty="0"/>
          </a:p>
        </p:txBody>
      </p:sp>
      <p:sp>
        <p:nvSpPr>
          <p:cNvPr id="51" name="Text 45"/>
          <p:cNvSpPr txBox="1"/>
          <p:nvPr/>
        </p:nvSpPr>
        <p:spPr>
          <a:xfrm>
            <a:off x="6437376" y="3282696"/>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Age bands, 18–24 to 65–70</a:t>
            </a:r>
            <a:endParaRPr lang="en-US" sz="900" dirty="0"/>
          </a:p>
        </p:txBody>
      </p:sp>
      <p:sp>
        <p:nvSpPr>
          <p:cNvPr id="52" name="Shape 46"/>
          <p:cNvSpPr/>
          <p:nvPr/>
        </p:nvSpPr>
        <p:spPr>
          <a:xfrm>
            <a:off x="6327648" y="3621024"/>
            <a:ext cx="2340864" cy="512064"/>
          </a:xfrm>
          <a:prstGeom prst="roundRect">
            <a:avLst>
              <a:gd name="adj" fmla="val 8929"/>
            </a:avLst>
          </a:prstGeom>
          <a:solidFill>
            <a:srgbClr val="1E1E1E"/>
          </a:solidFill>
          <a:ln w="12700">
            <a:solidFill>
              <a:srgbClr val="1E1E1E"/>
            </a:solidFill>
            <a:prstDash val="solid"/>
          </a:ln>
        </p:spPr>
      </p:sp>
      <p:sp>
        <p:nvSpPr>
          <p:cNvPr id="53" name="Text 47"/>
          <p:cNvSpPr txBox="1"/>
          <p:nvPr/>
        </p:nvSpPr>
        <p:spPr>
          <a:xfrm>
            <a:off x="6437376" y="3621024"/>
            <a:ext cx="2167128" cy="512064"/>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account_type</a:t>
            </a:r>
            <a:endParaRPr lang="en-US" sz="1000" dirty="0"/>
          </a:p>
        </p:txBody>
      </p:sp>
      <p:sp>
        <p:nvSpPr>
          <p:cNvPr id="54" name="Shape 48"/>
          <p:cNvSpPr/>
          <p:nvPr/>
        </p:nvSpPr>
        <p:spPr>
          <a:xfrm>
            <a:off x="6327648" y="4224528"/>
            <a:ext cx="2340864" cy="512064"/>
          </a:xfrm>
          <a:prstGeom prst="roundRect">
            <a:avLst>
              <a:gd name="adj" fmla="val 8929"/>
            </a:avLst>
          </a:prstGeom>
          <a:solidFill>
            <a:srgbClr val="1E1E1E"/>
          </a:solidFill>
          <a:ln w="12700">
            <a:solidFill>
              <a:srgbClr val="1E1E1E"/>
            </a:solidFill>
            <a:prstDash val="solid"/>
          </a:ln>
        </p:spPr>
      </p:sp>
      <p:sp>
        <p:nvSpPr>
          <p:cNvPr id="55" name="Text 49"/>
          <p:cNvSpPr txBox="1"/>
          <p:nvPr/>
        </p:nvSpPr>
        <p:spPr>
          <a:xfrm>
            <a:off x="6437376" y="4224528"/>
            <a:ext cx="2167128" cy="512064"/>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profile_group</a:t>
            </a:r>
            <a:endParaRPr lang="en-US" sz="1000" dirty="0"/>
          </a:p>
        </p:txBody>
      </p:sp>
      <p:sp>
        <p:nvSpPr>
          <p:cNvPr id="56" name="Shape 50"/>
          <p:cNvSpPr/>
          <p:nvPr/>
        </p:nvSpPr>
        <p:spPr>
          <a:xfrm>
            <a:off x="6327648" y="4828032"/>
            <a:ext cx="2340864" cy="512064"/>
          </a:xfrm>
          <a:prstGeom prst="roundRect">
            <a:avLst>
              <a:gd name="adj" fmla="val 8929"/>
            </a:avLst>
          </a:prstGeom>
          <a:solidFill>
            <a:srgbClr val="1E1E1E"/>
          </a:solidFill>
          <a:ln w="12700">
            <a:solidFill>
              <a:srgbClr val="1E1E1E"/>
            </a:solidFill>
            <a:prstDash val="solid"/>
          </a:ln>
        </p:spPr>
      </p:sp>
      <p:sp>
        <p:nvSpPr>
          <p:cNvPr id="57" name="Text 51"/>
          <p:cNvSpPr txBox="1"/>
          <p:nvPr/>
        </p:nvSpPr>
        <p:spPr>
          <a:xfrm>
            <a:off x="6437376" y="4882896"/>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payment_type</a:t>
            </a:r>
            <a:endParaRPr lang="en-US" sz="1000" dirty="0"/>
          </a:p>
        </p:txBody>
      </p:sp>
      <p:sp>
        <p:nvSpPr>
          <p:cNvPr id="58" name="Text 52"/>
          <p:cNvSpPr txBox="1"/>
          <p:nvPr/>
        </p:nvSpPr>
        <p:spPr>
          <a:xfrm>
            <a:off x="6437376" y="5093208"/>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Manual / Automatic</a:t>
            </a:r>
            <a:endParaRPr lang="en-US" sz="900" dirty="0"/>
          </a:p>
        </p:txBody>
      </p:sp>
      <p:sp>
        <p:nvSpPr>
          <p:cNvPr id="59" name="Shape 53"/>
          <p:cNvSpPr/>
          <p:nvPr/>
        </p:nvSpPr>
        <p:spPr>
          <a:xfrm>
            <a:off x="6327648" y="5431536"/>
            <a:ext cx="2340864" cy="512064"/>
          </a:xfrm>
          <a:prstGeom prst="roundRect">
            <a:avLst>
              <a:gd name="adj" fmla="val 8929"/>
            </a:avLst>
          </a:prstGeom>
          <a:solidFill>
            <a:srgbClr val="1E1E1E"/>
          </a:solidFill>
          <a:ln w="12700">
            <a:solidFill>
              <a:srgbClr val="1E1E1E"/>
            </a:solidFill>
            <a:prstDash val="solid"/>
          </a:ln>
        </p:spPr>
      </p:sp>
      <p:sp>
        <p:nvSpPr>
          <p:cNvPr id="60" name="Text 54"/>
          <p:cNvSpPr txBox="1"/>
          <p:nvPr/>
        </p:nvSpPr>
        <p:spPr>
          <a:xfrm>
            <a:off x="6437376" y="5486400"/>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fee_per_profile</a:t>
            </a:r>
            <a:endParaRPr lang="en-US" sz="1000" dirty="0"/>
          </a:p>
        </p:txBody>
      </p:sp>
      <p:sp>
        <p:nvSpPr>
          <p:cNvPr id="61" name="Text 55"/>
          <p:cNvSpPr txBox="1"/>
          <p:nvPr/>
        </p:nvSpPr>
        <p:spPr>
          <a:xfrm>
            <a:off x="6437376" y="5696712"/>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Monthly fee per profile</a:t>
            </a:r>
            <a:endParaRPr lang="en-US" sz="900" dirty="0"/>
          </a:p>
        </p:txBody>
      </p:sp>
      <p:sp>
        <p:nvSpPr>
          <p:cNvPr id="62" name="Shape 56"/>
          <p:cNvSpPr/>
          <p:nvPr/>
        </p:nvSpPr>
        <p:spPr>
          <a:xfrm>
            <a:off x="8970264" y="1965960"/>
            <a:ext cx="2670048" cy="4160520"/>
          </a:xfrm>
          <a:prstGeom prst="roundRect">
            <a:avLst>
              <a:gd name="adj" fmla="val 2740"/>
            </a:avLst>
          </a:prstGeom>
          <a:solidFill>
            <a:srgbClr val="151515"/>
          </a:solidFill>
          <a:ln w="9525">
            <a:solidFill>
              <a:srgbClr val="2A2A2A"/>
            </a:solidFill>
            <a:prstDash val="solid"/>
          </a:ln>
        </p:spPr>
      </p:sp>
      <p:sp>
        <p:nvSpPr>
          <p:cNvPr id="63" name="Shape 57"/>
          <p:cNvSpPr/>
          <p:nvPr/>
        </p:nvSpPr>
        <p:spPr>
          <a:xfrm>
            <a:off x="9171432" y="1965960"/>
            <a:ext cx="548640" cy="36576"/>
          </a:xfrm>
          <a:prstGeom prst="rect">
            <a:avLst/>
          </a:prstGeom>
          <a:solidFill>
            <a:srgbClr val="E50914"/>
          </a:solidFill>
          <a:ln w="12700">
            <a:solidFill>
              <a:srgbClr val="E50914"/>
            </a:solidFill>
            <a:prstDash val="solid"/>
          </a:ln>
        </p:spPr>
      </p:sp>
      <p:pic>
        <p:nvPicPr>
          <p:cNvPr id="64" name="Image 4" descr="/tmp/claude-0/-home-claude/0afb8f05-6c65-583f-af33-ecd94b11a885/scratchpad/eda/assets/gauge.png">    </p:cNvPr>
          <p:cNvPicPr>
            <a:picLocks noChangeAspect="1"/>
          </p:cNvPicPr>
          <p:nvPr/>
        </p:nvPicPr>
        <p:blipFill>
          <a:blip r:embed="rId6"/>
          <a:stretch>
            <a:fillRect/>
          </a:stretch>
        </p:blipFill>
        <p:spPr>
          <a:xfrm>
            <a:off x="9171432" y="2212848"/>
            <a:ext cx="365760" cy="365760"/>
          </a:xfrm>
          <a:prstGeom prst="rect">
            <a:avLst/>
          </a:prstGeom>
        </p:spPr>
      </p:pic>
      <p:sp>
        <p:nvSpPr>
          <p:cNvPr id="65" name="Text 58"/>
          <p:cNvSpPr txBox="1"/>
          <p:nvPr/>
        </p:nvSpPr>
        <p:spPr>
          <a:xfrm>
            <a:off x="9656064" y="2212848"/>
            <a:ext cx="1847088" cy="365760"/>
          </a:xfrm>
          <a:prstGeom prst="rect">
            <a:avLst/>
          </a:prstGeom>
          <a:noFill/>
          <a:ln/>
        </p:spPr>
        <p:txBody>
          <a:bodyPr wrap="square" lIns="0" tIns="0" rIns="0" bIns="0" rtlCol="0" anchor="ctr"/>
          <a:lstStyle/>
          <a:p>
            <a:pPr indent="0" marL="0">
              <a:buNone/>
            </a:pPr>
            <a:r>
              <a:rPr lang="en-US" sz="1350" b="1" dirty="0">
                <a:solidFill>
                  <a:srgbClr val="F5F5F1"/>
                </a:solidFill>
                <a:latin typeface="Segoe UI" pitchFamily="34" charset="0"/>
                <a:ea typeface="Segoe UI" pitchFamily="34" charset="-122"/>
                <a:cs typeface="Segoe UI" pitchFamily="34" charset="-120"/>
              </a:rPr>
              <a:t>Risk &amp; segmentation</a:t>
            </a:r>
            <a:endParaRPr lang="en-US" sz="1350" dirty="0"/>
          </a:p>
        </p:txBody>
      </p:sp>
      <p:sp>
        <p:nvSpPr>
          <p:cNvPr id="66" name="Text 59"/>
          <p:cNvSpPr txBox="1"/>
          <p:nvPr/>
        </p:nvSpPr>
        <p:spPr>
          <a:xfrm>
            <a:off x="9171432" y="2670048"/>
            <a:ext cx="1828800" cy="219456"/>
          </a:xfrm>
          <a:prstGeom prst="rect">
            <a:avLst/>
          </a:prstGeom>
          <a:noFill/>
          <a:ln/>
        </p:spPr>
        <p:txBody>
          <a:bodyPr wrap="square" lIns="0" tIns="0" rIns="0" bIns="0" rtlCol="0" anchor="ctr"/>
          <a:lstStyle/>
          <a:p>
            <a:pPr indent="0" marL="0">
              <a:buNone/>
            </a:pPr>
            <a:r>
              <a:rPr lang="en-US" sz="950" b="1" spc="100" kern="0" dirty="0">
                <a:solidFill>
                  <a:srgbClr val="FF4D57"/>
                </a:solidFill>
                <a:latin typeface="Segoe UI" pitchFamily="34" charset="0"/>
                <a:ea typeface="Segoe UI" pitchFamily="34" charset="-122"/>
                <a:cs typeface="Segoe UI" pitchFamily="34" charset="-120"/>
              </a:rPr>
              <a:t>2 fields</a:t>
            </a:r>
            <a:endParaRPr lang="en-US" sz="950" dirty="0"/>
          </a:p>
        </p:txBody>
      </p:sp>
      <p:sp>
        <p:nvSpPr>
          <p:cNvPr id="67" name="Shape 60"/>
          <p:cNvSpPr/>
          <p:nvPr/>
        </p:nvSpPr>
        <p:spPr>
          <a:xfrm>
            <a:off x="9134856" y="3017520"/>
            <a:ext cx="2340864" cy="512064"/>
          </a:xfrm>
          <a:prstGeom prst="roundRect">
            <a:avLst>
              <a:gd name="adj" fmla="val 8929"/>
            </a:avLst>
          </a:prstGeom>
          <a:solidFill>
            <a:srgbClr val="1E1E1E"/>
          </a:solidFill>
          <a:ln w="12700">
            <a:solidFill>
              <a:srgbClr val="1E1E1E"/>
            </a:solidFill>
            <a:prstDash val="solid"/>
          </a:ln>
        </p:spPr>
      </p:sp>
      <p:sp>
        <p:nvSpPr>
          <p:cNvPr id="68" name="Text 61"/>
          <p:cNvSpPr txBox="1"/>
          <p:nvPr/>
        </p:nvSpPr>
        <p:spPr>
          <a:xfrm>
            <a:off x="9244584" y="3072384"/>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high_risk_flag</a:t>
            </a:r>
            <a:endParaRPr lang="en-US" sz="1000" dirty="0"/>
          </a:p>
        </p:txBody>
      </p:sp>
      <p:sp>
        <p:nvSpPr>
          <p:cNvPr id="69" name="Text 62"/>
          <p:cNvSpPr txBox="1"/>
          <p:nvPr/>
        </p:nvSpPr>
        <p:spPr>
          <a:xfrm>
            <a:off x="9244584" y="3282696"/>
            <a:ext cx="2167128" cy="201168"/>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Yes / No</a:t>
            </a:r>
            <a:endParaRPr lang="en-US" sz="900" dirty="0"/>
          </a:p>
        </p:txBody>
      </p:sp>
      <p:sp>
        <p:nvSpPr>
          <p:cNvPr id="70" name="Shape 63"/>
          <p:cNvSpPr/>
          <p:nvPr/>
        </p:nvSpPr>
        <p:spPr>
          <a:xfrm>
            <a:off x="9134856" y="3621024"/>
            <a:ext cx="2340864" cy="713232"/>
          </a:xfrm>
          <a:prstGeom prst="roundRect">
            <a:avLst>
              <a:gd name="adj" fmla="val 6410"/>
            </a:avLst>
          </a:prstGeom>
          <a:solidFill>
            <a:srgbClr val="1E1E1E"/>
          </a:solidFill>
          <a:ln w="12700">
            <a:solidFill>
              <a:srgbClr val="1E1E1E"/>
            </a:solidFill>
            <a:prstDash val="solid"/>
          </a:ln>
        </p:spPr>
      </p:sp>
      <p:sp>
        <p:nvSpPr>
          <p:cNvPr id="71" name="Text 64"/>
          <p:cNvSpPr txBox="1"/>
          <p:nvPr/>
        </p:nvSpPr>
        <p:spPr>
          <a:xfrm>
            <a:off x="9244584" y="3675888"/>
            <a:ext cx="2167128" cy="219456"/>
          </a:xfrm>
          <a:prstGeom prst="rect">
            <a:avLst/>
          </a:prstGeom>
          <a:noFill/>
          <a:ln/>
        </p:spPr>
        <p:txBody>
          <a:bodyPr wrap="square" lIns="0" tIns="0" rIns="0" bIns="0" rtlCol="0" anchor="ctr"/>
          <a:lstStyle/>
          <a:p>
            <a:pPr indent="0" marL="0">
              <a:buNone/>
            </a:pPr>
            <a:r>
              <a:rPr lang="en-US" sz="1000" dirty="0">
                <a:solidFill>
                  <a:srgbClr val="F5F5F1"/>
                </a:solidFill>
                <a:latin typeface="Consolas" pitchFamily="34" charset="0"/>
                <a:ea typeface="Consolas" pitchFamily="34" charset="-122"/>
                <a:cs typeface="Consolas" pitchFamily="34" charset="-120"/>
              </a:rPr>
              <a:t>customer_segment</a:t>
            </a:r>
            <a:endParaRPr lang="en-US" sz="1000" dirty="0"/>
          </a:p>
        </p:txBody>
      </p:sp>
      <p:sp>
        <p:nvSpPr>
          <p:cNvPr id="72" name="Text 65"/>
          <p:cNvSpPr txBox="1"/>
          <p:nvPr/>
        </p:nvSpPr>
        <p:spPr>
          <a:xfrm>
            <a:off x="9244584" y="3886200"/>
            <a:ext cx="2167128" cy="402336"/>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Heavy viewer who left, Light viewer who stayed, Typical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DATA READINESS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Is the dataset complete and ready for analysis?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Every column is complete and no fully empty rows exist, so the analysis runs on all 5,000 customers.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05 / 27</a:t>
            </a:r>
            <a:endParaRPr lang="en-US" sz="900" dirty="0"/>
          </a:p>
        </p:txBody>
      </p:sp>
      <p:sp>
        <p:nvSpPr>
          <p:cNvPr id="10" name="Shape 7"/>
          <p:cNvSpPr/>
          <p:nvPr/>
        </p:nvSpPr>
        <p:spPr>
          <a:xfrm>
            <a:off x="548640" y="1965960"/>
            <a:ext cx="3200400" cy="1463040"/>
          </a:xfrm>
          <a:prstGeom prst="roundRect">
            <a:avLst>
              <a:gd name="adj" fmla="val 5000"/>
            </a:avLst>
          </a:prstGeom>
          <a:solidFill>
            <a:srgbClr val="151515"/>
          </a:solidFill>
          <a:ln w="9525">
            <a:solidFill>
              <a:srgbClr val="2A2A2A"/>
            </a:solidFill>
            <a:prstDash val="solid"/>
          </a:ln>
        </p:spPr>
      </p:sp>
      <p:sp>
        <p:nvSpPr>
          <p:cNvPr id="11" name="Shape 8"/>
          <p:cNvSpPr/>
          <p:nvPr/>
        </p:nvSpPr>
        <p:spPr>
          <a:xfrm>
            <a:off x="749808" y="196596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table.png">    </p:cNvPr>
          <p:cNvPicPr>
            <a:picLocks noChangeAspect="1"/>
          </p:cNvPicPr>
          <p:nvPr/>
        </p:nvPicPr>
        <p:blipFill>
          <a:blip r:embed="rId3"/>
          <a:stretch>
            <a:fillRect/>
          </a:stretch>
        </p:blipFill>
        <p:spPr>
          <a:xfrm>
            <a:off x="777240" y="2221992"/>
            <a:ext cx="420624" cy="420624"/>
          </a:xfrm>
          <a:prstGeom prst="rect">
            <a:avLst/>
          </a:prstGeom>
        </p:spPr>
      </p:pic>
      <p:sp>
        <p:nvSpPr>
          <p:cNvPr id="13" name="Text 9"/>
          <p:cNvSpPr txBox="1"/>
          <p:nvPr/>
        </p:nvSpPr>
        <p:spPr>
          <a:xfrm>
            <a:off x="777240" y="2660904"/>
            <a:ext cx="2834640" cy="548640"/>
          </a:xfrm>
          <a:prstGeom prst="rect">
            <a:avLst/>
          </a:prstGeom>
          <a:noFill/>
          <a:ln/>
        </p:spPr>
        <p:txBody>
          <a:bodyPr wrap="square" lIns="0" tIns="0" rIns="0" bIns="0" rtlCol="0" anchor="b"/>
          <a:lstStyle/>
          <a:p>
            <a:pPr indent="0" marL="0">
              <a:buNone/>
            </a:pPr>
            <a:r>
              <a:rPr lang="en-US" sz="3000" b="1" dirty="0">
                <a:solidFill>
                  <a:srgbClr val="F5F5F1"/>
                </a:solidFill>
                <a:latin typeface="Segoe UI" pitchFamily="34" charset="0"/>
                <a:ea typeface="Segoe UI" pitchFamily="34" charset="-122"/>
                <a:cs typeface="Segoe UI" pitchFamily="34" charset="-120"/>
              </a:rPr>
              <a:t>5,000</a:t>
            </a:r>
            <a:endParaRPr lang="en-US" sz="3000" dirty="0"/>
          </a:p>
        </p:txBody>
      </p:sp>
      <p:sp>
        <p:nvSpPr>
          <p:cNvPr id="14" name="Text 10"/>
          <p:cNvSpPr txBox="1"/>
          <p:nvPr/>
        </p:nvSpPr>
        <p:spPr>
          <a:xfrm>
            <a:off x="777240" y="3246120"/>
            <a:ext cx="2834640" cy="13716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Customer records</a:t>
            </a:r>
            <a:endParaRPr lang="en-US" sz="1100" dirty="0"/>
          </a:p>
        </p:txBody>
      </p:sp>
      <p:sp>
        <p:nvSpPr>
          <p:cNvPr id="15" name="Shape 11"/>
          <p:cNvSpPr/>
          <p:nvPr/>
        </p:nvSpPr>
        <p:spPr>
          <a:xfrm>
            <a:off x="3886200" y="1965960"/>
            <a:ext cx="3200400" cy="1463040"/>
          </a:xfrm>
          <a:prstGeom prst="roundRect">
            <a:avLst>
              <a:gd name="adj" fmla="val 5000"/>
            </a:avLst>
          </a:prstGeom>
          <a:solidFill>
            <a:srgbClr val="151515"/>
          </a:solidFill>
          <a:ln w="9525">
            <a:solidFill>
              <a:srgbClr val="2A2A2A"/>
            </a:solidFill>
            <a:prstDash val="solid"/>
          </a:ln>
        </p:spPr>
      </p:sp>
      <p:sp>
        <p:nvSpPr>
          <p:cNvPr id="16" name="Shape 12"/>
          <p:cNvSpPr/>
          <p:nvPr/>
        </p:nvSpPr>
        <p:spPr>
          <a:xfrm>
            <a:off x="4087368" y="1965960"/>
            <a:ext cx="548640" cy="36576"/>
          </a:xfrm>
          <a:prstGeom prst="rect">
            <a:avLst/>
          </a:prstGeom>
          <a:solidFill>
            <a:srgbClr val="E50914"/>
          </a:solidFill>
          <a:ln w="12700">
            <a:solidFill>
              <a:srgbClr val="E50914"/>
            </a:solidFill>
            <a:prstDash val="solid"/>
          </a:ln>
        </p:spPr>
      </p:sp>
      <p:pic>
        <p:nvPicPr>
          <p:cNvPr id="17" name="Image 2" descr="/tmp/claude-0/-home-claude/0afb8f05-6c65-583f-af33-ecd94b11a885/scratchpad/eda/assets/table.png">    </p:cNvPr>
          <p:cNvPicPr>
            <a:picLocks noChangeAspect="1"/>
          </p:cNvPicPr>
          <p:nvPr/>
        </p:nvPicPr>
        <p:blipFill>
          <a:blip r:embed="rId4"/>
          <a:stretch>
            <a:fillRect/>
          </a:stretch>
        </p:blipFill>
        <p:spPr>
          <a:xfrm>
            <a:off x="4114800" y="2221992"/>
            <a:ext cx="420624" cy="420624"/>
          </a:xfrm>
          <a:prstGeom prst="rect">
            <a:avLst/>
          </a:prstGeom>
        </p:spPr>
      </p:pic>
      <p:sp>
        <p:nvSpPr>
          <p:cNvPr id="18" name="Text 13"/>
          <p:cNvSpPr txBox="1"/>
          <p:nvPr/>
        </p:nvSpPr>
        <p:spPr>
          <a:xfrm>
            <a:off x="4114800" y="2660904"/>
            <a:ext cx="2834640" cy="548640"/>
          </a:xfrm>
          <a:prstGeom prst="rect">
            <a:avLst/>
          </a:prstGeom>
          <a:noFill/>
          <a:ln/>
        </p:spPr>
        <p:txBody>
          <a:bodyPr wrap="square" lIns="0" tIns="0" rIns="0" bIns="0" rtlCol="0" anchor="b"/>
          <a:lstStyle/>
          <a:p>
            <a:pPr indent="0" marL="0">
              <a:buNone/>
            </a:pPr>
            <a:r>
              <a:rPr lang="en-US" sz="3000" b="1" dirty="0">
                <a:solidFill>
                  <a:srgbClr val="F5F5F1"/>
                </a:solidFill>
                <a:latin typeface="Segoe UI" pitchFamily="34" charset="0"/>
                <a:ea typeface="Segoe UI" pitchFamily="34" charset="-122"/>
                <a:cs typeface="Segoe UI" pitchFamily="34" charset="-120"/>
              </a:rPr>
              <a:t>29</a:t>
            </a:r>
            <a:endParaRPr lang="en-US" sz="3000" dirty="0"/>
          </a:p>
        </p:txBody>
      </p:sp>
      <p:sp>
        <p:nvSpPr>
          <p:cNvPr id="19" name="Text 14"/>
          <p:cNvSpPr txBox="1"/>
          <p:nvPr/>
        </p:nvSpPr>
        <p:spPr>
          <a:xfrm>
            <a:off x="4114800" y="3246120"/>
            <a:ext cx="2834640" cy="13716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Columns</a:t>
            </a:r>
            <a:endParaRPr lang="en-US" sz="1100" dirty="0"/>
          </a:p>
        </p:txBody>
      </p:sp>
      <p:sp>
        <p:nvSpPr>
          <p:cNvPr id="20" name="Shape 15"/>
          <p:cNvSpPr/>
          <p:nvPr/>
        </p:nvSpPr>
        <p:spPr>
          <a:xfrm>
            <a:off x="548640" y="3566160"/>
            <a:ext cx="3200400" cy="1463040"/>
          </a:xfrm>
          <a:prstGeom prst="roundRect">
            <a:avLst>
              <a:gd name="adj" fmla="val 5000"/>
            </a:avLst>
          </a:prstGeom>
          <a:solidFill>
            <a:srgbClr val="151515"/>
          </a:solidFill>
          <a:ln w="9525">
            <a:solidFill>
              <a:srgbClr val="2A2A2A"/>
            </a:solidFill>
            <a:prstDash val="solid"/>
          </a:ln>
        </p:spPr>
      </p:sp>
      <p:sp>
        <p:nvSpPr>
          <p:cNvPr id="21" name="Shape 16"/>
          <p:cNvSpPr/>
          <p:nvPr/>
        </p:nvSpPr>
        <p:spPr>
          <a:xfrm>
            <a:off x="749808" y="3566160"/>
            <a:ext cx="548640" cy="36576"/>
          </a:xfrm>
          <a:prstGeom prst="rect">
            <a:avLst/>
          </a:prstGeom>
          <a:solidFill>
            <a:srgbClr val="E50914"/>
          </a:solidFill>
          <a:ln w="12700">
            <a:solidFill>
              <a:srgbClr val="E50914"/>
            </a:solidFill>
            <a:prstDash val="solid"/>
          </a:ln>
        </p:spPr>
      </p:sp>
      <p:pic>
        <p:nvPicPr>
          <p:cNvPr id="22" name="Image 3" descr="/tmp/claude-0/-home-claude/0afb8f05-6c65-583f-af33-ecd94b11a885/scratchpad/eda/assets/check.png">    </p:cNvPr>
          <p:cNvPicPr>
            <a:picLocks noChangeAspect="1"/>
          </p:cNvPicPr>
          <p:nvPr/>
        </p:nvPicPr>
        <p:blipFill>
          <a:blip r:embed="rId5"/>
          <a:stretch>
            <a:fillRect/>
          </a:stretch>
        </p:blipFill>
        <p:spPr>
          <a:xfrm>
            <a:off x="777240" y="3822192"/>
            <a:ext cx="420624" cy="420624"/>
          </a:xfrm>
          <a:prstGeom prst="rect">
            <a:avLst/>
          </a:prstGeom>
        </p:spPr>
      </p:pic>
      <p:sp>
        <p:nvSpPr>
          <p:cNvPr id="23" name="Text 17"/>
          <p:cNvSpPr txBox="1"/>
          <p:nvPr/>
        </p:nvSpPr>
        <p:spPr>
          <a:xfrm>
            <a:off x="777240" y="4261104"/>
            <a:ext cx="2834640" cy="548640"/>
          </a:xfrm>
          <a:prstGeom prst="rect">
            <a:avLst/>
          </a:prstGeom>
          <a:noFill/>
          <a:ln/>
        </p:spPr>
        <p:txBody>
          <a:bodyPr wrap="square" lIns="0" tIns="0" rIns="0" bIns="0" rtlCol="0" anchor="b"/>
          <a:lstStyle/>
          <a:p>
            <a:pPr indent="0" marL="0">
              <a:buNone/>
            </a:pPr>
            <a:r>
              <a:rPr lang="en-US" sz="3000" b="1" dirty="0">
                <a:solidFill>
                  <a:srgbClr val="FF4D57"/>
                </a:solidFill>
                <a:latin typeface="Segoe UI" pitchFamily="34" charset="0"/>
                <a:ea typeface="Segoe UI" pitchFamily="34" charset="-122"/>
                <a:cs typeface="Segoe UI" pitchFamily="34" charset="-120"/>
              </a:rPr>
              <a:t>0</a:t>
            </a:r>
            <a:endParaRPr lang="en-US" sz="3000" dirty="0"/>
          </a:p>
        </p:txBody>
      </p:sp>
      <p:sp>
        <p:nvSpPr>
          <p:cNvPr id="24" name="Text 18"/>
          <p:cNvSpPr txBox="1"/>
          <p:nvPr/>
        </p:nvSpPr>
        <p:spPr>
          <a:xfrm>
            <a:off x="777240" y="4846320"/>
            <a:ext cx="2834640" cy="13716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Missing values in any column</a:t>
            </a:r>
            <a:endParaRPr lang="en-US" sz="1100" dirty="0"/>
          </a:p>
        </p:txBody>
      </p:sp>
      <p:sp>
        <p:nvSpPr>
          <p:cNvPr id="25" name="Shape 19"/>
          <p:cNvSpPr/>
          <p:nvPr/>
        </p:nvSpPr>
        <p:spPr>
          <a:xfrm>
            <a:off x="3886200" y="3566160"/>
            <a:ext cx="3200400" cy="1463040"/>
          </a:xfrm>
          <a:prstGeom prst="roundRect">
            <a:avLst>
              <a:gd name="adj" fmla="val 5000"/>
            </a:avLst>
          </a:prstGeom>
          <a:solidFill>
            <a:srgbClr val="151515"/>
          </a:solidFill>
          <a:ln w="9525">
            <a:solidFill>
              <a:srgbClr val="2A2A2A"/>
            </a:solidFill>
            <a:prstDash val="solid"/>
          </a:ln>
        </p:spPr>
      </p:sp>
      <p:sp>
        <p:nvSpPr>
          <p:cNvPr id="26" name="Shape 20"/>
          <p:cNvSpPr/>
          <p:nvPr/>
        </p:nvSpPr>
        <p:spPr>
          <a:xfrm>
            <a:off x="4087368" y="3566160"/>
            <a:ext cx="548640" cy="36576"/>
          </a:xfrm>
          <a:prstGeom prst="rect">
            <a:avLst/>
          </a:prstGeom>
          <a:solidFill>
            <a:srgbClr val="E50914"/>
          </a:solidFill>
          <a:ln w="12700">
            <a:solidFill>
              <a:srgbClr val="E50914"/>
            </a:solidFill>
            <a:prstDash val="solid"/>
          </a:ln>
        </p:spPr>
      </p:sp>
      <p:pic>
        <p:nvPicPr>
          <p:cNvPr id="27" name="Image 4" descr="/tmp/claude-0/-home-claude/0afb8f05-6c65-583f-af33-ecd94b11a885/scratchpad/eda/assets/check.png">    </p:cNvPr>
          <p:cNvPicPr>
            <a:picLocks noChangeAspect="1"/>
          </p:cNvPicPr>
          <p:nvPr/>
        </p:nvPicPr>
        <p:blipFill>
          <a:blip r:embed="rId6"/>
          <a:stretch>
            <a:fillRect/>
          </a:stretch>
        </p:blipFill>
        <p:spPr>
          <a:xfrm>
            <a:off x="4114800" y="3822192"/>
            <a:ext cx="420624" cy="420624"/>
          </a:xfrm>
          <a:prstGeom prst="rect">
            <a:avLst/>
          </a:prstGeom>
        </p:spPr>
      </p:pic>
      <p:sp>
        <p:nvSpPr>
          <p:cNvPr id="28" name="Text 21"/>
          <p:cNvSpPr txBox="1"/>
          <p:nvPr/>
        </p:nvSpPr>
        <p:spPr>
          <a:xfrm>
            <a:off x="4114800" y="4261104"/>
            <a:ext cx="2834640" cy="548640"/>
          </a:xfrm>
          <a:prstGeom prst="rect">
            <a:avLst/>
          </a:prstGeom>
          <a:noFill/>
          <a:ln/>
        </p:spPr>
        <p:txBody>
          <a:bodyPr wrap="square" lIns="0" tIns="0" rIns="0" bIns="0" rtlCol="0" anchor="b"/>
          <a:lstStyle/>
          <a:p>
            <a:pPr indent="0" marL="0">
              <a:buNone/>
            </a:pPr>
            <a:r>
              <a:rPr lang="en-US" sz="3000" b="1" dirty="0">
                <a:solidFill>
                  <a:srgbClr val="FF4D57"/>
                </a:solidFill>
                <a:latin typeface="Segoe UI" pitchFamily="34" charset="0"/>
                <a:ea typeface="Segoe UI" pitchFamily="34" charset="-122"/>
                <a:cs typeface="Segoe UI" pitchFamily="34" charset="-120"/>
              </a:rPr>
              <a:t>0</a:t>
            </a:r>
            <a:endParaRPr lang="en-US" sz="3000" dirty="0"/>
          </a:p>
        </p:txBody>
      </p:sp>
      <p:sp>
        <p:nvSpPr>
          <p:cNvPr id="29" name="Text 22"/>
          <p:cNvSpPr txBox="1"/>
          <p:nvPr/>
        </p:nvSpPr>
        <p:spPr>
          <a:xfrm>
            <a:off x="4114800" y="4846320"/>
            <a:ext cx="2834640" cy="13716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Fully empty rows</a:t>
            </a:r>
            <a:endParaRPr lang="en-US" sz="1100" dirty="0"/>
          </a:p>
        </p:txBody>
      </p:sp>
      <p:sp>
        <p:nvSpPr>
          <p:cNvPr id="30" name="Shape 23"/>
          <p:cNvSpPr/>
          <p:nvPr/>
        </p:nvSpPr>
        <p:spPr>
          <a:xfrm>
            <a:off x="7406640" y="1965960"/>
            <a:ext cx="4233672" cy="3063240"/>
          </a:xfrm>
          <a:prstGeom prst="roundRect">
            <a:avLst>
              <a:gd name="adj" fmla="val 1791"/>
            </a:avLst>
          </a:prstGeom>
          <a:solidFill>
            <a:srgbClr val="0E0E0E"/>
          </a:solidFill>
          <a:ln w="9525">
            <a:solidFill>
              <a:srgbClr val="2A2A2A"/>
            </a:solidFill>
            <a:prstDash val="solid"/>
          </a:ln>
        </p:spPr>
      </p:sp>
      <p:sp>
        <p:nvSpPr>
          <p:cNvPr id="31" name="Shape 24"/>
          <p:cNvSpPr/>
          <p:nvPr/>
        </p:nvSpPr>
        <p:spPr>
          <a:xfrm>
            <a:off x="7589520" y="2121408"/>
            <a:ext cx="91440" cy="91440"/>
          </a:xfrm>
          <a:prstGeom prst="ellipse">
            <a:avLst/>
          </a:prstGeom>
          <a:solidFill>
            <a:srgbClr val="FF5F57"/>
          </a:solidFill>
          <a:ln w="12700">
            <a:solidFill>
              <a:srgbClr val="FF5F57"/>
            </a:solidFill>
            <a:prstDash val="solid"/>
          </a:ln>
        </p:spPr>
      </p:sp>
      <p:sp>
        <p:nvSpPr>
          <p:cNvPr id="32" name="Shape 25"/>
          <p:cNvSpPr/>
          <p:nvPr/>
        </p:nvSpPr>
        <p:spPr>
          <a:xfrm>
            <a:off x="7754112" y="2121408"/>
            <a:ext cx="91440" cy="91440"/>
          </a:xfrm>
          <a:prstGeom prst="ellipse">
            <a:avLst/>
          </a:prstGeom>
          <a:solidFill>
            <a:srgbClr val="FEBC2E"/>
          </a:solidFill>
          <a:ln w="12700">
            <a:solidFill>
              <a:srgbClr val="FEBC2E"/>
            </a:solidFill>
            <a:prstDash val="solid"/>
          </a:ln>
        </p:spPr>
      </p:sp>
      <p:sp>
        <p:nvSpPr>
          <p:cNvPr id="33" name="Shape 26"/>
          <p:cNvSpPr/>
          <p:nvPr/>
        </p:nvSpPr>
        <p:spPr>
          <a:xfrm>
            <a:off x="7918704" y="2121408"/>
            <a:ext cx="91440" cy="91440"/>
          </a:xfrm>
          <a:prstGeom prst="ellipse">
            <a:avLst/>
          </a:prstGeom>
          <a:solidFill>
            <a:srgbClr val="28C840"/>
          </a:solidFill>
          <a:ln w="12700">
            <a:solidFill>
              <a:srgbClr val="28C840"/>
            </a:solidFill>
            <a:prstDash val="solid"/>
          </a:ln>
        </p:spPr>
      </p:sp>
      <p:sp>
        <p:nvSpPr>
          <p:cNvPr id="34" name="Text 27"/>
          <p:cNvSpPr txBox="1"/>
          <p:nvPr/>
        </p:nvSpPr>
        <p:spPr>
          <a:xfrm>
            <a:off x="8138160" y="205740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5" name="Text 28"/>
          <p:cNvSpPr txBox="1"/>
          <p:nvPr/>
        </p:nvSpPr>
        <p:spPr>
          <a:xfrm>
            <a:off x="7589520" y="2377440"/>
            <a:ext cx="3959352" cy="25603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dataset = pd.read_csv(</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"Netflix_calculated_fields.csv")</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dataset.isna().sum()</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0 in every column</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dataset[dataset.isna().all(axis=1)]</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Empty DataFrame: 0 rows x 29 columns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dataset = dataset.dropna(how="all")</a:t>
            </a:r>
            <a:endParaRPr lang="en-US" sz="950" dirty="0"/>
          </a:p>
        </p:txBody>
      </p:sp>
      <p:sp>
        <p:nvSpPr>
          <p:cNvPr id="36" name="Shape 29"/>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7" name="Shape 30"/>
          <p:cNvSpPr/>
          <p:nvPr/>
        </p:nvSpPr>
        <p:spPr>
          <a:xfrm>
            <a:off x="548640" y="5358384"/>
            <a:ext cx="54864" cy="704088"/>
          </a:xfrm>
          <a:prstGeom prst="rect">
            <a:avLst/>
          </a:prstGeom>
          <a:solidFill>
            <a:srgbClr val="E50914"/>
          </a:solidFill>
          <a:ln w="12700">
            <a:solidFill>
              <a:srgbClr val="E50914"/>
            </a:solidFill>
            <a:prstDash val="solid"/>
          </a:ln>
        </p:spPr>
      </p:sp>
      <p:pic>
        <p:nvPicPr>
          <p:cNvPr id="38" name="Image 5" descr="/tmp/claude-0/-home-claude/0afb8f05-6c65-583f-af33-ecd94b11a885/scratchpad/eda/assets/bulb.png">    </p:cNvPr>
          <p:cNvPicPr>
            <a:picLocks noChangeAspect="1"/>
          </p:cNvPicPr>
          <p:nvPr/>
        </p:nvPicPr>
        <p:blipFill>
          <a:blip r:embed="rId7"/>
          <a:stretch>
            <a:fillRect/>
          </a:stretch>
        </p:blipFill>
        <p:spPr>
          <a:xfrm>
            <a:off x="804672" y="5513832"/>
            <a:ext cx="384048" cy="384048"/>
          </a:xfrm>
          <a:prstGeom prst="rect">
            <a:avLst/>
          </a:prstGeom>
        </p:spPr>
      </p:pic>
      <p:sp>
        <p:nvSpPr>
          <p:cNvPr id="39" name="Text 31"/>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40" name="Text 32"/>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The dataset carries </a:t>
            </a:r>
            <a:pPr indent="0" marL="0">
              <a:buNone/>
            </a:pPr>
            <a:r>
              <a:rPr lang="en-US" sz="1200" b="1" dirty="0">
                <a:solidFill>
                  <a:srgbClr val="F5F5F1"/>
                </a:solidFill>
                <a:latin typeface="Segoe UI" pitchFamily="34" charset="0"/>
                <a:ea typeface="Segoe UI" pitchFamily="34" charset="-122"/>
                <a:cs typeface="Segoe UI" pitchFamily="34" charset="-120"/>
              </a:rPr>
              <a:t>no missing values</a:t>
            </a:r>
            <a:pPr indent="0" marL="0">
              <a:buNone/>
            </a:pPr>
            <a:r>
              <a:rPr lang="en-US" sz="1200" dirty="0">
                <a:solidFill>
                  <a:srgbClr val="F5F5F1"/>
                </a:solidFill>
                <a:latin typeface="Segoe UI" pitchFamily="34" charset="0"/>
                <a:ea typeface="Segoe UI" pitchFamily="34" charset="-122"/>
                <a:cs typeface="Segoe UI" pitchFamily="34" charset="-120"/>
              </a:rPr>
              <a:t> after preprocessing, and the empty row check confirms there are </a:t>
            </a:r>
            <a:pPr indent="0" marL="0">
              <a:buNone/>
            </a:pPr>
            <a:r>
              <a:rPr lang="en-US" sz="1200" b="1" dirty="0">
                <a:solidFill>
                  <a:srgbClr val="F5F5F1"/>
                </a:solidFill>
                <a:latin typeface="Segoe UI" pitchFamily="34" charset="0"/>
                <a:ea typeface="Segoe UI" pitchFamily="34" charset="-122"/>
                <a:cs typeface="Segoe UI" pitchFamily="34" charset="-120"/>
              </a:rPr>
              <a:t>no blank records</a:t>
            </a:r>
            <a:pPr indent="0" marL="0">
              <a:buNone/>
            </a:pPr>
            <a:r>
              <a:rPr lang="en-US" sz="1200" dirty="0">
                <a:solidFill>
                  <a:srgbClr val="F5F5F1"/>
                </a:solidFill>
                <a:latin typeface="Segoe UI" pitchFamily="34" charset="0"/>
                <a:ea typeface="Segoe UI" pitchFamily="34" charset="-122"/>
                <a:cs typeface="Segoe UI" pitchFamily="34" charset="-120"/>
              </a:rPr>
              <a:t> to remove. Every finding that follows is based on the complete customer base.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Text 0"/>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200" b="1" spc="300" kern="0" dirty="0">
                <a:solidFill>
                  <a:srgbClr val="FF4D57"/>
                </a:solidFill>
                <a:latin typeface="Segoe UI" pitchFamily="34" charset="0"/>
                <a:ea typeface="Segoe UI" pitchFamily="34" charset="-122"/>
                <a:cs typeface="Segoe UI" pitchFamily="34" charset="-120"/>
              </a:rPr>
              <a:t>SECTION 02</a:t>
            </a:r>
            <a:endParaRPr lang="en-US" sz="1200" dirty="0"/>
          </a:p>
        </p:txBody>
      </p:sp>
      <p:sp>
        <p:nvSpPr>
          <p:cNvPr id="4" name="Text 1"/>
          <p:cNvSpPr txBox="1"/>
          <p:nvPr/>
        </p:nvSpPr>
        <p:spPr>
          <a:xfrm>
            <a:off x="548640" y="868680"/>
            <a:ext cx="9144000" cy="777240"/>
          </a:xfrm>
          <a:prstGeom prst="rect">
            <a:avLst/>
          </a:prstGeom>
          <a:noFill/>
          <a:ln/>
        </p:spPr>
        <p:txBody>
          <a:bodyPr wrap="square" lIns="0" tIns="0" rIns="0" bIns="0" rtlCol="0" anchor="ctr"/>
          <a:lstStyle/>
          <a:p>
            <a:pPr indent="0" marL="0">
              <a:buNone/>
            </a:pPr>
            <a:r>
              <a:rPr lang="en-US" sz="4200" b="1" dirty="0">
                <a:solidFill>
                  <a:srgbClr val="F5F5F1"/>
                </a:solidFill>
                <a:latin typeface="Segoe UI" pitchFamily="34" charset="0"/>
                <a:ea typeface="Segoe UI" pitchFamily="34" charset="-122"/>
                <a:cs typeface="Segoe UI" pitchFamily="34" charset="-120"/>
              </a:rPr>
              <a:t>Findings &amp; Insights</a:t>
            </a:r>
            <a:endParaRPr lang="en-US" sz="4200" dirty="0"/>
          </a:p>
        </p:txBody>
      </p:sp>
      <p:sp>
        <p:nvSpPr>
          <p:cNvPr id="5" name="Text 2"/>
          <p:cNvSpPr txBox="1"/>
          <p:nvPr/>
        </p:nvSpPr>
        <p:spPr>
          <a:xfrm>
            <a:off x="548640" y="1627632"/>
            <a:ext cx="9144000" cy="365760"/>
          </a:xfrm>
          <a:prstGeom prst="rect">
            <a:avLst/>
          </a:prstGeom>
          <a:noFill/>
          <a:ln/>
        </p:spPr>
        <p:txBody>
          <a:bodyPr wrap="square" lIns="0" tIns="0" rIns="0" bIns="0" rtlCol="0" anchor="ctr"/>
          <a:lstStyle/>
          <a:p>
            <a:pPr indent="0" marL="0">
              <a:buNone/>
            </a:pPr>
            <a:r>
              <a:rPr lang="en-US" sz="1500" dirty="0">
                <a:solidFill>
                  <a:srgbClr val="A6A6A6"/>
                </a:solidFill>
                <a:latin typeface="Segoe UI" pitchFamily="34" charset="0"/>
                <a:ea typeface="Segoe UI" pitchFamily="34" charset="-122"/>
                <a:cs typeface="Segoe UI" pitchFamily="34" charset="-120"/>
              </a:rPr>
              <a:t>Fifteen business questions explored</a:t>
            </a:r>
            <a:endParaRPr lang="en-US" sz="1500" dirty="0"/>
          </a:p>
        </p:txBody>
      </p:sp>
      <p:sp>
        <p:nvSpPr>
          <p:cNvPr id="6" name="Shape 3"/>
          <p:cNvSpPr/>
          <p:nvPr/>
        </p:nvSpPr>
        <p:spPr>
          <a:xfrm>
            <a:off x="548640" y="2286000"/>
            <a:ext cx="3611880" cy="676656"/>
          </a:xfrm>
          <a:prstGeom prst="roundRect">
            <a:avLst>
              <a:gd name="adj" fmla="val 10811"/>
            </a:avLst>
          </a:prstGeom>
          <a:solidFill>
            <a:srgbClr val="141414"/>
          </a:solidFill>
          <a:ln w="9525">
            <a:solidFill>
              <a:srgbClr val="2A2A2A"/>
            </a:solidFill>
            <a:prstDash val="solid"/>
          </a:ln>
        </p:spPr>
      </p:sp>
      <p:sp>
        <p:nvSpPr>
          <p:cNvPr id="7" name="Text 4"/>
          <p:cNvSpPr txBox="1"/>
          <p:nvPr/>
        </p:nvSpPr>
        <p:spPr>
          <a:xfrm>
            <a:off x="731520" y="2286000"/>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01</a:t>
            </a:r>
            <a:endParaRPr lang="en-US" sz="2000" dirty="0"/>
          </a:p>
        </p:txBody>
      </p:sp>
      <p:sp>
        <p:nvSpPr>
          <p:cNvPr id="8" name="Text 5"/>
          <p:cNvSpPr txBox="1"/>
          <p:nvPr/>
        </p:nvSpPr>
        <p:spPr>
          <a:xfrm>
            <a:off x="1353312" y="2286000"/>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Popular plans, genres, gender and devices</a:t>
            </a:r>
            <a:endParaRPr lang="en-US" sz="1200" dirty="0"/>
          </a:p>
        </p:txBody>
      </p:sp>
      <p:sp>
        <p:nvSpPr>
          <p:cNvPr id="9" name="Shape 6"/>
          <p:cNvSpPr/>
          <p:nvPr/>
        </p:nvSpPr>
        <p:spPr>
          <a:xfrm>
            <a:off x="548640" y="3072384"/>
            <a:ext cx="3611880" cy="676656"/>
          </a:xfrm>
          <a:prstGeom prst="roundRect">
            <a:avLst>
              <a:gd name="adj" fmla="val 10811"/>
            </a:avLst>
          </a:prstGeom>
          <a:solidFill>
            <a:srgbClr val="141414"/>
          </a:solidFill>
          <a:ln w="9525">
            <a:solidFill>
              <a:srgbClr val="2A2A2A"/>
            </a:solidFill>
            <a:prstDash val="solid"/>
          </a:ln>
        </p:spPr>
      </p:sp>
      <p:sp>
        <p:nvSpPr>
          <p:cNvPr id="10" name="Text 7"/>
          <p:cNvSpPr txBox="1"/>
          <p:nvPr/>
        </p:nvSpPr>
        <p:spPr>
          <a:xfrm>
            <a:off x="731520" y="3072384"/>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02</a:t>
            </a:r>
            <a:endParaRPr lang="en-US" sz="2000" dirty="0"/>
          </a:p>
        </p:txBody>
      </p:sp>
      <p:sp>
        <p:nvSpPr>
          <p:cNvPr id="11" name="Text 8"/>
          <p:cNvSpPr txBox="1"/>
          <p:nvPr/>
        </p:nvSpPr>
        <p:spPr>
          <a:xfrm>
            <a:off x="1353312" y="3072384"/>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Customers who stayed or left</a:t>
            </a:r>
            <a:endParaRPr lang="en-US" sz="1200" dirty="0"/>
          </a:p>
        </p:txBody>
      </p:sp>
      <p:sp>
        <p:nvSpPr>
          <p:cNvPr id="12" name="Shape 9"/>
          <p:cNvSpPr/>
          <p:nvPr/>
        </p:nvSpPr>
        <p:spPr>
          <a:xfrm>
            <a:off x="548640" y="3858768"/>
            <a:ext cx="3611880" cy="676656"/>
          </a:xfrm>
          <a:prstGeom prst="roundRect">
            <a:avLst>
              <a:gd name="adj" fmla="val 10811"/>
            </a:avLst>
          </a:prstGeom>
          <a:solidFill>
            <a:srgbClr val="141414"/>
          </a:solidFill>
          <a:ln w="9525">
            <a:solidFill>
              <a:srgbClr val="2A2A2A"/>
            </a:solidFill>
            <a:prstDash val="solid"/>
          </a:ln>
        </p:spPr>
      </p:sp>
      <p:sp>
        <p:nvSpPr>
          <p:cNvPr id="13" name="Text 10"/>
          <p:cNvSpPr txBox="1"/>
          <p:nvPr/>
        </p:nvSpPr>
        <p:spPr>
          <a:xfrm>
            <a:off x="731520" y="3858768"/>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03</a:t>
            </a:r>
            <a:endParaRPr lang="en-US" sz="2000" dirty="0"/>
          </a:p>
        </p:txBody>
      </p:sp>
      <p:sp>
        <p:nvSpPr>
          <p:cNvPr id="14" name="Text 11"/>
          <p:cNvSpPr txBox="1"/>
          <p:nvPr/>
        </p:nvSpPr>
        <p:spPr>
          <a:xfrm>
            <a:off x="1353312" y="3858768"/>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Silent subscribers</a:t>
            </a:r>
            <a:endParaRPr lang="en-US" sz="1200" dirty="0"/>
          </a:p>
        </p:txBody>
      </p:sp>
      <p:sp>
        <p:nvSpPr>
          <p:cNvPr id="15" name="Shape 12"/>
          <p:cNvSpPr/>
          <p:nvPr/>
        </p:nvSpPr>
        <p:spPr>
          <a:xfrm>
            <a:off x="548640" y="4645152"/>
            <a:ext cx="3611880" cy="676656"/>
          </a:xfrm>
          <a:prstGeom prst="roundRect">
            <a:avLst>
              <a:gd name="adj" fmla="val 10811"/>
            </a:avLst>
          </a:prstGeom>
          <a:solidFill>
            <a:srgbClr val="141414"/>
          </a:solidFill>
          <a:ln w="9525">
            <a:solidFill>
              <a:srgbClr val="2A2A2A"/>
            </a:solidFill>
            <a:prstDash val="solid"/>
          </a:ln>
        </p:spPr>
      </p:sp>
      <p:sp>
        <p:nvSpPr>
          <p:cNvPr id="16" name="Text 13"/>
          <p:cNvSpPr txBox="1"/>
          <p:nvPr/>
        </p:nvSpPr>
        <p:spPr>
          <a:xfrm>
            <a:off x="731520" y="4645152"/>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04</a:t>
            </a:r>
            <a:endParaRPr lang="en-US" sz="2000" dirty="0"/>
          </a:p>
        </p:txBody>
      </p:sp>
      <p:sp>
        <p:nvSpPr>
          <p:cNvPr id="17" name="Text 14"/>
          <p:cNvSpPr txBox="1"/>
          <p:nvPr/>
        </p:nvSpPr>
        <p:spPr>
          <a:xfrm>
            <a:off x="1353312" y="4645152"/>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Inactive but still paying</a:t>
            </a:r>
            <a:endParaRPr lang="en-US" sz="1200" dirty="0"/>
          </a:p>
        </p:txBody>
      </p:sp>
      <p:sp>
        <p:nvSpPr>
          <p:cNvPr id="18" name="Shape 15"/>
          <p:cNvSpPr/>
          <p:nvPr/>
        </p:nvSpPr>
        <p:spPr>
          <a:xfrm>
            <a:off x="548640" y="5431536"/>
            <a:ext cx="3611880" cy="676656"/>
          </a:xfrm>
          <a:prstGeom prst="roundRect">
            <a:avLst>
              <a:gd name="adj" fmla="val 10811"/>
            </a:avLst>
          </a:prstGeom>
          <a:solidFill>
            <a:srgbClr val="141414"/>
          </a:solidFill>
          <a:ln w="9525">
            <a:solidFill>
              <a:srgbClr val="2A2A2A"/>
            </a:solidFill>
            <a:prstDash val="solid"/>
          </a:ln>
        </p:spPr>
      </p:sp>
      <p:sp>
        <p:nvSpPr>
          <p:cNvPr id="19" name="Text 16"/>
          <p:cNvSpPr txBox="1"/>
          <p:nvPr/>
        </p:nvSpPr>
        <p:spPr>
          <a:xfrm>
            <a:off x="731520" y="5431536"/>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05</a:t>
            </a:r>
            <a:endParaRPr lang="en-US" sz="2000" dirty="0"/>
          </a:p>
        </p:txBody>
      </p:sp>
      <p:sp>
        <p:nvSpPr>
          <p:cNvPr id="20" name="Text 17"/>
          <p:cNvSpPr txBox="1"/>
          <p:nvPr/>
        </p:nvSpPr>
        <p:spPr>
          <a:xfrm>
            <a:off x="1353312" y="5431536"/>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Revenue from manual renewal</a:t>
            </a:r>
            <a:endParaRPr lang="en-US" sz="1200" dirty="0"/>
          </a:p>
        </p:txBody>
      </p:sp>
      <p:sp>
        <p:nvSpPr>
          <p:cNvPr id="21" name="Shape 18"/>
          <p:cNvSpPr/>
          <p:nvPr/>
        </p:nvSpPr>
        <p:spPr>
          <a:xfrm>
            <a:off x="4297680" y="2286000"/>
            <a:ext cx="3611880" cy="676656"/>
          </a:xfrm>
          <a:prstGeom prst="roundRect">
            <a:avLst>
              <a:gd name="adj" fmla="val 10811"/>
            </a:avLst>
          </a:prstGeom>
          <a:solidFill>
            <a:srgbClr val="141414"/>
          </a:solidFill>
          <a:ln w="9525">
            <a:solidFill>
              <a:srgbClr val="2A2A2A"/>
            </a:solidFill>
            <a:prstDash val="solid"/>
          </a:ln>
        </p:spPr>
      </p:sp>
      <p:sp>
        <p:nvSpPr>
          <p:cNvPr id="22" name="Text 19"/>
          <p:cNvSpPr txBox="1"/>
          <p:nvPr/>
        </p:nvSpPr>
        <p:spPr>
          <a:xfrm>
            <a:off x="4480560" y="2286000"/>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06</a:t>
            </a:r>
            <a:endParaRPr lang="en-US" sz="2000" dirty="0"/>
          </a:p>
        </p:txBody>
      </p:sp>
      <p:sp>
        <p:nvSpPr>
          <p:cNvPr id="23" name="Text 20"/>
          <p:cNvSpPr txBox="1"/>
          <p:nvPr/>
        </p:nvSpPr>
        <p:spPr>
          <a:xfrm>
            <a:off x="5102352" y="2286000"/>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The inactivity danger zone</a:t>
            </a:r>
            <a:endParaRPr lang="en-US" sz="1200" dirty="0"/>
          </a:p>
        </p:txBody>
      </p:sp>
      <p:sp>
        <p:nvSpPr>
          <p:cNvPr id="24" name="Shape 21"/>
          <p:cNvSpPr/>
          <p:nvPr/>
        </p:nvSpPr>
        <p:spPr>
          <a:xfrm>
            <a:off x="4297680" y="3072384"/>
            <a:ext cx="3611880" cy="676656"/>
          </a:xfrm>
          <a:prstGeom prst="roundRect">
            <a:avLst>
              <a:gd name="adj" fmla="val 10811"/>
            </a:avLst>
          </a:prstGeom>
          <a:solidFill>
            <a:srgbClr val="141414"/>
          </a:solidFill>
          <a:ln w="9525">
            <a:solidFill>
              <a:srgbClr val="2A2A2A"/>
            </a:solidFill>
            <a:prstDash val="solid"/>
          </a:ln>
        </p:spPr>
      </p:sp>
      <p:sp>
        <p:nvSpPr>
          <p:cNvPr id="25" name="Text 22"/>
          <p:cNvSpPr txBox="1"/>
          <p:nvPr/>
        </p:nvSpPr>
        <p:spPr>
          <a:xfrm>
            <a:off x="4480560" y="3072384"/>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07</a:t>
            </a:r>
            <a:endParaRPr lang="en-US" sz="2000" dirty="0"/>
          </a:p>
        </p:txBody>
      </p:sp>
      <p:sp>
        <p:nvSpPr>
          <p:cNvPr id="26" name="Text 23"/>
          <p:cNvSpPr txBox="1"/>
          <p:nvPr/>
        </p:nvSpPr>
        <p:spPr>
          <a:xfrm>
            <a:off x="5102352" y="3072384"/>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Engagement and churn</a:t>
            </a:r>
            <a:endParaRPr lang="en-US" sz="1200" dirty="0"/>
          </a:p>
        </p:txBody>
      </p:sp>
      <p:sp>
        <p:nvSpPr>
          <p:cNvPr id="27" name="Shape 24"/>
          <p:cNvSpPr/>
          <p:nvPr/>
        </p:nvSpPr>
        <p:spPr>
          <a:xfrm>
            <a:off x="4297680" y="3858768"/>
            <a:ext cx="3611880" cy="676656"/>
          </a:xfrm>
          <a:prstGeom prst="roundRect">
            <a:avLst>
              <a:gd name="adj" fmla="val 10811"/>
            </a:avLst>
          </a:prstGeom>
          <a:solidFill>
            <a:srgbClr val="141414"/>
          </a:solidFill>
          <a:ln w="9525">
            <a:solidFill>
              <a:srgbClr val="2A2A2A"/>
            </a:solidFill>
            <a:prstDash val="solid"/>
          </a:ln>
        </p:spPr>
      </p:sp>
      <p:sp>
        <p:nvSpPr>
          <p:cNvPr id="28" name="Text 25"/>
          <p:cNvSpPr txBox="1"/>
          <p:nvPr/>
        </p:nvSpPr>
        <p:spPr>
          <a:xfrm>
            <a:off x="4480560" y="3858768"/>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08</a:t>
            </a:r>
            <a:endParaRPr lang="en-US" sz="2000" dirty="0"/>
          </a:p>
        </p:txBody>
      </p:sp>
      <p:sp>
        <p:nvSpPr>
          <p:cNvPr id="29" name="Text 26"/>
          <p:cNvSpPr txBox="1"/>
          <p:nvPr/>
        </p:nvSpPr>
        <p:spPr>
          <a:xfrm>
            <a:off x="5102352" y="3858768"/>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Comparing warning signals</a:t>
            </a:r>
            <a:endParaRPr lang="en-US" sz="1200" dirty="0"/>
          </a:p>
        </p:txBody>
      </p:sp>
      <p:sp>
        <p:nvSpPr>
          <p:cNvPr id="30" name="Shape 27"/>
          <p:cNvSpPr/>
          <p:nvPr/>
        </p:nvSpPr>
        <p:spPr>
          <a:xfrm>
            <a:off x="4297680" y="4645152"/>
            <a:ext cx="3611880" cy="676656"/>
          </a:xfrm>
          <a:prstGeom prst="roundRect">
            <a:avLst>
              <a:gd name="adj" fmla="val 10811"/>
            </a:avLst>
          </a:prstGeom>
          <a:solidFill>
            <a:srgbClr val="141414"/>
          </a:solidFill>
          <a:ln w="9525">
            <a:solidFill>
              <a:srgbClr val="2A2A2A"/>
            </a:solidFill>
            <a:prstDash val="solid"/>
          </a:ln>
        </p:spPr>
      </p:sp>
      <p:sp>
        <p:nvSpPr>
          <p:cNvPr id="31" name="Text 28"/>
          <p:cNvSpPr txBox="1"/>
          <p:nvPr/>
        </p:nvSpPr>
        <p:spPr>
          <a:xfrm>
            <a:off x="4480560" y="4645152"/>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09</a:t>
            </a:r>
            <a:endParaRPr lang="en-US" sz="2000" dirty="0"/>
          </a:p>
        </p:txBody>
      </p:sp>
      <p:sp>
        <p:nvSpPr>
          <p:cNvPr id="32" name="Text 29"/>
          <p:cNvSpPr txBox="1"/>
          <p:nvPr/>
        </p:nvSpPr>
        <p:spPr>
          <a:xfrm>
            <a:off x="5102352" y="4645152"/>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Plan risk at equal viewing</a:t>
            </a:r>
            <a:endParaRPr lang="en-US" sz="1200" dirty="0"/>
          </a:p>
        </p:txBody>
      </p:sp>
      <p:sp>
        <p:nvSpPr>
          <p:cNvPr id="33" name="Shape 30"/>
          <p:cNvSpPr/>
          <p:nvPr/>
        </p:nvSpPr>
        <p:spPr>
          <a:xfrm>
            <a:off x="4297680" y="5431536"/>
            <a:ext cx="3611880" cy="676656"/>
          </a:xfrm>
          <a:prstGeom prst="roundRect">
            <a:avLst>
              <a:gd name="adj" fmla="val 10811"/>
            </a:avLst>
          </a:prstGeom>
          <a:solidFill>
            <a:srgbClr val="141414"/>
          </a:solidFill>
          <a:ln w="9525">
            <a:solidFill>
              <a:srgbClr val="2A2A2A"/>
            </a:solidFill>
            <a:prstDash val="solid"/>
          </a:ln>
        </p:spPr>
      </p:sp>
      <p:sp>
        <p:nvSpPr>
          <p:cNvPr id="34" name="Text 31"/>
          <p:cNvSpPr txBox="1"/>
          <p:nvPr/>
        </p:nvSpPr>
        <p:spPr>
          <a:xfrm>
            <a:off x="4480560" y="5431536"/>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10</a:t>
            </a:r>
            <a:endParaRPr lang="en-US" sz="2000" dirty="0"/>
          </a:p>
        </p:txBody>
      </p:sp>
      <p:sp>
        <p:nvSpPr>
          <p:cNvPr id="35" name="Text 32"/>
          <p:cNvSpPr txBox="1"/>
          <p:nvPr/>
        </p:nvSpPr>
        <p:spPr>
          <a:xfrm>
            <a:off x="5102352" y="5431536"/>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Payment method at equal viewing</a:t>
            </a:r>
            <a:endParaRPr lang="en-US" sz="1200" dirty="0"/>
          </a:p>
        </p:txBody>
      </p:sp>
      <p:sp>
        <p:nvSpPr>
          <p:cNvPr id="36" name="Shape 33"/>
          <p:cNvSpPr/>
          <p:nvPr/>
        </p:nvSpPr>
        <p:spPr>
          <a:xfrm>
            <a:off x="8046720" y="2286000"/>
            <a:ext cx="3611880" cy="676656"/>
          </a:xfrm>
          <a:prstGeom prst="roundRect">
            <a:avLst>
              <a:gd name="adj" fmla="val 10811"/>
            </a:avLst>
          </a:prstGeom>
          <a:solidFill>
            <a:srgbClr val="141414"/>
          </a:solidFill>
          <a:ln w="9525">
            <a:solidFill>
              <a:srgbClr val="2A2A2A"/>
            </a:solidFill>
            <a:prstDash val="solid"/>
          </a:ln>
        </p:spPr>
      </p:sp>
      <p:sp>
        <p:nvSpPr>
          <p:cNvPr id="37" name="Text 34"/>
          <p:cNvSpPr txBox="1"/>
          <p:nvPr/>
        </p:nvSpPr>
        <p:spPr>
          <a:xfrm>
            <a:off x="8229600" y="2286000"/>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11</a:t>
            </a:r>
            <a:endParaRPr lang="en-US" sz="2000" dirty="0"/>
          </a:p>
        </p:txBody>
      </p:sp>
      <p:sp>
        <p:nvSpPr>
          <p:cNvPr id="38" name="Text 35"/>
          <p:cNvSpPr txBox="1"/>
          <p:nvPr/>
        </p:nvSpPr>
        <p:spPr>
          <a:xfrm>
            <a:off x="8851392" y="2286000"/>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Account sharing and profiles</a:t>
            </a:r>
            <a:endParaRPr lang="en-US" sz="1200" dirty="0"/>
          </a:p>
        </p:txBody>
      </p:sp>
      <p:sp>
        <p:nvSpPr>
          <p:cNvPr id="39" name="Shape 36"/>
          <p:cNvSpPr/>
          <p:nvPr/>
        </p:nvSpPr>
        <p:spPr>
          <a:xfrm>
            <a:off x="8046720" y="3072384"/>
            <a:ext cx="3611880" cy="676656"/>
          </a:xfrm>
          <a:prstGeom prst="roundRect">
            <a:avLst>
              <a:gd name="adj" fmla="val 10811"/>
            </a:avLst>
          </a:prstGeom>
          <a:solidFill>
            <a:srgbClr val="141414"/>
          </a:solidFill>
          <a:ln w="9525">
            <a:solidFill>
              <a:srgbClr val="2A2A2A"/>
            </a:solidFill>
            <a:prstDash val="solid"/>
          </a:ln>
        </p:spPr>
      </p:sp>
      <p:sp>
        <p:nvSpPr>
          <p:cNvPr id="40" name="Text 37"/>
          <p:cNvSpPr txBox="1"/>
          <p:nvPr/>
        </p:nvSpPr>
        <p:spPr>
          <a:xfrm>
            <a:off x="8229600" y="3072384"/>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12</a:t>
            </a:r>
            <a:endParaRPr lang="en-US" sz="2000" dirty="0"/>
          </a:p>
        </p:txBody>
      </p:sp>
      <p:sp>
        <p:nvSpPr>
          <p:cNvPr id="41" name="Text 38"/>
          <p:cNvSpPr txBox="1"/>
          <p:nvPr/>
        </p:nvSpPr>
        <p:spPr>
          <a:xfrm>
            <a:off x="8851392" y="3072384"/>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Gender, region and device</a:t>
            </a:r>
            <a:endParaRPr lang="en-US" sz="1200" dirty="0"/>
          </a:p>
        </p:txBody>
      </p:sp>
      <p:sp>
        <p:nvSpPr>
          <p:cNvPr id="42" name="Shape 39"/>
          <p:cNvSpPr/>
          <p:nvPr/>
        </p:nvSpPr>
        <p:spPr>
          <a:xfrm>
            <a:off x="8046720" y="3858768"/>
            <a:ext cx="3611880" cy="676656"/>
          </a:xfrm>
          <a:prstGeom prst="roundRect">
            <a:avLst>
              <a:gd name="adj" fmla="val 10811"/>
            </a:avLst>
          </a:prstGeom>
          <a:solidFill>
            <a:srgbClr val="141414"/>
          </a:solidFill>
          <a:ln w="9525">
            <a:solidFill>
              <a:srgbClr val="2A2A2A"/>
            </a:solidFill>
            <a:prstDash val="solid"/>
          </a:ln>
        </p:spPr>
      </p:sp>
      <p:sp>
        <p:nvSpPr>
          <p:cNvPr id="43" name="Text 40"/>
          <p:cNvSpPr txBox="1"/>
          <p:nvPr/>
        </p:nvSpPr>
        <p:spPr>
          <a:xfrm>
            <a:off x="8229600" y="3858768"/>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13</a:t>
            </a:r>
            <a:endParaRPr lang="en-US" sz="2000" dirty="0"/>
          </a:p>
        </p:txBody>
      </p:sp>
      <p:sp>
        <p:nvSpPr>
          <p:cNvPr id="44" name="Text 41"/>
          <p:cNvSpPr txBox="1"/>
          <p:nvPr/>
        </p:nvSpPr>
        <p:spPr>
          <a:xfrm>
            <a:off x="8851392" y="3858768"/>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Atypical customers</a:t>
            </a:r>
            <a:endParaRPr lang="en-US" sz="1200" dirty="0"/>
          </a:p>
        </p:txBody>
      </p:sp>
      <p:sp>
        <p:nvSpPr>
          <p:cNvPr id="45" name="Shape 42"/>
          <p:cNvSpPr/>
          <p:nvPr/>
        </p:nvSpPr>
        <p:spPr>
          <a:xfrm>
            <a:off x="8046720" y="4645152"/>
            <a:ext cx="3611880" cy="676656"/>
          </a:xfrm>
          <a:prstGeom prst="roundRect">
            <a:avLst>
              <a:gd name="adj" fmla="val 10811"/>
            </a:avLst>
          </a:prstGeom>
          <a:solidFill>
            <a:srgbClr val="141414"/>
          </a:solidFill>
          <a:ln w="9525">
            <a:solidFill>
              <a:srgbClr val="2A2A2A"/>
            </a:solidFill>
            <a:prstDash val="solid"/>
          </a:ln>
        </p:spPr>
      </p:sp>
      <p:sp>
        <p:nvSpPr>
          <p:cNvPr id="46" name="Text 43"/>
          <p:cNvSpPr txBox="1"/>
          <p:nvPr/>
        </p:nvSpPr>
        <p:spPr>
          <a:xfrm>
            <a:off x="8229600" y="4645152"/>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14</a:t>
            </a:r>
            <a:endParaRPr lang="en-US" sz="2000" dirty="0"/>
          </a:p>
        </p:txBody>
      </p:sp>
      <p:sp>
        <p:nvSpPr>
          <p:cNvPr id="47" name="Text 44"/>
          <p:cNvSpPr txBox="1"/>
          <p:nvPr/>
        </p:nvSpPr>
        <p:spPr>
          <a:xfrm>
            <a:off x="8851392" y="4645152"/>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Revenue lost by plan</a:t>
            </a:r>
            <a:endParaRPr lang="en-US" sz="1200" dirty="0"/>
          </a:p>
        </p:txBody>
      </p:sp>
      <p:sp>
        <p:nvSpPr>
          <p:cNvPr id="48" name="Shape 45"/>
          <p:cNvSpPr/>
          <p:nvPr/>
        </p:nvSpPr>
        <p:spPr>
          <a:xfrm>
            <a:off x="8046720" y="5431536"/>
            <a:ext cx="3611880" cy="676656"/>
          </a:xfrm>
          <a:prstGeom prst="roundRect">
            <a:avLst>
              <a:gd name="adj" fmla="val 10811"/>
            </a:avLst>
          </a:prstGeom>
          <a:solidFill>
            <a:srgbClr val="141414"/>
          </a:solidFill>
          <a:ln w="9525">
            <a:solidFill>
              <a:srgbClr val="2A2A2A"/>
            </a:solidFill>
            <a:prstDash val="solid"/>
          </a:ln>
        </p:spPr>
      </p:sp>
      <p:sp>
        <p:nvSpPr>
          <p:cNvPr id="49" name="Text 46"/>
          <p:cNvSpPr txBox="1"/>
          <p:nvPr/>
        </p:nvSpPr>
        <p:spPr>
          <a:xfrm>
            <a:off x="8229600" y="5431536"/>
            <a:ext cx="594360" cy="676656"/>
          </a:xfrm>
          <a:prstGeom prst="rect">
            <a:avLst/>
          </a:prstGeom>
          <a:noFill/>
          <a:ln/>
        </p:spPr>
        <p:txBody>
          <a:bodyPr wrap="square" lIns="0" tIns="0" rIns="0" bIns="0" rtlCol="0" anchor="ctr"/>
          <a:lstStyle/>
          <a:p>
            <a:pPr indent="0" marL="0">
              <a:buNone/>
            </a:pPr>
            <a:r>
              <a:rPr lang="en-US" sz="2000" b="1" dirty="0">
                <a:solidFill>
                  <a:srgbClr val="E50914"/>
                </a:solidFill>
                <a:latin typeface="Segoe UI" pitchFamily="34" charset="0"/>
                <a:ea typeface="Segoe UI" pitchFamily="34" charset="-122"/>
                <a:cs typeface="Segoe UI" pitchFamily="34" charset="-120"/>
              </a:rPr>
              <a:t>15</a:t>
            </a:r>
            <a:endParaRPr lang="en-US" sz="2000" dirty="0"/>
          </a:p>
        </p:txBody>
      </p:sp>
      <p:sp>
        <p:nvSpPr>
          <p:cNvPr id="50" name="Text 47"/>
          <p:cNvSpPr txBox="1"/>
          <p:nvPr/>
        </p:nvSpPr>
        <p:spPr>
          <a:xfrm>
            <a:off x="8851392" y="5431536"/>
            <a:ext cx="2697480" cy="676656"/>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Retention priority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01  ·  CUSTOMER PREFERENCES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What are the most and least popular plans, genres, gender and devices?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Preferences are evenly spread; the widest gap appears in favourite genre.</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07 / 27</a:t>
            </a:r>
            <a:endParaRPr lang="en-US" sz="900" dirty="0"/>
          </a:p>
        </p:txBody>
      </p:sp>
      <p:sp>
        <p:nvSpPr>
          <p:cNvPr id="10" name="Shape 7"/>
          <p:cNvSpPr/>
          <p:nvPr/>
        </p:nvSpPr>
        <p:spPr>
          <a:xfrm>
            <a:off x="548640" y="1920240"/>
            <a:ext cx="3246120" cy="1463040"/>
          </a:xfrm>
          <a:prstGeom prst="roundRect">
            <a:avLst>
              <a:gd name="adj" fmla="val 5000"/>
            </a:avLst>
          </a:prstGeom>
          <a:solidFill>
            <a:srgbClr val="151515"/>
          </a:solidFill>
          <a:ln w="9525">
            <a:solidFill>
              <a:srgbClr val="2A2A2A"/>
            </a:solidFill>
            <a:prstDash val="solid"/>
          </a:ln>
        </p:spPr>
      </p:sp>
      <p:pic>
        <p:nvPicPr>
          <p:cNvPr id="11" name="Image 1" descr="/tmp/claude-0/-home-claude/0afb8f05-6c65-583f-af33-ecd94b11a885/scratchpad/eda/assets/plan.png">    </p:cNvPr>
          <p:cNvPicPr>
            <a:picLocks noChangeAspect="1"/>
          </p:cNvPicPr>
          <p:nvPr/>
        </p:nvPicPr>
        <p:blipFill>
          <a:blip r:embed="rId3"/>
          <a:stretch>
            <a:fillRect/>
          </a:stretch>
        </p:blipFill>
        <p:spPr>
          <a:xfrm>
            <a:off x="749808" y="2103120"/>
            <a:ext cx="310896" cy="310896"/>
          </a:xfrm>
          <a:prstGeom prst="rect">
            <a:avLst/>
          </a:prstGeom>
        </p:spPr>
      </p:pic>
      <p:sp>
        <p:nvSpPr>
          <p:cNvPr id="12" name="Text 8"/>
          <p:cNvSpPr txBox="1"/>
          <p:nvPr/>
        </p:nvSpPr>
        <p:spPr>
          <a:xfrm>
            <a:off x="1152144" y="2103120"/>
            <a:ext cx="2468880" cy="310896"/>
          </a:xfrm>
          <a:prstGeom prst="rect">
            <a:avLst/>
          </a:prstGeom>
          <a:noFill/>
          <a:ln/>
        </p:spPr>
        <p:txBody>
          <a:bodyPr wrap="square" lIns="0" tIns="0" rIns="0" bIns="0" rtlCol="0" anchor="ctr"/>
          <a:lstStyle/>
          <a:p>
            <a:pPr indent="0" marL="0">
              <a:buNone/>
            </a:pPr>
            <a:r>
              <a:rPr lang="en-US" sz="1250" b="1" dirty="0">
                <a:solidFill>
                  <a:srgbClr val="F5F5F1"/>
                </a:solidFill>
                <a:latin typeface="Segoe UI" pitchFamily="34" charset="0"/>
                <a:ea typeface="Segoe UI" pitchFamily="34" charset="-122"/>
                <a:cs typeface="Segoe UI" pitchFamily="34" charset="-120"/>
              </a:rPr>
              <a:t>Subscription plan</a:t>
            </a:r>
            <a:endParaRPr lang="en-US" sz="1250" dirty="0"/>
          </a:p>
        </p:txBody>
      </p:sp>
      <p:sp>
        <p:nvSpPr>
          <p:cNvPr id="13" name="Text 9"/>
          <p:cNvSpPr txBox="1"/>
          <p:nvPr/>
        </p:nvSpPr>
        <p:spPr>
          <a:xfrm>
            <a:off x="749808" y="2542032"/>
            <a:ext cx="594360" cy="201168"/>
          </a:xfrm>
          <a:prstGeom prst="rect">
            <a:avLst/>
          </a:prstGeom>
          <a:noFill/>
          <a:ln/>
        </p:spPr>
        <p:txBody>
          <a:bodyPr wrap="square" lIns="0" tIns="0" rIns="0" bIns="0" rtlCol="0" anchor="ctr"/>
          <a:lstStyle/>
          <a:p>
            <a:pPr indent="0" marL="0">
              <a:buNone/>
            </a:pPr>
            <a:r>
              <a:rPr lang="en-US" sz="850" b="1" spc="100" kern="0" dirty="0">
                <a:solidFill>
                  <a:srgbClr val="FF4D57"/>
                </a:solidFill>
                <a:latin typeface="Segoe UI" pitchFamily="34" charset="0"/>
                <a:ea typeface="Segoe UI" pitchFamily="34" charset="-122"/>
                <a:cs typeface="Segoe UI" pitchFamily="34" charset="-120"/>
              </a:rPr>
              <a:t>MOST</a:t>
            </a:r>
            <a:endParaRPr lang="en-US" sz="850" dirty="0"/>
          </a:p>
        </p:txBody>
      </p:sp>
      <p:sp>
        <p:nvSpPr>
          <p:cNvPr id="14" name="Text 10"/>
          <p:cNvSpPr txBox="1"/>
          <p:nvPr/>
        </p:nvSpPr>
        <p:spPr>
          <a:xfrm>
            <a:off x="1325880" y="2514600"/>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Premium</a:t>
            </a:r>
            <a:endParaRPr lang="en-US" sz="1200" dirty="0"/>
          </a:p>
        </p:txBody>
      </p:sp>
      <p:sp>
        <p:nvSpPr>
          <p:cNvPr id="15" name="Text 11"/>
          <p:cNvSpPr txBox="1"/>
          <p:nvPr/>
        </p:nvSpPr>
        <p:spPr>
          <a:xfrm>
            <a:off x="2880360" y="2514600"/>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1,697</a:t>
            </a:r>
            <a:endParaRPr lang="en-US" sz="1200" dirty="0"/>
          </a:p>
        </p:txBody>
      </p:sp>
      <p:sp>
        <p:nvSpPr>
          <p:cNvPr id="16" name="Text 12"/>
          <p:cNvSpPr txBox="1"/>
          <p:nvPr/>
        </p:nvSpPr>
        <p:spPr>
          <a:xfrm>
            <a:off x="749808" y="2944368"/>
            <a:ext cx="594360" cy="201168"/>
          </a:xfrm>
          <a:prstGeom prst="rect">
            <a:avLst/>
          </a:prstGeom>
          <a:noFill/>
          <a:ln/>
        </p:spPr>
        <p:txBody>
          <a:bodyPr wrap="square" lIns="0" tIns="0" rIns="0" bIns="0" rtlCol="0" anchor="ctr"/>
          <a:lstStyle/>
          <a:p>
            <a:pPr indent="0" marL="0">
              <a:buNone/>
            </a:pPr>
            <a:r>
              <a:rPr lang="en-US" sz="850" b="1" spc="100" kern="0" dirty="0">
                <a:solidFill>
                  <a:srgbClr val="A6A6A6"/>
                </a:solidFill>
                <a:latin typeface="Segoe UI" pitchFamily="34" charset="0"/>
                <a:ea typeface="Segoe UI" pitchFamily="34" charset="-122"/>
                <a:cs typeface="Segoe UI" pitchFamily="34" charset="-120"/>
              </a:rPr>
              <a:t>LEAST</a:t>
            </a:r>
            <a:endParaRPr lang="en-US" sz="850" dirty="0"/>
          </a:p>
        </p:txBody>
      </p:sp>
      <p:sp>
        <p:nvSpPr>
          <p:cNvPr id="17" name="Text 13"/>
          <p:cNvSpPr txBox="1"/>
          <p:nvPr/>
        </p:nvSpPr>
        <p:spPr>
          <a:xfrm>
            <a:off x="1325880" y="2916936"/>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Standard</a:t>
            </a:r>
            <a:endParaRPr lang="en-US" sz="1200" dirty="0"/>
          </a:p>
        </p:txBody>
      </p:sp>
      <p:sp>
        <p:nvSpPr>
          <p:cNvPr id="18" name="Text 14"/>
          <p:cNvSpPr txBox="1"/>
          <p:nvPr/>
        </p:nvSpPr>
        <p:spPr>
          <a:xfrm>
            <a:off x="2880360" y="2916936"/>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1,643</a:t>
            </a:r>
            <a:endParaRPr lang="en-US" sz="1200" dirty="0"/>
          </a:p>
        </p:txBody>
      </p:sp>
      <p:sp>
        <p:nvSpPr>
          <p:cNvPr id="19" name="Shape 15"/>
          <p:cNvSpPr/>
          <p:nvPr/>
        </p:nvSpPr>
        <p:spPr>
          <a:xfrm>
            <a:off x="3913632" y="1920240"/>
            <a:ext cx="3246120" cy="1463040"/>
          </a:xfrm>
          <a:prstGeom prst="roundRect">
            <a:avLst>
              <a:gd name="adj" fmla="val 5000"/>
            </a:avLst>
          </a:prstGeom>
          <a:solidFill>
            <a:srgbClr val="151515"/>
          </a:solidFill>
          <a:ln w="9525">
            <a:solidFill>
              <a:srgbClr val="2A2A2A"/>
            </a:solidFill>
            <a:prstDash val="solid"/>
          </a:ln>
        </p:spPr>
      </p:sp>
      <p:pic>
        <p:nvPicPr>
          <p:cNvPr id="20" name="Image 2" descr="/tmp/claude-0/-home-claude/0afb8f05-6c65-583f-af33-ecd94b11a885/scratchpad/eda/assets/genre.png">    </p:cNvPr>
          <p:cNvPicPr>
            <a:picLocks noChangeAspect="1"/>
          </p:cNvPicPr>
          <p:nvPr/>
        </p:nvPicPr>
        <p:blipFill>
          <a:blip r:embed="rId4"/>
          <a:stretch>
            <a:fillRect/>
          </a:stretch>
        </p:blipFill>
        <p:spPr>
          <a:xfrm>
            <a:off x="4114800" y="2103120"/>
            <a:ext cx="310896" cy="310896"/>
          </a:xfrm>
          <a:prstGeom prst="rect">
            <a:avLst/>
          </a:prstGeom>
        </p:spPr>
      </p:pic>
      <p:sp>
        <p:nvSpPr>
          <p:cNvPr id="21" name="Text 16"/>
          <p:cNvSpPr txBox="1"/>
          <p:nvPr/>
        </p:nvSpPr>
        <p:spPr>
          <a:xfrm>
            <a:off x="4517136" y="2103120"/>
            <a:ext cx="2468880" cy="310896"/>
          </a:xfrm>
          <a:prstGeom prst="rect">
            <a:avLst/>
          </a:prstGeom>
          <a:noFill/>
          <a:ln/>
        </p:spPr>
        <p:txBody>
          <a:bodyPr wrap="square" lIns="0" tIns="0" rIns="0" bIns="0" rtlCol="0" anchor="ctr"/>
          <a:lstStyle/>
          <a:p>
            <a:pPr indent="0" marL="0">
              <a:buNone/>
            </a:pPr>
            <a:r>
              <a:rPr lang="en-US" sz="1250" b="1" dirty="0">
                <a:solidFill>
                  <a:srgbClr val="F5F5F1"/>
                </a:solidFill>
                <a:latin typeface="Segoe UI" pitchFamily="34" charset="0"/>
                <a:ea typeface="Segoe UI" pitchFamily="34" charset="-122"/>
                <a:cs typeface="Segoe UI" pitchFamily="34" charset="-120"/>
              </a:rPr>
              <a:t>Favourite genre</a:t>
            </a:r>
            <a:endParaRPr lang="en-US" sz="1250" dirty="0"/>
          </a:p>
        </p:txBody>
      </p:sp>
      <p:sp>
        <p:nvSpPr>
          <p:cNvPr id="22" name="Text 17"/>
          <p:cNvSpPr txBox="1"/>
          <p:nvPr/>
        </p:nvSpPr>
        <p:spPr>
          <a:xfrm>
            <a:off x="4114800" y="2542032"/>
            <a:ext cx="594360" cy="201168"/>
          </a:xfrm>
          <a:prstGeom prst="rect">
            <a:avLst/>
          </a:prstGeom>
          <a:noFill/>
          <a:ln/>
        </p:spPr>
        <p:txBody>
          <a:bodyPr wrap="square" lIns="0" tIns="0" rIns="0" bIns="0" rtlCol="0" anchor="ctr"/>
          <a:lstStyle/>
          <a:p>
            <a:pPr indent="0" marL="0">
              <a:buNone/>
            </a:pPr>
            <a:r>
              <a:rPr lang="en-US" sz="850" b="1" spc="100" kern="0" dirty="0">
                <a:solidFill>
                  <a:srgbClr val="FF4D57"/>
                </a:solidFill>
                <a:latin typeface="Segoe UI" pitchFamily="34" charset="0"/>
                <a:ea typeface="Segoe UI" pitchFamily="34" charset="-122"/>
                <a:cs typeface="Segoe UI" pitchFamily="34" charset="-120"/>
              </a:rPr>
              <a:t>MOST</a:t>
            </a:r>
            <a:endParaRPr lang="en-US" sz="850" dirty="0"/>
          </a:p>
        </p:txBody>
      </p:sp>
      <p:sp>
        <p:nvSpPr>
          <p:cNvPr id="23" name="Text 18"/>
          <p:cNvSpPr txBox="1"/>
          <p:nvPr/>
        </p:nvSpPr>
        <p:spPr>
          <a:xfrm>
            <a:off x="4690872" y="2514600"/>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Drama</a:t>
            </a:r>
            <a:endParaRPr lang="en-US" sz="1200" dirty="0"/>
          </a:p>
        </p:txBody>
      </p:sp>
      <p:sp>
        <p:nvSpPr>
          <p:cNvPr id="24" name="Text 19"/>
          <p:cNvSpPr txBox="1"/>
          <p:nvPr/>
        </p:nvSpPr>
        <p:spPr>
          <a:xfrm>
            <a:off x="6245352" y="2514600"/>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905</a:t>
            </a:r>
            <a:endParaRPr lang="en-US" sz="1200" dirty="0"/>
          </a:p>
        </p:txBody>
      </p:sp>
      <p:sp>
        <p:nvSpPr>
          <p:cNvPr id="25" name="Text 20"/>
          <p:cNvSpPr txBox="1"/>
          <p:nvPr/>
        </p:nvSpPr>
        <p:spPr>
          <a:xfrm>
            <a:off x="4114800" y="2944368"/>
            <a:ext cx="594360" cy="201168"/>
          </a:xfrm>
          <a:prstGeom prst="rect">
            <a:avLst/>
          </a:prstGeom>
          <a:noFill/>
          <a:ln/>
        </p:spPr>
        <p:txBody>
          <a:bodyPr wrap="square" lIns="0" tIns="0" rIns="0" bIns="0" rtlCol="0" anchor="ctr"/>
          <a:lstStyle/>
          <a:p>
            <a:pPr indent="0" marL="0">
              <a:buNone/>
            </a:pPr>
            <a:r>
              <a:rPr lang="en-US" sz="850" b="1" spc="100" kern="0" dirty="0">
                <a:solidFill>
                  <a:srgbClr val="A6A6A6"/>
                </a:solidFill>
                <a:latin typeface="Segoe UI" pitchFamily="34" charset="0"/>
                <a:ea typeface="Segoe UI" pitchFamily="34" charset="-122"/>
                <a:cs typeface="Segoe UI" pitchFamily="34" charset="-120"/>
              </a:rPr>
              <a:t>LEAST</a:t>
            </a:r>
            <a:endParaRPr lang="en-US" sz="850" dirty="0"/>
          </a:p>
        </p:txBody>
      </p:sp>
      <p:sp>
        <p:nvSpPr>
          <p:cNvPr id="26" name="Text 21"/>
          <p:cNvSpPr txBox="1"/>
          <p:nvPr/>
        </p:nvSpPr>
        <p:spPr>
          <a:xfrm>
            <a:off x="4690872" y="2916936"/>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Comedy</a:t>
            </a:r>
            <a:endParaRPr lang="en-US" sz="1200" dirty="0"/>
          </a:p>
        </p:txBody>
      </p:sp>
      <p:sp>
        <p:nvSpPr>
          <p:cNvPr id="27" name="Text 22"/>
          <p:cNvSpPr txBox="1"/>
          <p:nvPr/>
        </p:nvSpPr>
        <p:spPr>
          <a:xfrm>
            <a:off x="6245352" y="2916936"/>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656</a:t>
            </a:r>
            <a:endParaRPr lang="en-US" sz="1200" dirty="0"/>
          </a:p>
        </p:txBody>
      </p:sp>
      <p:sp>
        <p:nvSpPr>
          <p:cNvPr id="28" name="Shape 23"/>
          <p:cNvSpPr/>
          <p:nvPr/>
        </p:nvSpPr>
        <p:spPr>
          <a:xfrm>
            <a:off x="548640" y="3493008"/>
            <a:ext cx="3246120" cy="1463040"/>
          </a:xfrm>
          <a:prstGeom prst="roundRect">
            <a:avLst>
              <a:gd name="adj" fmla="val 5000"/>
            </a:avLst>
          </a:prstGeom>
          <a:solidFill>
            <a:srgbClr val="151515"/>
          </a:solidFill>
          <a:ln w="9525">
            <a:solidFill>
              <a:srgbClr val="2A2A2A"/>
            </a:solidFill>
            <a:prstDash val="solid"/>
          </a:ln>
        </p:spPr>
      </p:sp>
      <p:pic>
        <p:nvPicPr>
          <p:cNvPr id="29" name="Image 3" descr="/tmp/claude-0/-home-claude/0afb8f05-6c65-583f-af33-ecd94b11a885/scratchpad/eda/assets/device.png">    </p:cNvPr>
          <p:cNvPicPr>
            <a:picLocks noChangeAspect="1"/>
          </p:cNvPicPr>
          <p:nvPr/>
        </p:nvPicPr>
        <p:blipFill>
          <a:blip r:embed="rId5"/>
          <a:stretch>
            <a:fillRect/>
          </a:stretch>
        </p:blipFill>
        <p:spPr>
          <a:xfrm>
            <a:off x="749808" y="3675888"/>
            <a:ext cx="310896" cy="310896"/>
          </a:xfrm>
          <a:prstGeom prst="rect">
            <a:avLst/>
          </a:prstGeom>
        </p:spPr>
      </p:pic>
      <p:sp>
        <p:nvSpPr>
          <p:cNvPr id="30" name="Text 24"/>
          <p:cNvSpPr txBox="1"/>
          <p:nvPr/>
        </p:nvSpPr>
        <p:spPr>
          <a:xfrm>
            <a:off x="1152144" y="3675888"/>
            <a:ext cx="2468880" cy="310896"/>
          </a:xfrm>
          <a:prstGeom prst="rect">
            <a:avLst/>
          </a:prstGeom>
          <a:noFill/>
          <a:ln/>
        </p:spPr>
        <p:txBody>
          <a:bodyPr wrap="square" lIns="0" tIns="0" rIns="0" bIns="0" rtlCol="0" anchor="ctr"/>
          <a:lstStyle/>
          <a:p>
            <a:pPr indent="0" marL="0">
              <a:buNone/>
            </a:pPr>
            <a:r>
              <a:rPr lang="en-US" sz="1250" b="1" dirty="0">
                <a:solidFill>
                  <a:srgbClr val="F5F5F1"/>
                </a:solidFill>
                <a:latin typeface="Segoe UI" pitchFamily="34" charset="0"/>
                <a:ea typeface="Segoe UI" pitchFamily="34" charset="-122"/>
                <a:cs typeface="Segoe UI" pitchFamily="34" charset="-120"/>
              </a:rPr>
              <a:t>Device</a:t>
            </a:r>
            <a:endParaRPr lang="en-US" sz="1250" dirty="0"/>
          </a:p>
        </p:txBody>
      </p:sp>
      <p:sp>
        <p:nvSpPr>
          <p:cNvPr id="31" name="Text 25"/>
          <p:cNvSpPr txBox="1"/>
          <p:nvPr/>
        </p:nvSpPr>
        <p:spPr>
          <a:xfrm>
            <a:off x="749808" y="4114800"/>
            <a:ext cx="594360" cy="201168"/>
          </a:xfrm>
          <a:prstGeom prst="rect">
            <a:avLst/>
          </a:prstGeom>
          <a:noFill/>
          <a:ln/>
        </p:spPr>
        <p:txBody>
          <a:bodyPr wrap="square" lIns="0" tIns="0" rIns="0" bIns="0" rtlCol="0" anchor="ctr"/>
          <a:lstStyle/>
          <a:p>
            <a:pPr indent="0" marL="0">
              <a:buNone/>
            </a:pPr>
            <a:r>
              <a:rPr lang="en-US" sz="850" b="1" spc="100" kern="0" dirty="0">
                <a:solidFill>
                  <a:srgbClr val="FF4D57"/>
                </a:solidFill>
                <a:latin typeface="Segoe UI" pitchFamily="34" charset="0"/>
                <a:ea typeface="Segoe UI" pitchFamily="34" charset="-122"/>
                <a:cs typeface="Segoe UI" pitchFamily="34" charset="-120"/>
              </a:rPr>
              <a:t>MOST</a:t>
            </a:r>
            <a:endParaRPr lang="en-US" sz="850" dirty="0"/>
          </a:p>
        </p:txBody>
      </p:sp>
      <p:sp>
        <p:nvSpPr>
          <p:cNvPr id="32" name="Text 26"/>
          <p:cNvSpPr txBox="1"/>
          <p:nvPr/>
        </p:nvSpPr>
        <p:spPr>
          <a:xfrm>
            <a:off x="1325880" y="4087368"/>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Tablet</a:t>
            </a:r>
            <a:endParaRPr lang="en-US" sz="1200" dirty="0"/>
          </a:p>
        </p:txBody>
      </p:sp>
      <p:sp>
        <p:nvSpPr>
          <p:cNvPr id="33" name="Text 27"/>
          <p:cNvSpPr txBox="1"/>
          <p:nvPr/>
        </p:nvSpPr>
        <p:spPr>
          <a:xfrm>
            <a:off x="2880360" y="4087368"/>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1,208</a:t>
            </a:r>
            <a:endParaRPr lang="en-US" sz="1200" dirty="0"/>
          </a:p>
        </p:txBody>
      </p:sp>
      <p:sp>
        <p:nvSpPr>
          <p:cNvPr id="34" name="Text 28"/>
          <p:cNvSpPr txBox="1"/>
          <p:nvPr/>
        </p:nvSpPr>
        <p:spPr>
          <a:xfrm>
            <a:off x="749808" y="4517136"/>
            <a:ext cx="594360" cy="201168"/>
          </a:xfrm>
          <a:prstGeom prst="rect">
            <a:avLst/>
          </a:prstGeom>
          <a:noFill/>
          <a:ln/>
        </p:spPr>
        <p:txBody>
          <a:bodyPr wrap="square" lIns="0" tIns="0" rIns="0" bIns="0" rtlCol="0" anchor="ctr"/>
          <a:lstStyle/>
          <a:p>
            <a:pPr indent="0" marL="0">
              <a:buNone/>
            </a:pPr>
            <a:r>
              <a:rPr lang="en-US" sz="850" b="1" spc="100" kern="0" dirty="0">
                <a:solidFill>
                  <a:srgbClr val="A6A6A6"/>
                </a:solidFill>
                <a:latin typeface="Segoe UI" pitchFamily="34" charset="0"/>
                <a:ea typeface="Segoe UI" pitchFamily="34" charset="-122"/>
                <a:cs typeface="Segoe UI" pitchFamily="34" charset="-120"/>
              </a:rPr>
              <a:t>LEAST</a:t>
            </a:r>
            <a:endParaRPr lang="en-US" sz="850" dirty="0"/>
          </a:p>
        </p:txBody>
      </p:sp>
      <p:sp>
        <p:nvSpPr>
          <p:cNvPr id="35" name="Text 29"/>
          <p:cNvSpPr txBox="1"/>
          <p:nvPr/>
        </p:nvSpPr>
        <p:spPr>
          <a:xfrm>
            <a:off x="1325880" y="4489704"/>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Desktop</a:t>
            </a:r>
            <a:endParaRPr lang="en-US" sz="1200" dirty="0"/>
          </a:p>
        </p:txBody>
      </p:sp>
      <p:sp>
        <p:nvSpPr>
          <p:cNvPr id="36" name="Text 30"/>
          <p:cNvSpPr txBox="1"/>
          <p:nvPr/>
        </p:nvSpPr>
        <p:spPr>
          <a:xfrm>
            <a:off x="2880360" y="4489704"/>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909</a:t>
            </a:r>
            <a:endParaRPr lang="en-US" sz="1200" dirty="0"/>
          </a:p>
        </p:txBody>
      </p:sp>
      <p:sp>
        <p:nvSpPr>
          <p:cNvPr id="37" name="Shape 31"/>
          <p:cNvSpPr/>
          <p:nvPr/>
        </p:nvSpPr>
        <p:spPr>
          <a:xfrm>
            <a:off x="3913632" y="3493008"/>
            <a:ext cx="3246120" cy="1463040"/>
          </a:xfrm>
          <a:prstGeom prst="roundRect">
            <a:avLst>
              <a:gd name="adj" fmla="val 5000"/>
            </a:avLst>
          </a:prstGeom>
          <a:solidFill>
            <a:srgbClr val="151515"/>
          </a:solidFill>
          <a:ln w="9525">
            <a:solidFill>
              <a:srgbClr val="2A2A2A"/>
            </a:solidFill>
            <a:prstDash val="solid"/>
          </a:ln>
        </p:spPr>
      </p:sp>
      <p:pic>
        <p:nvPicPr>
          <p:cNvPr id="38" name="Image 4" descr="/tmp/claude-0/-home-claude/0afb8f05-6c65-583f-af33-ecd94b11a885/scratchpad/eda/assets/gender.png">    </p:cNvPr>
          <p:cNvPicPr>
            <a:picLocks noChangeAspect="1"/>
          </p:cNvPicPr>
          <p:nvPr/>
        </p:nvPicPr>
        <p:blipFill>
          <a:blip r:embed="rId6"/>
          <a:stretch>
            <a:fillRect/>
          </a:stretch>
        </p:blipFill>
        <p:spPr>
          <a:xfrm>
            <a:off x="4114800" y="3675888"/>
            <a:ext cx="310896" cy="310896"/>
          </a:xfrm>
          <a:prstGeom prst="rect">
            <a:avLst/>
          </a:prstGeom>
        </p:spPr>
      </p:pic>
      <p:sp>
        <p:nvSpPr>
          <p:cNvPr id="39" name="Text 32"/>
          <p:cNvSpPr txBox="1"/>
          <p:nvPr/>
        </p:nvSpPr>
        <p:spPr>
          <a:xfrm>
            <a:off x="4517136" y="3675888"/>
            <a:ext cx="2468880" cy="310896"/>
          </a:xfrm>
          <a:prstGeom prst="rect">
            <a:avLst/>
          </a:prstGeom>
          <a:noFill/>
          <a:ln/>
        </p:spPr>
        <p:txBody>
          <a:bodyPr wrap="square" lIns="0" tIns="0" rIns="0" bIns="0" rtlCol="0" anchor="ctr"/>
          <a:lstStyle/>
          <a:p>
            <a:pPr indent="0" marL="0">
              <a:buNone/>
            </a:pPr>
            <a:r>
              <a:rPr lang="en-US" sz="1250" b="1" dirty="0">
                <a:solidFill>
                  <a:srgbClr val="F5F5F1"/>
                </a:solidFill>
                <a:latin typeface="Segoe UI" pitchFamily="34" charset="0"/>
                <a:ea typeface="Segoe UI" pitchFamily="34" charset="-122"/>
                <a:cs typeface="Segoe UI" pitchFamily="34" charset="-120"/>
              </a:rPr>
              <a:t>Gender</a:t>
            </a:r>
            <a:endParaRPr lang="en-US" sz="1250" dirty="0"/>
          </a:p>
        </p:txBody>
      </p:sp>
      <p:sp>
        <p:nvSpPr>
          <p:cNvPr id="40" name="Text 33"/>
          <p:cNvSpPr txBox="1"/>
          <p:nvPr/>
        </p:nvSpPr>
        <p:spPr>
          <a:xfrm>
            <a:off x="4114800" y="4114800"/>
            <a:ext cx="594360" cy="201168"/>
          </a:xfrm>
          <a:prstGeom prst="rect">
            <a:avLst/>
          </a:prstGeom>
          <a:noFill/>
          <a:ln/>
        </p:spPr>
        <p:txBody>
          <a:bodyPr wrap="square" lIns="0" tIns="0" rIns="0" bIns="0" rtlCol="0" anchor="ctr"/>
          <a:lstStyle/>
          <a:p>
            <a:pPr indent="0" marL="0">
              <a:buNone/>
            </a:pPr>
            <a:r>
              <a:rPr lang="en-US" sz="850" b="1" spc="100" kern="0" dirty="0">
                <a:solidFill>
                  <a:srgbClr val="FF4D57"/>
                </a:solidFill>
                <a:latin typeface="Segoe UI" pitchFamily="34" charset="0"/>
                <a:ea typeface="Segoe UI" pitchFamily="34" charset="-122"/>
                <a:cs typeface="Segoe UI" pitchFamily="34" charset="-120"/>
              </a:rPr>
              <a:t>MOST</a:t>
            </a:r>
            <a:endParaRPr lang="en-US" sz="850" dirty="0"/>
          </a:p>
        </p:txBody>
      </p:sp>
      <p:sp>
        <p:nvSpPr>
          <p:cNvPr id="41" name="Text 34"/>
          <p:cNvSpPr txBox="1"/>
          <p:nvPr/>
        </p:nvSpPr>
        <p:spPr>
          <a:xfrm>
            <a:off x="4690872" y="4087368"/>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Female</a:t>
            </a:r>
            <a:endParaRPr lang="en-US" sz="1200" dirty="0"/>
          </a:p>
        </p:txBody>
      </p:sp>
      <p:sp>
        <p:nvSpPr>
          <p:cNvPr id="42" name="Text 35"/>
          <p:cNvSpPr txBox="1"/>
          <p:nvPr/>
        </p:nvSpPr>
        <p:spPr>
          <a:xfrm>
            <a:off x="6245352" y="4087368"/>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1,711</a:t>
            </a:r>
            <a:endParaRPr lang="en-US" sz="1200" dirty="0"/>
          </a:p>
        </p:txBody>
      </p:sp>
      <p:sp>
        <p:nvSpPr>
          <p:cNvPr id="43" name="Text 36"/>
          <p:cNvSpPr txBox="1"/>
          <p:nvPr/>
        </p:nvSpPr>
        <p:spPr>
          <a:xfrm>
            <a:off x="4114800" y="4517136"/>
            <a:ext cx="594360" cy="201168"/>
          </a:xfrm>
          <a:prstGeom prst="rect">
            <a:avLst/>
          </a:prstGeom>
          <a:noFill/>
          <a:ln/>
        </p:spPr>
        <p:txBody>
          <a:bodyPr wrap="square" lIns="0" tIns="0" rIns="0" bIns="0" rtlCol="0" anchor="ctr"/>
          <a:lstStyle/>
          <a:p>
            <a:pPr indent="0" marL="0">
              <a:buNone/>
            </a:pPr>
            <a:r>
              <a:rPr lang="en-US" sz="850" b="1" spc="100" kern="0" dirty="0">
                <a:solidFill>
                  <a:srgbClr val="A6A6A6"/>
                </a:solidFill>
                <a:latin typeface="Segoe UI" pitchFamily="34" charset="0"/>
                <a:ea typeface="Segoe UI" pitchFamily="34" charset="-122"/>
                <a:cs typeface="Segoe UI" pitchFamily="34" charset="-120"/>
              </a:rPr>
              <a:t>LEAST</a:t>
            </a:r>
            <a:endParaRPr lang="en-US" sz="850" dirty="0"/>
          </a:p>
        </p:txBody>
      </p:sp>
      <p:sp>
        <p:nvSpPr>
          <p:cNvPr id="44" name="Text 37"/>
          <p:cNvSpPr txBox="1"/>
          <p:nvPr/>
        </p:nvSpPr>
        <p:spPr>
          <a:xfrm>
            <a:off x="4690872" y="4489704"/>
            <a:ext cx="1371600" cy="237744"/>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Other</a:t>
            </a:r>
            <a:endParaRPr lang="en-US" sz="1200" dirty="0"/>
          </a:p>
        </p:txBody>
      </p:sp>
      <p:sp>
        <p:nvSpPr>
          <p:cNvPr id="45" name="Text 38"/>
          <p:cNvSpPr txBox="1"/>
          <p:nvPr/>
        </p:nvSpPr>
        <p:spPr>
          <a:xfrm>
            <a:off x="6245352" y="4489704"/>
            <a:ext cx="731520" cy="237744"/>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1,635</a:t>
            </a:r>
            <a:endParaRPr lang="en-US" sz="1200" dirty="0"/>
          </a:p>
        </p:txBody>
      </p:sp>
      <p:sp>
        <p:nvSpPr>
          <p:cNvPr id="46" name="Shape 39"/>
          <p:cNvSpPr/>
          <p:nvPr/>
        </p:nvSpPr>
        <p:spPr>
          <a:xfrm>
            <a:off x="7406640" y="1920240"/>
            <a:ext cx="4233672" cy="3035808"/>
          </a:xfrm>
          <a:prstGeom prst="roundRect">
            <a:avLst>
              <a:gd name="adj" fmla="val 1807"/>
            </a:avLst>
          </a:prstGeom>
          <a:solidFill>
            <a:srgbClr val="0E0E0E"/>
          </a:solidFill>
          <a:ln w="9525">
            <a:solidFill>
              <a:srgbClr val="2A2A2A"/>
            </a:solidFill>
            <a:prstDash val="solid"/>
          </a:ln>
        </p:spPr>
      </p:sp>
      <p:sp>
        <p:nvSpPr>
          <p:cNvPr id="47" name="Shape 40"/>
          <p:cNvSpPr/>
          <p:nvPr/>
        </p:nvSpPr>
        <p:spPr>
          <a:xfrm>
            <a:off x="7589520" y="2075688"/>
            <a:ext cx="91440" cy="91440"/>
          </a:xfrm>
          <a:prstGeom prst="ellipse">
            <a:avLst/>
          </a:prstGeom>
          <a:solidFill>
            <a:srgbClr val="FF5F57"/>
          </a:solidFill>
          <a:ln w="12700">
            <a:solidFill>
              <a:srgbClr val="FF5F57"/>
            </a:solidFill>
            <a:prstDash val="solid"/>
          </a:ln>
        </p:spPr>
      </p:sp>
      <p:sp>
        <p:nvSpPr>
          <p:cNvPr id="48" name="Shape 41"/>
          <p:cNvSpPr/>
          <p:nvPr/>
        </p:nvSpPr>
        <p:spPr>
          <a:xfrm>
            <a:off x="7754112" y="2075688"/>
            <a:ext cx="91440" cy="91440"/>
          </a:xfrm>
          <a:prstGeom prst="ellipse">
            <a:avLst/>
          </a:prstGeom>
          <a:solidFill>
            <a:srgbClr val="FEBC2E"/>
          </a:solidFill>
          <a:ln w="12700">
            <a:solidFill>
              <a:srgbClr val="FEBC2E"/>
            </a:solidFill>
            <a:prstDash val="solid"/>
          </a:ln>
        </p:spPr>
      </p:sp>
      <p:sp>
        <p:nvSpPr>
          <p:cNvPr id="49" name="Shape 42"/>
          <p:cNvSpPr/>
          <p:nvPr/>
        </p:nvSpPr>
        <p:spPr>
          <a:xfrm>
            <a:off x="7918704" y="2075688"/>
            <a:ext cx="91440" cy="91440"/>
          </a:xfrm>
          <a:prstGeom prst="ellipse">
            <a:avLst/>
          </a:prstGeom>
          <a:solidFill>
            <a:srgbClr val="28C840"/>
          </a:solidFill>
          <a:ln w="12700">
            <a:solidFill>
              <a:srgbClr val="28C840"/>
            </a:solidFill>
            <a:prstDash val="solid"/>
          </a:ln>
        </p:spPr>
      </p:sp>
      <p:sp>
        <p:nvSpPr>
          <p:cNvPr id="50" name="Text 43"/>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51" name="Text 44"/>
          <p:cNvSpPr txBox="1"/>
          <p:nvPr/>
        </p:nvSpPr>
        <p:spPr>
          <a:xfrm>
            <a:off x="7589520" y="2331720"/>
            <a:ext cx="3959352" cy="2532888"/>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popularity_summary = pd.DataFrame(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index=["subscription_type", "favorite_genre",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"device", "gender"],</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columns=["Most_popular", "Most_count",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"Least_popular", "Least_count"])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plan = dataset["subscription_type"].value_counts()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popularity_summary.loc["subscription_type"]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plan.index[0], plan.values[0],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plan.index[-1], plan.values[-1]]</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repeated for favorite_genre, device, gender</a:t>
            </a:r>
            <a:endParaRPr lang="en-US" sz="950" dirty="0"/>
          </a:p>
        </p:txBody>
      </p:sp>
      <p:sp>
        <p:nvSpPr>
          <p:cNvPr id="52" name="Shape 45"/>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53" name="Shape 46"/>
          <p:cNvSpPr/>
          <p:nvPr/>
        </p:nvSpPr>
        <p:spPr>
          <a:xfrm>
            <a:off x="548640" y="5358384"/>
            <a:ext cx="54864" cy="704088"/>
          </a:xfrm>
          <a:prstGeom prst="rect">
            <a:avLst/>
          </a:prstGeom>
          <a:solidFill>
            <a:srgbClr val="E50914"/>
          </a:solidFill>
          <a:ln w="12700">
            <a:solidFill>
              <a:srgbClr val="E50914"/>
            </a:solidFill>
            <a:prstDash val="solid"/>
          </a:ln>
        </p:spPr>
      </p:sp>
      <p:pic>
        <p:nvPicPr>
          <p:cNvPr id="54" name="Image 5" descr="/tmp/claude-0/-home-claude/0afb8f05-6c65-583f-af33-ecd94b11a885/scratchpad/eda/assets/bulb.png">    </p:cNvPr>
          <p:cNvPicPr>
            <a:picLocks noChangeAspect="1"/>
          </p:cNvPicPr>
          <p:nvPr/>
        </p:nvPicPr>
        <p:blipFill>
          <a:blip r:embed="rId7"/>
          <a:stretch>
            <a:fillRect/>
          </a:stretch>
        </p:blipFill>
        <p:spPr>
          <a:xfrm>
            <a:off x="804672" y="5513832"/>
            <a:ext cx="384048" cy="384048"/>
          </a:xfrm>
          <a:prstGeom prst="rect">
            <a:avLst/>
          </a:prstGeom>
        </p:spPr>
      </p:pic>
      <p:sp>
        <p:nvSpPr>
          <p:cNvPr id="55" name="Text 47"/>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56" name="Text 48"/>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Customer preferences are closely balanced. </a:t>
            </a:r>
            <a:pPr indent="0" marL="0">
              <a:buNone/>
            </a:pPr>
            <a:r>
              <a:rPr lang="en-US" sz="1200" b="1" dirty="0">
                <a:solidFill>
                  <a:srgbClr val="F5F5F1"/>
                </a:solidFill>
                <a:latin typeface="Segoe UI" pitchFamily="34" charset="0"/>
                <a:ea typeface="Segoe UI" pitchFamily="34" charset="-122"/>
                <a:cs typeface="Segoe UI" pitchFamily="34" charset="-120"/>
              </a:rPr>
              <a:t>Premium</a:t>
            </a:r>
            <a:pPr indent="0" marL="0">
              <a:buNone/>
            </a:pPr>
            <a:r>
              <a:rPr lang="en-US" sz="1200" dirty="0">
                <a:solidFill>
                  <a:srgbClr val="F5F5F1"/>
                </a:solidFill>
                <a:latin typeface="Segoe UI" pitchFamily="34" charset="0"/>
                <a:ea typeface="Segoe UI" pitchFamily="34" charset="-122"/>
                <a:cs typeface="Segoe UI" pitchFamily="34" charset="-120"/>
              </a:rPr>
              <a:t> (1,697) narrowly leads Standard (1,643), and the gender split is similarly close. The widest gap is in genre, where </a:t>
            </a:r>
            <a:pPr indent="0" marL="0">
              <a:buNone/>
            </a:pPr>
            <a:r>
              <a:rPr lang="en-US" sz="1200" b="1" dirty="0">
                <a:solidFill>
                  <a:srgbClr val="F5F5F1"/>
                </a:solidFill>
                <a:latin typeface="Segoe UI" pitchFamily="34" charset="0"/>
                <a:ea typeface="Segoe UI" pitchFamily="34" charset="-122"/>
                <a:cs typeface="Segoe UI" pitchFamily="34" charset="-120"/>
              </a:rPr>
              <a:t>Drama (905) leads Comedy (656)</a:t>
            </a:r>
            <a:pPr indent="0" marL="0">
              <a:buNone/>
            </a:pPr>
            <a:r>
              <a:rPr lang="en-US" sz="1200" dirty="0">
                <a:solidFill>
                  <a:srgbClr val="F5F5F1"/>
                </a:solidFill>
                <a:latin typeface="Segoe UI" pitchFamily="34" charset="0"/>
                <a:ea typeface="Segoe UI" pitchFamily="34" charset="-122"/>
                <a:cs typeface="Segoe UI" pitchFamily="34" charset="-120"/>
              </a:rPr>
              <a:t>, while Tablet is the most used device and Desktop the least.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02  ·  CHURN OVERVIEW</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What proportion of customers stayed or left?</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Half of the customer base has churned.</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08 / 27</a:t>
            </a:r>
            <a:endParaRPr lang="en-US" sz="900" dirty="0"/>
          </a:p>
        </p:txBody>
      </p:sp>
      <p:sp>
        <p:nvSpPr>
          <p:cNvPr id="10" name="Shape 7"/>
          <p:cNvSpPr/>
          <p:nvPr/>
        </p:nvSpPr>
        <p:spPr>
          <a:xfrm>
            <a:off x="548640" y="1920240"/>
            <a:ext cx="3246120" cy="2148840"/>
          </a:xfrm>
          <a:prstGeom prst="roundRect">
            <a:avLst>
              <a:gd name="adj" fmla="val 3404"/>
            </a:avLst>
          </a:prstGeom>
          <a:solidFill>
            <a:srgbClr val="151515"/>
          </a:solidFill>
          <a:ln w="9525">
            <a:solidFill>
              <a:srgbClr val="2A2A2A"/>
            </a:solidFill>
            <a:prstDash val="solid"/>
          </a:ln>
        </p:spPr>
      </p:sp>
      <p:sp>
        <p:nvSpPr>
          <p:cNvPr id="11" name="Shape 8"/>
          <p:cNvSpPr/>
          <p:nvPr/>
        </p:nvSpPr>
        <p:spPr>
          <a:xfrm>
            <a:off x="548640" y="2048256"/>
            <a:ext cx="54864" cy="1892808"/>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churned.png">    </p:cNvPr>
          <p:cNvPicPr>
            <a:picLocks noChangeAspect="1"/>
          </p:cNvPicPr>
          <p:nvPr/>
        </p:nvPicPr>
        <p:blipFill>
          <a:blip r:embed="rId3"/>
          <a:stretch>
            <a:fillRect/>
          </a:stretch>
        </p:blipFill>
        <p:spPr>
          <a:xfrm>
            <a:off x="868680" y="2176272"/>
            <a:ext cx="548640" cy="548640"/>
          </a:xfrm>
          <a:prstGeom prst="rect">
            <a:avLst/>
          </a:prstGeom>
        </p:spPr>
      </p:pic>
      <p:sp>
        <p:nvSpPr>
          <p:cNvPr id="13" name="Text 9"/>
          <p:cNvSpPr txBox="1"/>
          <p:nvPr/>
        </p:nvSpPr>
        <p:spPr>
          <a:xfrm>
            <a:off x="1920240" y="2176272"/>
            <a:ext cx="1691640" cy="548640"/>
          </a:xfrm>
          <a:prstGeom prst="rect">
            <a:avLst/>
          </a:prstGeom>
          <a:noFill/>
          <a:ln/>
        </p:spPr>
        <p:txBody>
          <a:bodyPr wrap="square" lIns="0" tIns="0" rIns="0" bIns="0" rtlCol="0" anchor="ctr"/>
          <a:lstStyle/>
          <a:p>
            <a:pPr algn="r" indent="0" marL="0">
              <a:buNone/>
            </a:pPr>
            <a:r>
              <a:rPr lang="en-US" sz="2400" b="1" dirty="0">
                <a:solidFill>
                  <a:srgbClr val="FF4D57"/>
                </a:solidFill>
                <a:latin typeface="Segoe UI" pitchFamily="34" charset="0"/>
                <a:ea typeface="Segoe UI" pitchFamily="34" charset="-122"/>
                <a:cs typeface="Segoe UI" pitchFamily="34" charset="-120"/>
              </a:rPr>
              <a:t>50.3%</a:t>
            </a:r>
            <a:endParaRPr lang="en-US" sz="2400" dirty="0"/>
          </a:p>
        </p:txBody>
      </p:sp>
      <p:sp>
        <p:nvSpPr>
          <p:cNvPr id="14" name="Text 10"/>
          <p:cNvSpPr txBox="1"/>
          <p:nvPr/>
        </p:nvSpPr>
        <p:spPr>
          <a:xfrm>
            <a:off x="868680" y="2880360"/>
            <a:ext cx="2743200" cy="685800"/>
          </a:xfrm>
          <a:prstGeom prst="rect">
            <a:avLst/>
          </a:prstGeom>
          <a:noFill/>
          <a:ln/>
        </p:spPr>
        <p:txBody>
          <a:bodyPr wrap="square" lIns="0" tIns="0" rIns="0" bIns="0" rtlCol="0" anchor="ctr"/>
          <a:lstStyle/>
          <a:p>
            <a:pPr indent="0" marL="0">
              <a:buNone/>
            </a:pPr>
            <a:r>
              <a:rPr lang="en-US" sz="4000" b="1" dirty="0">
                <a:solidFill>
                  <a:srgbClr val="F5F5F1"/>
                </a:solidFill>
                <a:latin typeface="Segoe UI" pitchFamily="34" charset="0"/>
                <a:ea typeface="Segoe UI" pitchFamily="34" charset="-122"/>
                <a:cs typeface="Segoe UI" pitchFamily="34" charset="-120"/>
              </a:rPr>
              <a:t>2,515</a:t>
            </a:r>
            <a:endParaRPr lang="en-US" sz="4000" dirty="0"/>
          </a:p>
        </p:txBody>
      </p:sp>
      <p:sp>
        <p:nvSpPr>
          <p:cNvPr id="15" name="Text 11"/>
          <p:cNvSpPr txBox="1"/>
          <p:nvPr/>
        </p:nvSpPr>
        <p:spPr>
          <a:xfrm>
            <a:off x="868680" y="3584448"/>
            <a:ext cx="2743200" cy="274320"/>
          </a:xfrm>
          <a:prstGeom prst="rect">
            <a:avLst/>
          </a:prstGeom>
          <a:noFill/>
          <a:ln/>
        </p:spPr>
        <p:txBody>
          <a:bodyPr wrap="square" lIns="0" tIns="0" rIns="0" bIns="0" rtlCol="0" anchor="ctr"/>
          <a:lstStyle/>
          <a:p>
            <a:pPr indent="0" marL="0">
              <a:buNone/>
            </a:pPr>
            <a:r>
              <a:rPr lang="en-US" sz="1200" dirty="0">
                <a:solidFill>
                  <a:srgbClr val="A6A6A6"/>
                </a:solidFill>
                <a:latin typeface="Segoe UI" pitchFamily="34" charset="0"/>
                <a:ea typeface="Segoe UI" pitchFamily="34" charset="-122"/>
                <a:cs typeface="Segoe UI" pitchFamily="34" charset="-120"/>
              </a:rPr>
              <a:t>customers left</a:t>
            </a:r>
            <a:endParaRPr lang="en-US" sz="1200" dirty="0"/>
          </a:p>
        </p:txBody>
      </p:sp>
      <p:sp>
        <p:nvSpPr>
          <p:cNvPr id="16" name="Shape 12"/>
          <p:cNvSpPr/>
          <p:nvPr/>
        </p:nvSpPr>
        <p:spPr>
          <a:xfrm>
            <a:off x="3913632" y="1920240"/>
            <a:ext cx="3246120" cy="2148840"/>
          </a:xfrm>
          <a:prstGeom prst="roundRect">
            <a:avLst>
              <a:gd name="adj" fmla="val 3404"/>
            </a:avLst>
          </a:prstGeom>
          <a:solidFill>
            <a:srgbClr val="151515"/>
          </a:solidFill>
          <a:ln w="9525">
            <a:solidFill>
              <a:srgbClr val="2A2A2A"/>
            </a:solidFill>
            <a:prstDash val="solid"/>
          </a:ln>
        </p:spPr>
      </p:sp>
      <p:sp>
        <p:nvSpPr>
          <p:cNvPr id="17" name="Shape 13"/>
          <p:cNvSpPr/>
          <p:nvPr/>
        </p:nvSpPr>
        <p:spPr>
          <a:xfrm>
            <a:off x="3913632" y="2048256"/>
            <a:ext cx="54864" cy="1892808"/>
          </a:xfrm>
          <a:prstGeom prst="rect">
            <a:avLst/>
          </a:prstGeom>
          <a:solidFill>
            <a:srgbClr val="6A6A6A"/>
          </a:solidFill>
          <a:ln w="12700">
            <a:solidFill>
              <a:srgbClr val="6A6A6A"/>
            </a:solidFill>
            <a:prstDash val="solid"/>
          </a:ln>
        </p:spPr>
      </p:sp>
      <p:pic>
        <p:nvPicPr>
          <p:cNvPr id="18" name="Image 2" descr="/tmp/claude-0/-home-claude/0afb8f05-6c65-583f-af33-ecd94b11a885/scratchpad/eda/assets/stayed.png">    </p:cNvPr>
          <p:cNvPicPr>
            <a:picLocks noChangeAspect="1"/>
          </p:cNvPicPr>
          <p:nvPr/>
        </p:nvPicPr>
        <p:blipFill>
          <a:blip r:embed="rId4"/>
          <a:stretch>
            <a:fillRect/>
          </a:stretch>
        </p:blipFill>
        <p:spPr>
          <a:xfrm>
            <a:off x="4233672" y="2176272"/>
            <a:ext cx="548640" cy="548640"/>
          </a:xfrm>
          <a:prstGeom prst="rect">
            <a:avLst/>
          </a:prstGeom>
        </p:spPr>
      </p:pic>
      <p:sp>
        <p:nvSpPr>
          <p:cNvPr id="19" name="Text 14"/>
          <p:cNvSpPr txBox="1"/>
          <p:nvPr/>
        </p:nvSpPr>
        <p:spPr>
          <a:xfrm>
            <a:off x="5285232" y="2176272"/>
            <a:ext cx="1691640" cy="548640"/>
          </a:xfrm>
          <a:prstGeom prst="rect">
            <a:avLst/>
          </a:prstGeom>
          <a:noFill/>
          <a:ln/>
        </p:spPr>
        <p:txBody>
          <a:bodyPr wrap="square" lIns="0" tIns="0" rIns="0" bIns="0" rtlCol="0" anchor="ctr"/>
          <a:lstStyle/>
          <a:p>
            <a:pPr algn="r" indent="0" marL="0">
              <a:buNone/>
            </a:pPr>
            <a:r>
              <a:rPr lang="en-US" sz="2400" b="1" dirty="0">
                <a:solidFill>
                  <a:srgbClr val="A6A6A6"/>
                </a:solidFill>
                <a:latin typeface="Segoe UI" pitchFamily="34" charset="0"/>
                <a:ea typeface="Segoe UI" pitchFamily="34" charset="-122"/>
                <a:cs typeface="Segoe UI" pitchFamily="34" charset="-120"/>
              </a:rPr>
              <a:t>49.7%</a:t>
            </a:r>
            <a:endParaRPr lang="en-US" sz="2400" dirty="0"/>
          </a:p>
        </p:txBody>
      </p:sp>
      <p:sp>
        <p:nvSpPr>
          <p:cNvPr id="20" name="Text 15"/>
          <p:cNvSpPr txBox="1"/>
          <p:nvPr/>
        </p:nvSpPr>
        <p:spPr>
          <a:xfrm>
            <a:off x="4233672" y="2880360"/>
            <a:ext cx="2743200" cy="685800"/>
          </a:xfrm>
          <a:prstGeom prst="rect">
            <a:avLst/>
          </a:prstGeom>
          <a:noFill/>
          <a:ln/>
        </p:spPr>
        <p:txBody>
          <a:bodyPr wrap="square" lIns="0" tIns="0" rIns="0" bIns="0" rtlCol="0" anchor="ctr"/>
          <a:lstStyle/>
          <a:p>
            <a:pPr indent="0" marL="0">
              <a:buNone/>
            </a:pPr>
            <a:r>
              <a:rPr lang="en-US" sz="4000" b="1" dirty="0">
                <a:solidFill>
                  <a:srgbClr val="F5F5F1"/>
                </a:solidFill>
                <a:latin typeface="Segoe UI" pitchFamily="34" charset="0"/>
                <a:ea typeface="Segoe UI" pitchFamily="34" charset="-122"/>
                <a:cs typeface="Segoe UI" pitchFamily="34" charset="-120"/>
              </a:rPr>
              <a:t>2,485</a:t>
            </a:r>
            <a:endParaRPr lang="en-US" sz="4000" dirty="0"/>
          </a:p>
        </p:txBody>
      </p:sp>
      <p:sp>
        <p:nvSpPr>
          <p:cNvPr id="21" name="Text 16"/>
          <p:cNvSpPr txBox="1"/>
          <p:nvPr/>
        </p:nvSpPr>
        <p:spPr>
          <a:xfrm>
            <a:off x="4233672" y="3584448"/>
            <a:ext cx="2743200" cy="274320"/>
          </a:xfrm>
          <a:prstGeom prst="rect">
            <a:avLst/>
          </a:prstGeom>
          <a:noFill/>
          <a:ln/>
        </p:spPr>
        <p:txBody>
          <a:bodyPr wrap="square" lIns="0" tIns="0" rIns="0" bIns="0" rtlCol="0" anchor="ctr"/>
          <a:lstStyle/>
          <a:p>
            <a:pPr indent="0" marL="0">
              <a:buNone/>
            </a:pPr>
            <a:r>
              <a:rPr lang="en-US" sz="1200" dirty="0">
                <a:solidFill>
                  <a:srgbClr val="A6A6A6"/>
                </a:solidFill>
                <a:latin typeface="Segoe UI" pitchFamily="34" charset="0"/>
                <a:ea typeface="Segoe UI" pitchFamily="34" charset="-122"/>
                <a:cs typeface="Segoe UI" pitchFamily="34" charset="-120"/>
              </a:rPr>
              <a:t>customers stayed</a:t>
            </a:r>
            <a:endParaRPr lang="en-US" sz="1200" dirty="0"/>
          </a:p>
        </p:txBody>
      </p:sp>
      <p:sp>
        <p:nvSpPr>
          <p:cNvPr id="22" name="Shape 17"/>
          <p:cNvSpPr/>
          <p:nvPr/>
        </p:nvSpPr>
        <p:spPr>
          <a:xfrm>
            <a:off x="548640" y="4206240"/>
            <a:ext cx="6629400" cy="822960"/>
          </a:xfrm>
          <a:prstGeom prst="roundRect">
            <a:avLst>
              <a:gd name="adj" fmla="val 8889"/>
            </a:avLst>
          </a:prstGeom>
          <a:solidFill>
            <a:srgbClr val="151515"/>
          </a:solidFill>
          <a:ln w="9525">
            <a:solidFill>
              <a:srgbClr val="2A2A2A"/>
            </a:solidFill>
            <a:prstDash val="solid"/>
          </a:ln>
        </p:spPr>
      </p:sp>
      <p:sp>
        <p:nvSpPr>
          <p:cNvPr id="23" name="Text 18"/>
          <p:cNvSpPr txBox="1"/>
          <p:nvPr/>
        </p:nvSpPr>
        <p:spPr>
          <a:xfrm>
            <a:off x="777240" y="4206240"/>
            <a:ext cx="6263640" cy="822960"/>
          </a:xfrm>
          <a:prstGeom prst="rect">
            <a:avLst/>
          </a:prstGeom>
          <a:noFill/>
          <a:ln/>
        </p:spPr>
        <p:txBody>
          <a:bodyPr wrap="square" lIns="0" tIns="0" rIns="0" bIns="0" rtlCol="0" anchor="ctr"/>
          <a:lstStyle/>
          <a:p>
            <a:pPr indent="0" marL="0">
              <a:buNone/>
            </a:pPr>
            <a:r>
              <a:rPr lang="en-US" sz="1500" b="1" dirty="0">
                <a:solidFill>
                  <a:srgbClr val="F5F5F1"/>
                </a:solidFill>
                <a:latin typeface="Segoe UI" pitchFamily="34" charset="0"/>
                <a:ea typeface="Segoe UI" pitchFamily="34" charset="-122"/>
                <a:cs typeface="Segoe UI" pitchFamily="34" charset="-120"/>
              </a:rPr>
              <a:t>5,000</a:t>
            </a:r>
            <a:pPr indent="0" marL="0">
              <a:buNone/>
            </a:pPr>
            <a:r>
              <a:rPr lang="en-US" sz="1500" dirty="0">
                <a:solidFill>
                  <a:srgbClr val="F5F5F1"/>
                </a:solidFill>
                <a:latin typeface="Segoe UI" pitchFamily="34" charset="0"/>
                <a:ea typeface="Segoe UI" pitchFamily="34" charset="-122"/>
                <a:cs typeface="Segoe UI" pitchFamily="34" charset="-120"/>
              </a:rPr>
              <a:t> customers in total   |   </a:t>
            </a:r>
            <a:pPr indent="0" marL="0">
              <a:buNone/>
            </a:pPr>
            <a:r>
              <a:rPr lang="en-US" sz="1500" b="1" dirty="0">
                <a:solidFill>
                  <a:srgbClr val="FF4D57"/>
                </a:solidFill>
                <a:latin typeface="Segoe UI" pitchFamily="34" charset="0"/>
                <a:ea typeface="Segoe UI" pitchFamily="34" charset="-122"/>
                <a:cs typeface="Segoe UI" pitchFamily="34" charset="-120"/>
              </a:rPr>
              <a:t>1 in 2</a:t>
            </a:r>
            <a:pPr indent="0" marL="0">
              <a:buNone/>
            </a:pPr>
            <a:r>
              <a:rPr lang="en-US" sz="1500" dirty="0">
                <a:solidFill>
                  <a:srgbClr val="F5F5F1"/>
                </a:solidFill>
                <a:latin typeface="Segoe UI" pitchFamily="34" charset="0"/>
                <a:ea typeface="Segoe UI" pitchFamily="34" charset="-122"/>
                <a:cs typeface="Segoe UI" pitchFamily="34" charset="-120"/>
              </a:rPr>
              <a:t> customers churned</a:t>
            </a:r>
            <a:endParaRPr lang="en-US" sz="1500" dirty="0"/>
          </a:p>
        </p:txBody>
      </p:sp>
      <p:sp>
        <p:nvSpPr>
          <p:cNvPr id="24" name="Shape 19"/>
          <p:cNvSpPr/>
          <p:nvPr/>
        </p:nvSpPr>
        <p:spPr>
          <a:xfrm>
            <a:off x="7406640" y="1920240"/>
            <a:ext cx="4233672" cy="2926080"/>
          </a:xfrm>
          <a:prstGeom prst="roundRect">
            <a:avLst>
              <a:gd name="adj" fmla="val 1875"/>
            </a:avLst>
          </a:prstGeom>
          <a:solidFill>
            <a:srgbClr val="0E0E0E"/>
          </a:solidFill>
          <a:ln w="9525">
            <a:solidFill>
              <a:srgbClr val="2A2A2A"/>
            </a:solidFill>
            <a:prstDash val="solid"/>
          </a:ln>
        </p:spPr>
      </p:sp>
      <p:sp>
        <p:nvSpPr>
          <p:cNvPr id="25" name="Shape 20"/>
          <p:cNvSpPr/>
          <p:nvPr/>
        </p:nvSpPr>
        <p:spPr>
          <a:xfrm>
            <a:off x="7589520" y="2075688"/>
            <a:ext cx="91440" cy="91440"/>
          </a:xfrm>
          <a:prstGeom prst="ellipse">
            <a:avLst/>
          </a:prstGeom>
          <a:solidFill>
            <a:srgbClr val="FF5F57"/>
          </a:solidFill>
          <a:ln w="12700">
            <a:solidFill>
              <a:srgbClr val="FF5F57"/>
            </a:solidFill>
            <a:prstDash val="solid"/>
          </a:ln>
        </p:spPr>
      </p:sp>
      <p:sp>
        <p:nvSpPr>
          <p:cNvPr id="26" name="Shape 21"/>
          <p:cNvSpPr/>
          <p:nvPr/>
        </p:nvSpPr>
        <p:spPr>
          <a:xfrm>
            <a:off x="7754112" y="2075688"/>
            <a:ext cx="91440" cy="91440"/>
          </a:xfrm>
          <a:prstGeom prst="ellipse">
            <a:avLst/>
          </a:prstGeom>
          <a:solidFill>
            <a:srgbClr val="FEBC2E"/>
          </a:solidFill>
          <a:ln w="12700">
            <a:solidFill>
              <a:srgbClr val="FEBC2E"/>
            </a:solidFill>
            <a:prstDash val="solid"/>
          </a:ln>
        </p:spPr>
      </p:sp>
      <p:sp>
        <p:nvSpPr>
          <p:cNvPr id="27" name="Shape 22"/>
          <p:cNvSpPr/>
          <p:nvPr/>
        </p:nvSpPr>
        <p:spPr>
          <a:xfrm>
            <a:off x="7918704" y="2075688"/>
            <a:ext cx="91440" cy="91440"/>
          </a:xfrm>
          <a:prstGeom prst="ellipse">
            <a:avLst/>
          </a:prstGeom>
          <a:solidFill>
            <a:srgbClr val="28C840"/>
          </a:solidFill>
          <a:ln w="12700">
            <a:solidFill>
              <a:srgbClr val="28C840"/>
            </a:solidFill>
            <a:prstDash val="solid"/>
          </a:ln>
        </p:spPr>
      </p:sp>
      <p:sp>
        <p:nvSpPr>
          <p:cNvPr id="28" name="Text 23"/>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9" name="Text 24"/>
          <p:cNvSpPr txBox="1"/>
          <p:nvPr/>
        </p:nvSpPr>
        <p:spPr>
          <a:xfrm>
            <a:off x="7589520" y="2331720"/>
            <a:ext cx="3959352" cy="242316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churn_counts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dataset["churn_status"].value_counts())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prop_left = (churn_counts["Left"]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len(dataset)) * 100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50.3</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prop_stayed = (churn_counts["Stayed"]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len(dataset)) * 100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49.7</a:t>
            </a:r>
            <a:endParaRPr lang="en-US" sz="950" dirty="0"/>
          </a:p>
        </p:txBody>
      </p:sp>
      <p:sp>
        <p:nvSpPr>
          <p:cNvPr id="30" name="Shape 25"/>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1" name="Shape 26"/>
          <p:cNvSpPr/>
          <p:nvPr/>
        </p:nvSpPr>
        <p:spPr>
          <a:xfrm>
            <a:off x="548640" y="5358384"/>
            <a:ext cx="54864" cy="704088"/>
          </a:xfrm>
          <a:prstGeom prst="rect">
            <a:avLst/>
          </a:prstGeom>
          <a:solidFill>
            <a:srgbClr val="E50914"/>
          </a:solidFill>
          <a:ln w="12700">
            <a:solidFill>
              <a:srgbClr val="E50914"/>
            </a:solidFill>
            <a:prstDash val="solid"/>
          </a:ln>
        </p:spPr>
      </p:sp>
      <p:pic>
        <p:nvPicPr>
          <p:cNvPr id="32" name="Image 3" descr="/tmp/claude-0/-home-claude/0afb8f05-6c65-583f-af33-ecd94b11a885/scratchpad/eda/assets/bulb.png">    </p:cNvPr>
          <p:cNvPicPr>
            <a:picLocks noChangeAspect="1"/>
          </p:cNvPicPr>
          <p:nvPr/>
        </p:nvPicPr>
        <p:blipFill>
          <a:blip r:embed="rId5"/>
          <a:stretch>
            <a:fillRect/>
          </a:stretch>
        </p:blipFill>
        <p:spPr>
          <a:xfrm>
            <a:off x="804672" y="5513832"/>
            <a:ext cx="384048" cy="384048"/>
          </a:xfrm>
          <a:prstGeom prst="rect">
            <a:avLst/>
          </a:prstGeom>
        </p:spPr>
      </p:pic>
      <p:sp>
        <p:nvSpPr>
          <p:cNvPr id="33" name="Text 27"/>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4" name="Text 28"/>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Churn affects </a:t>
            </a:r>
            <a:pPr indent="0" marL="0">
              <a:buNone/>
            </a:pPr>
            <a:r>
              <a:rPr lang="en-US" sz="1200" b="1" dirty="0">
                <a:solidFill>
                  <a:srgbClr val="F5F5F1"/>
                </a:solidFill>
                <a:latin typeface="Segoe UI" pitchFamily="34" charset="0"/>
                <a:ea typeface="Segoe UI" pitchFamily="34" charset="-122"/>
                <a:cs typeface="Segoe UI" pitchFamily="34" charset="-120"/>
              </a:rPr>
              <a:t>one in every two customers</a:t>
            </a:r>
            <a:pPr indent="0" marL="0">
              <a:buNone/>
            </a:pPr>
            <a:r>
              <a:rPr lang="en-US" sz="1200" dirty="0">
                <a:solidFill>
                  <a:srgbClr val="F5F5F1"/>
                </a:solidFill>
                <a:latin typeface="Segoe UI" pitchFamily="34" charset="0"/>
                <a:ea typeface="Segoe UI" pitchFamily="34" charset="-122"/>
                <a:cs typeface="Segoe UI" pitchFamily="34" charset="-120"/>
              </a:rPr>
              <a:t>: 2,515 customers (50.3%) left, while 2,485 (49.7%) stayed. With half of the subscriber base lost, identifying who leaves and why becomes the central question for the rest of this analysis.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03  ·  REVENUE AT RISK</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Who are the "Silent Subscribers"?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Retained customers in the bottom 25% by watch hours: still paying, but barely watching.</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09 / 27</a:t>
            </a:r>
            <a:endParaRPr lang="en-US" sz="900" dirty="0"/>
          </a:p>
        </p:txBody>
      </p:sp>
      <p:sp>
        <p:nvSpPr>
          <p:cNvPr id="10" name="Shape 7"/>
          <p:cNvSpPr/>
          <p:nvPr/>
        </p:nvSpPr>
        <p:spPr>
          <a:xfrm>
            <a:off x="548640" y="1920240"/>
            <a:ext cx="2148840" cy="1874520"/>
          </a:xfrm>
          <a:prstGeom prst="roundRect">
            <a:avLst>
              <a:gd name="adj" fmla="val 3902"/>
            </a:avLst>
          </a:prstGeom>
          <a:solidFill>
            <a:srgbClr val="151515"/>
          </a:solidFill>
          <a:ln w="9525">
            <a:solidFill>
              <a:srgbClr val="2A2A2A"/>
            </a:solidFill>
            <a:prstDash val="solid"/>
          </a:ln>
        </p:spPr>
      </p:sp>
      <p:sp>
        <p:nvSpPr>
          <p:cNvPr id="11" name="Shape 8"/>
          <p:cNvSpPr/>
          <p:nvPr/>
        </p:nvSpPr>
        <p:spPr>
          <a:xfrm>
            <a:off x="749808" y="192024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silent.png">    </p:cNvPr>
          <p:cNvPicPr>
            <a:picLocks noChangeAspect="1"/>
          </p:cNvPicPr>
          <p:nvPr/>
        </p:nvPicPr>
        <p:blipFill>
          <a:blip r:embed="rId3"/>
          <a:stretch>
            <a:fillRect/>
          </a:stretch>
        </p:blipFill>
        <p:spPr>
          <a:xfrm>
            <a:off x="777240" y="2176272"/>
            <a:ext cx="420624" cy="420624"/>
          </a:xfrm>
          <a:prstGeom prst="rect">
            <a:avLst/>
          </a:prstGeom>
        </p:spPr>
      </p:pic>
      <p:sp>
        <p:nvSpPr>
          <p:cNvPr id="13" name="Text 9"/>
          <p:cNvSpPr txBox="1"/>
          <p:nvPr/>
        </p:nvSpPr>
        <p:spPr>
          <a:xfrm>
            <a:off x="777240" y="2615184"/>
            <a:ext cx="1783080" cy="548640"/>
          </a:xfrm>
          <a:prstGeom prst="rect">
            <a:avLst/>
          </a:prstGeom>
          <a:noFill/>
          <a:ln/>
        </p:spPr>
        <p:txBody>
          <a:bodyPr wrap="square" lIns="0" tIns="0" rIns="0" bIns="0" rtlCol="0" anchor="b"/>
          <a:lstStyle/>
          <a:p>
            <a:pPr indent="0" marL="0">
              <a:buNone/>
            </a:pPr>
            <a:r>
              <a:rPr lang="en-US" sz="3000" b="1" dirty="0">
                <a:solidFill>
                  <a:srgbClr val="F5F5F1"/>
                </a:solidFill>
                <a:latin typeface="Segoe UI" pitchFamily="34" charset="0"/>
                <a:ea typeface="Segoe UI" pitchFamily="34" charset="-122"/>
                <a:cs typeface="Segoe UI" pitchFamily="34" charset="-120"/>
              </a:rPr>
              <a:t>623</a:t>
            </a:r>
            <a:endParaRPr lang="en-US" sz="3000" dirty="0"/>
          </a:p>
        </p:txBody>
      </p:sp>
      <p:sp>
        <p:nvSpPr>
          <p:cNvPr id="14" name="Text 10"/>
          <p:cNvSpPr txBox="1"/>
          <p:nvPr/>
        </p:nvSpPr>
        <p:spPr>
          <a:xfrm>
            <a:off x="777240" y="3200400"/>
            <a:ext cx="178308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silent subscribers among retained customers</a:t>
            </a:r>
            <a:endParaRPr lang="en-US" sz="1100" dirty="0"/>
          </a:p>
        </p:txBody>
      </p:sp>
      <p:sp>
        <p:nvSpPr>
          <p:cNvPr id="15" name="Shape 11"/>
          <p:cNvSpPr/>
          <p:nvPr/>
        </p:nvSpPr>
        <p:spPr>
          <a:xfrm>
            <a:off x="2788920" y="1920240"/>
            <a:ext cx="2148840" cy="1874520"/>
          </a:xfrm>
          <a:prstGeom prst="roundRect">
            <a:avLst>
              <a:gd name="adj" fmla="val 3902"/>
            </a:avLst>
          </a:prstGeom>
          <a:solidFill>
            <a:srgbClr val="151515"/>
          </a:solidFill>
          <a:ln w="9525">
            <a:solidFill>
              <a:srgbClr val="2A2A2A"/>
            </a:solidFill>
            <a:prstDash val="solid"/>
          </a:ln>
        </p:spPr>
      </p:sp>
      <p:sp>
        <p:nvSpPr>
          <p:cNvPr id="16" name="Shape 12"/>
          <p:cNvSpPr/>
          <p:nvPr/>
        </p:nvSpPr>
        <p:spPr>
          <a:xfrm>
            <a:off x="2990088" y="1920240"/>
            <a:ext cx="548640" cy="36576"/>
          </a:xfrm>
          <a:prstGeom prst="rect">
            <a:avLst/>
          </a:prstGeom>
          <a:solidFill>
            <a:srgbClr val="E50914"/>
          </a:solidFill>
          <a:ln w="12700">
            <a:solidFill>
              <a:srgbClr val="E50914"/>
            </a:solidFill>
            <a:prstDash val="solid"/>
          </a:ln>
        </p:spPr>
      </p:sp>
      <p:pic>
        <p:nvPicPr>
          <p:cNvPr id="17" name="Image 2" descr="/tmp/claude-0/-home-claude/0afb8f05-6c65-583f-af33-ecd94b11a885/scratchpad/eda/assets/clock.png">    </p:cNvPr>
          <p:cNvPicPr>
            <a:picLocks noChangeAspect="1"/>
          </p:cNvPicPr>
          <p:nvPr/>
        </p:nvPicPr>
        <p:blipFill>
          <a:blip r:embed="rId4"/>
          <a:stretch>
            <a:fillRect/>
          </a:stretch>
        </p:blipFill>
        <p:spPr>
          <a:xfrm>
            <a:off x="3017520" y="2176272"/>
            <a:ext cx="420624" cy="420624"/>
          </a:xfrm>
          <a:prstGeom prst="rect">
            <a:avLst/>
          </a:prstGeom>
        </p:spPr>
      </p:pic>
      <p:sp>
        <p:nvSpPr>
          <p:cNvPr id="18" name="Text 13"/>
          <p:cNvSpPr txBox="1"/>
          <p:nvPr/>
        </p:nvSpPr>
        <p:spPr>
          <a:xfrm>
            <a:off x="3017520" y="2615184"/>
            <a:ext cx="1783080" cy="548640"/>
          </a:xfrm>
          <a:prstGeom prst="rect">
            <a:avLst/>
          </a:prstGeom>
          <a:noFill/>
          <a:ln/>
        </p:spPr>
        <p:txBody>
          <a:bodyPr wrap="square" lIns="0" tIns="0" rIns="0" bIns="0" rtlCol="0" anchor="b"/>
          <a:lstStyle/>
          <a:p>
            <a:pPr indent="0" marL="0">
              <a:buNone/>
            </a:pPr>
            <a:r>
              <a:rPr lang="en-US" sz="2600" b="1" dirty="0">
                <a:solidFill>
                  <a:srgbClr val="F5F5F1"/>
                </a:solidFill>
                <a:latin typeface="Segoe UI" pitchFamily="34" charset="0"/>
                <a:ea typeface="Segoe UI" pitchFamily="34" charset="-122"/>
                <a:cs typeface="Segoe UI" pitchFamily="34" charset="-120"/>
              </a:rPr>
              <a:t>7.79 hrs</a:t>
            </a:r>
            <a:endParaRPr lang="en-US" sz="2600" dirty="0"/>
          </a:p>
        </p:txBody>
      </p:sp>
      <p:sp>
        <p:nvSpPr>
          <p:cNvPr id="19" name="Text 14"/>
          <p:cNvSpPr txBox="1"/>
          <p:nvPr/>
        </p:nvSpPr>
        <p:spPr>
          <a:xfrm>
            <a:off x="3017520" y="3200400"/>
            <a:ext cx="178308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monthly watch-hour threshold (25th percentile)</a:t>
            </a:r>
            <a:endParaRPr lang="en-US" sz="1100" dirty="0"/>
          </a:p>
        </p:txBody>
      </p:sp>
      <p:sp>
        <p:nvSpPr>
          <p:cNvPr id="20" name="Shape 15"/>
          <p:cNvSpPr/>
          <p:nvPr/>
        </p:nvSpPr>
        <p:spPr>
          <a:xfrm>
            <a:off x="5029200" y="1920240"/>
            <a:ext cx="2148840" cy="1874520"/>
          </a:xfrm>
          <a:prstGeom prst="roundRect">
            <a:avLst>
              <a:gd name="adj" fmla="val 3902"/>
            </a:avLst>
          </a:prstGeom>
          <a:solidFill>
            <a:srgbClr val="151515"/>
          </a:solidFill>
          <a:ln w="9525">
            <a:solidFill>
              <a:srgbClr val="2A2A2A"/>
            </a:solidFill>
            <a:prstDash val="solid"/>
          </a:ln>
        </p:spPr>
      </p:sp>
      <p:sp>
        <p:nvSpPr>
          <p:cNvPr id="21" name="Shape 16"/>
          <p:cNvSpPr/>
          <p:nvPr/>
        </p:nvSpPr>
        <p:spPr>
          <a:xfrm>
            <a:off x="5230368" y="1920240"/>
            <a:ext cx="548640" cy="36576"/>
          </a:xfrm>
          <a:prstGeom prst="rect">
            <a:avLst/>
          </a:prstGeom>
          <a:solidFill>
            <a:srgbClr val="E50914"/>
          </a:solidFill>
          <a:ln w="12700">
            <a:solidFill>
              <a:srgbClr val="E50914"/>
            </a:solidFill>
            <a:prstDash val="solid"/>
          </a:ln>
        </p:spPr>
      </p:sp>
      <p:pic>
        <p:nvPicPr>
          <p:cNvPr id="22" name="Image 3" descr="/tmp/claude-0/-home-claude/0afb8f05-6c65-583f-af33-ecd94b11a885/scratchpad/eda/assets/dollar.png">    </p:cNvPr>
          <p:cNvPicPr>
            <a:picLocks noChangeAspect="1"/>
          </p:cNvPicPr>
          <p:nvPr/>
        </p:nvPicPr>
        <p:blipFill>
          <a:blip r:embed="rId5"/>
          <a:stretch>
            <a:fillRect/>
          </a:stretch>
        </p:blipFill>
        <p:spPr>
          <a:xfrm>
            <a:off x="5257800" y="2176272"/>
            <a:ext cx="420624" cy="420624"/>
          </a:xfrm>
          <a:prstGeom prst="rect">
            <a:avLst/>
          </a:prstGeom>
        </p:spPr>
      </p:pic>
      <p:sp>
        <p:nvSpPr>
          <p:cNvPr id="23" name="Text 17"/>
          <p:cNvSpPr txBox="1"/>
          <p:nvPr/>
        </p:nvSpPr>
        <p:spPr>
          <a:xfrm>
            <a:off x="5257800" y="2615184"/>
            <a:ext cx="1783080" cy="548640"/>
          </a:xfrm>
          <a:prstGeom prst="rect">
            <a:avLst/>
          </a:prstGeom>
          <a:noFill/>
          <a:ln/>
        </p:spPr>
        <p:txBody>
          <a:bodyPr wrap="square" lIns="0" tIns="0" rIns="0" bIns="0" rtlCol="0" anchor="b"/>
          <a:lstStyle/>
          <a:p>
            <a:pPr indent="0" marL="0">
              <a:buNone/>
            </a:pPr>
            <a:r>
              <a:rPr lang="en-US" sz="2400" b="1" dirty="0">
                <a:solidFill>
                  <a:srgbClr val="FF4D57"/>
                </a:solidFill>
                <a:latin typeface="Segoe UI" pitchFamily="34" charset="0"/>
                <a:ea typeface="Segoe UI" pitchFamily="34" charset="-122"/>
                <a:cs typeface="Segoe UI" pitchFamily="34" charset="-120"/>
              </a:rPr>
              <a:t>$9,209.77</a:t>
            </a:r>
            <a:endParaRPr lang="en-US" sz="2400" dirty="0"/>
          </a:p>
        </p:txBody>
      </p:sp>
      <p:sp>
        <p:nvSpPr>
          <p:cNvPr id="24" name="Text 18"/>
          <p:cNvSpPr txBox="1"/>
          <p:nvPr/>
        </p:nvSpPr>
        <p:spPr>
          <a:xfrm>
            <a:off x="5257800" y="3200400"/>
            <a:ext cx="178308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combined monthly subscription fees</a:t>
            </a:r>
            <a:endParaRPr lang="en-US" sz="1100" dirty="0"/>
          </a:p>
        </p:txBody>
      </p:sp>
      <p:sp>
        <p:nvSpPr>
          <p:cNvPr id="25" name="Shape 19"/>
          <p:cNvSpPr/>
          <p:nvPr/>
        </p:nvSpPr>
        <p:spPr>
          <a:xfrm>
            <a:off x="548640" y="3931920"/>
            <a:ext cx="6629400" cy="1097280"/>
          </a:xfrm>
          <a:prstGeom prst="roundRect">
            <a:avLst>
              <a:gd name="adj" fmla="val 6667"/>
            </a:avLst>
          </a:prstGeom>
          <a:solidFill>
            <a:srgbClr val="151515"/>
          </a:solidFill>
          <a:ln w="9525">
            <a:solidFill>
              <a:srgbClr val="2A2A2A"/>
            </a:solidFill>
            <a:prstDash val="solid"/>
          </a:ln>
        </p:spPr>
      </p:sp>
      <p:sp>
        <p:nvSpPr>
          <p:cNvPr id="26" name="Text 20"/>
          <p:cNvSpPr txBox="1"/>
          <p:nvPr/>
        </p:nvSpPr>
        <p:spPr>
          <a:xfrm>
            <a:off x="777240" y="4041648"/>
            <a:ext cx="6172200" cy="457200"/>
          </a:xfrm>
          <a:prstGeom prst="rect">
            <a:avLst/>
          </a:prstGeom>
          <a:noFill/>
          <a:ln/>
        </p:spPr>
        <p:txBody>
          <a:bodyPr wrap="square" lIns="0" tIns="0" rIns="0" bIns="0" rtlCol="0" anchor="ctr"/>
          <a:lstStyle/>
          <a:p>
            <a:pPr indent="0" marL="0">
              <a:buNone/>
            </a:pPr>
            <a:r>
              <a:rPr lang="en-US" sz="1250" dirty="0">
                <a:solidFill>
                  <a:srgbClr val="F5F5F1"/>
                </a:solidFill>
                <a:latin typeface="Segoe UI" pitchFamily="34" charset="0"/>
                <a:ea typeface="Segoe UI" pitchFamily="34" charset="-122"/>
                <a:cs typeface="Segoe UI" pitchFamily="34" charset="-120"/>
              </a:rPr>
              <a:t>Silent subscribers make up </a:t>
            </a:r>
            <a:pPr indent="0" marL="0">
              <a:buNone/>
            </a:pPr>
            <a:r>
              <a:rPr lang="en-US" sz="1250" b="1" dirty="0">
                <a:solidFill>
                  <a:srgbClr val="FF4D57"/>
                </a:solidFill>
                <a:latin typeface="Segoe UI" pitchFamily="34" charset="0"/>
                <a:ea typeface="Segoe UI" pitchFamily="34" charset="-122"/>
                <a:cs typeface="Segoe UI" pitchFamily="34" charset="-120"/>
              </a:rPr>
              <a:t>623 of the 2,485</a:t>
            </a:r>
            <a:pPr indent="0" marL="0">
              <a:buNone/>
            </a:pPr>
            <a:r>
              <a:rPr lang="en-US" sz="1250" dirty="0">
                <a:solidFill>
                  <a:srgbClr val="F5F5F1"/>
                </a:solidFill>
                <a:latin typeface="Segoe UI" pitchFamily="34" charset="0"/>
                <a:ea typeface="Segoe UI" pitchFamily="34" charset="-122"/>
                <a:cs typeface="Segoe UI" pitchFamily="34" charset="-120"/>
              </a:rPr>
              <a:t> retained customers, the bottom quarter by watch hours.</a:t>
            </a:r>
            <a:endParaRPr lang="en-US" sz="1250" dirty="0"/>
          </a:p>
        </p:txBody>
      </p:sp>
      <p:sp>
        <p:nvSpPr>
          <p:cNvPr id="27" name="Shape 21"/>
          <p:cNvSpPr/>
          <p:nvPr/>
        </p:nvSpPr>
        <p:spPr>
          <a:xfrm>
            <a:off x="7406640" y="1920240"/>
            <a:ext cx="4233672" cy="3108960"/>
          </a:xfrm>
          <a:prstGeom prst="roundRect">
            <a:avLst>
              <a:gd name="adj" fmla="val 1765"/>
            </a:avLst>
          </a:prstGeom>
          <a:solidFill>
            <a:srgbClr val="0E0E0E"/>
          </a:solidFill>
          <a:ln w="9525">
            <a:solidFill>
              <a:srgbClr val="2A2A2A"/>
            </a:solidFill>
            <a:prstDash val="solid"/>
          </a:ln>
        </p:spPr>
      </p:sp>
      <p:sp>
        <p:nvSpPr>
          <p:cNvPr id="28" name="Shape 22"/>
          <p:cNvSpPr/>
          <p:nvPr/>
        </p:nvSpPr>
        <p:spPr>
          <a:xfrm>
            <a:off x="7589520" y="2075688"/>
            <a:ext cx="91440" cy="91440"/>
          </a:xfrm>
          <a:prstGeom prst="ellipse">
            <a:avLst/>
          </a:prstGeom>
          <a:solidFill>
            <a:srgbClr val="FF5F57"/>
          </a:solidFill>
          <a:ln w="12700">
            <a:solidFill>
              <a:srgbClr val="FF5F57"/>
            </a:solidFill>
            <a:prstDash val="solid"/>
          </a:ln>
        </p:spPr>
      </p:sp>
      <p:sp>
        <p:nvSpPr>
          <p:cNvPr id="29" name="Shape 23"/>
          <p:cNvSpPr/>
          <p:nvPr/>
        </p:nvSpPr>
        <p:spPr>
          <a:xfrm>
            <a:off x="7754112" y="2075688"/>
            <a:ext cx="91440" cy="91440"/>
          </a:xfrm>
          <a:prstGeom prst="ellipse">
            <a:avLst/>
          </a:prstGeom>
          <a:solidFill>
            <a:srgbClr val="FEBC2E"/>
          </a:solidFill>
          <a:ln w="12700">
            <a:solidFill>
              <a:srgbClr val="FEBC2E"/>
            </a:solidFill>
            <a:prstDash val="solid"/>
          </a:ln>
        </p:spPr>
      </p:sp>
      <p:sp>
        <p:nvSpPr>
          <p:cNvPr id="30" name="Shape 24"/>
          <p:cNvSpPr/>
          <p:nvPr/>
        </p:nvSpPr>
        <p:spPr>
          <a:xfrm>
            <a:off x="7918704" y="2075688"/>
            <a:ext cx="91440" cy="91440"/>
          </a:xfrm>
          <a:prstGeom prst="ellipse">
            <a:avLst/>
          </a:prstGeom>
          <a:solidFill>
            <a:srgbClr val="28C840"/>
          </a:solidFill>
          <a:ln w="12700">
            <a:solidFill>
              <a:srgbClr val="28C840"/>
            </a:solidFill>
            <a:prstDash val="solid"/>
          </a:ln>
        </p:spPr>
      </p:sp>
      <p:sp>
        <p:nvSpPr>
          <p:cNvPr id="31" name="Text 25"/>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2" name="Text 26"/>
          <p:cNvSpPr txBox="1"/>
          <p:nvPr/>
        </p:nvSpPr>
        <p:spPr>
          <a:xfrm>
            <a:off x="7589520" y="2331720"/>
            <a:ext cx="3959352" cy="2606040"/>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1: retained customers (churned = 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active = dataset.loc[dataset["churned"] == 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2: 25th percentile of watch hours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Q1 = np.percentile(active["watch_hours"], 25)</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3: at or below the threshold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silent = active.loc[active["watch_hours"] &lt;= Q1]</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4: 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Silent_count = len(silent)          # 623</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5: monthly revenue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revenue = silent["monthly_fee"].sum()</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9209.77</a:t>
            </a:r>
            <a:endParaRPr lang="en-US" sz="950" dirty="0"/>
          </a:p>
        </p:txBody>
      </p:sp>
      <p:sp>
        <p:nvSpPr>
          <p:cNvPr id="33" name="Shape 27"/>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4" name="Shape 28"/>
          <p:cNvSpPr/>
          <p:nvPr/>
        </p:nvSpPr>
        <p:spPr>
          <a:xfrm>
            <a:off x="548640" y="5358384"/>
            <a:ext cx="54864" cy="704088"/>
          </a:xfrm>
          <a:prstGeom prst="rect">
            <a:avLst/>
          </a:prstGeom>
          <a:solidFill>
            <a:srgbClr val="E50914"/>
          </a:solidFill>
          <a:ln w="12700">
            <a:solidFill>
              <a:srgbClr val="E50914"/>
            </a:solidFill>
            <a:prstDash val="solid"/>
          </a:ln>
        </p:spPr>
      </p:sp>
      <p:pic>
        <p:nvPicPr>
          <p:cNvPr id="35" name="Image 4" descr="/tmp/claude-0/-home-claude/0afb8f05-6c65-583f-af33-ecd94b11a885/scratchpad/eda/assets/bulb.png">    </p:cNvPr>
          <p:cNvPicPr>
            <a:picLocks noChangeAspect="1"/>
          </p:cNvPicPr>
          <p:nvPr/>
        </p:nvPicPr>
        <p:blipFill>
          <a:blip r:embed="rId6"/>
          <a:stretch>
            <a:fillRect/>
          </a:stretch>
        </p:blipFill>
        <p:spPr>
          <a:xfrm>
            <a:off x="804672" y="5513832"/>
            <a:ext cx="384048" cy="384048"/>
          </a:xfrm>
          <a:prstGeom prst="rect">
            <a:avLst/>
          </a:prstGeom>
        </p:spPr>
      </p:pic>
      <p:sp>
        <p:nvSpPr>
          <p:cNvPr id="36" name="Text 29"/>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7" name="Text 30"/>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b="1" dirty="0">
                <a:solidFill>
                  <a:srgbClr val="F5F5F1"/>
                </a:solidFill>
                <a:latin typeface="Segoe UI" pitchFamily="34" charset="0"/>
                <a:ea typeface="Segoe UI" pitchFamily="34" charset="-122"/>
                <a:cs typeface="Segoe UI" pitchFamily="34" charset="-120"/>
              </a:rPr>
              <a:t>623 retained customers</a:t>
            </a:r>
            <a:pPr indent="0" marL="0">
              <a:buNone/>
            </a:pPr>
            <a:r>
              <a:rPr lang="en-US" sz="1200" dirty="0">
                <a:solidFill>
                  <a:srgbClr val="F5F5F1"/>
                </a:solidFill>
                <a:latin typeface="Segoe UI" pitchFamily="34" charset="0"/>
                <a:ea typeface="Segoe UI" pitchFamily="34" charset="-122"/>
                <a:cs typeface="Segoe UI" pitchFamily="34" charset="-120"/>
              </a:rPr>
              <a:t> watch 7.79 hours a month or less, yet together they still contribute </a:t>
            </a:r>
            <a:pPr indent="0" marL="0">
              <a:buNone/>
            </a:pPr>
            <a:r>
              <a:rPr lang="en-US" sz="1200" b="1" dirty="0">
                <a:solidFill>
                  <a:srgbClr val="F5F5F1"/>
                </a:solidFill>
                <a:latin typeface="Segoe UI" pitchFamily="34" charset="0"/>
                <a:ea typeface="Segoe UI" pitchFamily="34" charset="-122"/>
                <a:cs typeface="Segoe UI" pitchFamily="34" charset="-120"/>
              </a:rPr>
              <a:t>$9,209.77 in monthly fees</a:t>
            </a:r>
            <a:pPr indent="0" marL="0">
              <a:buNone/>
            </a:pPr>
            <a:r>
              <a:rPr lang="en-US" sz="1200" dirty="0">
                <a:solidFill>
                  <a:srgbClr val="F5F5F1"/>
                </a:solidFill>
                <a:latin typeface="Segoe UI" pitchFamily="34" charset="0"/>
                <a:ea typeface="Segoe UI" pitchFamily="34" charset="-122"/>
                <a:cs typeface="Segoe UI" pitchFamily="34" charset="-120"/>
              </a:rPr>
              <a:t>. Their subscriptions are active, but their low engagement makes this revenue vulnerable if it turns into cancellation.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04  ·  REVENUE AT RISK</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How large is the inactive but still paying customer base?</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Retained subscribers who have not logged in for more than 30 days.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10 / 27</a:t>
            </a:r>
            <a:endParaRPr lang="en-US" sz="900" dirty="0"/>
          </a:p>
        </p:txBody>
      </p:sp>
      <p:sp>
        <p:nvSpPr>
          <p:cNvPr id="10" name="Shape 7"/>
          <p:cNvSpPr/>
          <p:nvPr/>
        </p:nvSpPr>
        <p:spPr>
          <a:xfrm>
            <a:off x="548640" y="1920240"/>
            <a:ext cx="3246120" cy="1874520"/>
          </a:xfrm>
          <a:prstGeom prst="roundRect">
            <a:avLst>
              <a:gd name="adj" fmla="val 3902"/>
            </a:avLst>
          </a:prstGeom>
          <a:solidFill>
            <a:srgbClr val="151515"/>
          </a:solidFill>
          <a:ln w="9525">
            <a:solidFill>
              <a:srgbClr val="2A2A2A"/>
            </a:solidFill>
            <a:prstDash val="solid"/>
          </a:ln>
        </p:spPr>
      </p:sp>
      <p:sp>
        <p:nvSpPr>
          <p:cNvPr id="11" name="Shape 8"/>
          <p:cNvSpPr/>
          <p:nvPr/>
        </p:nvSpPr>
        <p:spPr>
          <a:xfrm>
            <a:off x="749808" y="192024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inactive.png">    </p:cNvPr>
          <p:cNvPicPr>
            <a:picLocks noChangeAspect="1"/>
          </p:cNvPicPr>
          <p:nvPr/>
        </p:nvPicPr>
        <p:blipFill>
          <a:blip r:embed="rId3"/>
          <a:stretch>
            <a:fillRect/>
          </a:stretch>
        </p:blipFill>
        <p:spPr>
          <a:xfrm>
            <a:off x="777240" y="2176272"/>
            <a:ext cx="420624" cy="420624"/>
          </a:xfrm>
          <a:prstGeom prst="rect">
            <a:avLst/>
          </a:prstGeom>
        </p:spPr>
      </p:pic>
      <p:sp>
        <p:nvSpPr>
          <p:cNvPr id="13" name="Text 9"/>
          <p:cNvSpPr txBox="1"/>
          <p:nvPr/>
        </p:nvSpPr>
        <p:spPr>
          <a:xfrm>
            <a:off x="777240" y="2615184"/>
            <a:ext cx="2880360" cy="548640"/>
          </a:xfrm>
          <a:prstGeom prst="rect">
            <a:avLst/>
          </a:prstGeom>
          <a:noFill/>
          <a:ln/>
        </p:spPr>
        <p:txBody>
          <a:bodyPr wrap="square" lIns="0" tIns="0" rIns="0" bIns="0" rtlCol="0" anchor="b"/>
          <a:lstStyle/>
          <a:p>
            <a:pPr indent="0" marL="0">
              <a:buNone/>
            </a:pPr>
            <a:r>
              <a:rPr lang="en-US" sz="3400" b="1" dirty="0">
                <a:solidFill>
                  <a:srgbClr val="F5F5F1"/>
                </a:solidFill>
                <a:latin typeface="Segoe UI" pitchFamily="34" charset="0"/>
                <a:ea typeface="Segoe UI" pitchFamily="34" charset="-122"/>
                <a:cs typeface="Segoe UI" pitchFamily="34" charset="-120"/>
              </a:rPr>
              <a:t>579</a:t>
            </a:r>
            <a:endParaRPr lang="en-US" sz="3400" dirty="0"/>
          </a:p>
        </p:txBody>
      </p:sp>
      <p:sp>
        <p:nvSpPr>
          <p:cNvPr id="14" name="Text 10"/>
          <p:cNvSpPr txBox="1"/>
          <p:nvPr/>
        </p:nvSpPr>
        <p:spPr>
          <a:xfrm>
            <a:off x="777240" y="3200400"/>
            <a:ext cx="288036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retained subscribers inactive for over 30 days</a:t>
            </a:r>
            <a:endParaRPr lang="en-US" sz="1100" dirty="0"/>
          </a:p>
        </p:txBody>
      </p:sp>
      <p:sp>
        <p:nvSpPr>
          <p:cNvPr id="15" name="Shape 11"/>
          <p:cNvSpPr/>
          <p:nvPr/>
        </p:nvSpPr>
        <p:spPr>
          <a:xfrm>
            <a:off x="3931920" y="1920240"/>
            <a:ext cx="3246120" cy="1874520"/>
          </a:xfrm>
          <a:prstGeom prst="roundRect">
            <a:avLst>
              <a:gd name="adj" fmla="val 3902"/>
            </a:avLst>
          </a:prstGeom>
          <a:solidFill>
            <a:srgbClr val="151515"/>
          </a:solidFill>
          <a:ln w="9525">
            <a:solidFill>
              <a:srgbClr val="2A2A2A"/>
            </a:solidFill>
            <a:prstDash val="solid"/>
          </a:ln>
        </p:spPr>
      </p:sp>
      <p:sp>
        <p:nvSpPr>
          <p:cNvPr id="16" name="Shape 12"/>
          <p:cNvSpPr/>
          <p:nvPr/>
        </p:nvSpPr>
        <p:spPr>
          <a:xfrm>
            <a:off x="4133088" y="1920240"/>
            <a:ext cx="548640" cy="36576"/>
          </a:xfrm>
          <a:prstGeom prst="rect">
            <a:avLst/>
          </a:prstGeom>
          <a:solidFill>
            <a:srgbClr val="E50914"/>
          </a:solidFill>
          <a:ln w="12700">
            <a:solidFill>
              <a:srgbClr val="E50914"/>
            </a:solidFill>
            <a:prstDash val="solid"/>
          </a:ln>
        </p:spPr>
      </p:sp>
      <p:pic>
        <p:nvPicPr>
          <p:cNvPr id="17" name="Image 2" descr="/tmp/claude-0/-home-claude/0afb8f05-6c65-583f-af33-ecd94b11a885/scratchpad/eda/assets/dollar.png">    </p:cNvPr>
          <p:cNvPicPr>
            <a:picLocks noChangeAspect="1"/>
          </p:cNvPicPr>
          <p:nvPr/>
        </p:nvPicPr>
        <p:blipFill>
          <a:blip r:embed="rId4"/>
          <a:stretch>
            <a:fillRect/>
          </a:stretch>
        </p:blipFill>
        <p:spPr>
          <a:xfrm>
            <a:off x="4160520" y="2176272"/>
            <a:ext cx="420624" cy="420624"/>
          </a:xfrm>
          <a:prstGeom prst="rect">
            <a:avLst/>
          </a:prstGeom>
        </p:spPr>
      </p:pic>
      <p:sp>
        <p:nvSpPr>
          <p:cNvPr id="18" name="Text 13"/>
          <p:cNvSpPr txBox="1"/>
          <p:nvPr/>
        </p:nvSpPr>
        <p:spPr>
          <a:xfrm>
            <a:off x="4160520" y="2615184"/>
            <a:ext cx="2880360" cy="548640"/>
          </a:xfrm>
          <a:prstGeom prst="rect">
            <a:avLst/>
          </a:prstGeom>
          <a:noFill/>
          <a:ln/>
        </p:spPr>
        <p:txBody>
          <a:bodyPr wrap="square" lIns="0" tIns="0" rIns="0" bIns="0" rtlCol="0" anchor="b"/>
          <a:lstStyle/>
          <a:p>
            <a:pPr indent="0" marL="0">
              <a:buNone/>
            </a:pPr>
            <a:r>
              <a:rPr lang="en-US" sz="3000" b="1" dirty="0">
                <a:solidFill>
                  <a:srgbClr val="FF4D57"/>
                </a:solidFill>
                <a:latin typeface="Segoe UI" pitchFamily="34" charset="0"/>
                <a:ea typeface="Segoe UI" pitchFamily="34" charset="-122"/>
                <a:cs typeface="Segoe UI" pitchFamily="34" charset="-120"/>
              </a:rPr>
              <a:t>$8,591.21</a:t>
            </a:r>
            <a:endParaRPr lang="en-US" sz="3000" dirty="0"/>
          </a:p>
        </p:txBody>
      </p:sp>
      <p:sp>
        <p:nvSpPr>
          <p:cNvPr id="19" name="Text 14"/>
          <p:cNvSpPr txBox="1"/>
          <p:nvPr/>
        </p:nvSpPr>
        <p:spPr>
          <a:xfrm>
            <a:off x="4160520" y="3200400"/>
            <a:ext cx="288036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combined monthly subscription fees</a:t>
            </a:r>
            <a:endParaRPr lang="en-US" sz="1100" dirty="0"/>
          </a:p>
        </p:txBody>
      </p:sp>
      <p:sp>
        <p:nvSpPr>
          <p:cNvPr id="20" name="Shape 15"/>
          <p:cNvSpPr/>
          <p:nvPr/>
        </p:nvSpPr>
        <p:spPr>
          <a:xfrm>
            <a:off x="548640" y="3931920"/>
            <a:ext cx="6629400" cy="1097280"/>
          </a:xfrm>
          <a:prstGeom prst="roundRect">
            <a:avLst>
              <a:gd name="adj" fmla="val 6667"/>
            </a:avLst>
          </a:prstGeom>
          <a:solidFill>
            <a:srgbClr val="151515"/>
          </a:solidFill>
          <a:ln w="9525">
            <a:solidFill>
              <a:srgbClr val="2A2A2A"/>
            </a:solidFill>
            <a:prstDash val="solid"/>
          </a:ln>
        </p:spPr>
      </p:sp>
      <p:sp>
        <p:nvSpPr>
          <p:cNvPr id="21" name="Text 16"/>
          <p:cNvSpPr txBox="1"/>
          <p:nvPr/>
        </p:nvSpPr>
        <p:spPr>
          <a:xfrm>
            <a:off x="777240" y="4041648"/>
            <a:ext cx="6172200" cy="457200"/>
          </a:xfrm>
          <a:prstGeom prst="rect">
            <a:avLst/>
          </a:prstGeom>
          <a:noFill/>
          <a:ln/>
        </p:spPr>
        <p:txBody>
          <a:bodyPr wrap="square" lIns="0" tIns="0" rIns="0" bIns="0" rtlCol="0" anchor="ctr"/>
          <a:lstStyle/>
          <a:p>
            <a:pPr indent="0" marL="0">
              <a:buNone/>
            </a:pPr>
            <a:r>
              <a:rPr lang="en-US" sz="1250" dirty="0">
                <a:solidFill>
                  <a:srgbClr val="F5F5F1"/>
                </a:solidFill>
                <a:latin typeface="Segoe UI" pitchFamily="34" charset="0"/>
                <a:ea typeface="Segoe UI" pitchFamily="34" charset="-122"/>
                <a:cs typeface="Segoe UI" pitchFamily="34" charset="-120"/>
              </a:rPr>
              <a:t>These customers make up </a:t>
            </a:r>
            <a:pPr indent="0" marL="0">
              <a:buNone/>
            </a:pPr>
            <a:r>
              <a:rPr lang="en-US" sz="1250" b="1" dirty="0">
                <a:solidFill>
                  <a:srgbClr val="FF4D57"/>
                </a:solidFill>
                <a:latin typeface="Segoe UI" pitchFamily="34" charset="0"/>
                <a:ea typeface="Segoe UI" pitchFamily="34" charset="-122"/>
                <a:cs typeface="Segoe UI" pitchFamily="34" charset="-120"/>
              </a:rPr>
              <a:t>579 of the 2,485</a:t>
            </a:r>
            <a:pPr indent="0" marL="0">
              <a:buNone/>
            </a:pPr>
            <a:r>
              <a:rPr lang="en-US" sz="1250" dirty="0">
                <a:solidFill>
                  <a:srgbClr val="F5F5F1"/>
                </a:solidFill>
                <a:latin typeface="Segoe UI" pitchFamily="34" charset="0"/>
                <a:ea typeface="Segoe UI" pitchFamily="34" charset="-122"/>
                <a:cs typeface="Segoe UI" pitchFamily="34" charset="-120"/>
              </a:rPr>
              <a:t> retained customers.</a:t>
            </a:r>
            <a:endParaRPr lang="en-US" sz="1250" dirty="0"/>
          </a:p>
        </p:txBody>
      </p:sp>
      <p:sp>
        <p:nvSpPr>
          <p:cNvPr id="22" name="Text 17"/>
          <p:cNvSpPr txBox="1"/>
          <p:nvPr/>
        </p:nvSpPr>
        <p:spPr>
          <a:xfrm>
            <a:off x="777240" y="4645152"/>
            <a:ext cx="6172200" cy="237744"/>
          </a:xfrm>
          <a:prstGeom prst="rect">
            <a:avLst/>
          </a:prstGeom>
          <a:noFill/>
          <a:ln/>
        </p:spPr>
        <p:txBody>
          <a:bodyPr wrap="square" lIns="0" tIns="0" rIns="0" bIns="0" rtlCol="0" anchor="ctr"/>
          <a:lstStyle/>
          <a:p>
            <a:pPr indent="0" marL="0">
              <a:buNone/>
            </a:pPr>
            <a:r>
              <a:rPr lang="en-US" sz="1050" i="1" dirty="0">
                <a:solidFill>
                  <a:srgbClr val="A6A6A6"/>
                </a:solidFill>
                <a:latin typeface="Segoe UI" pitchFamily="34" charset="0"/>
                <a:ea typeface="Segoe UI" pitchFamily="34" charset="-122"/>
                <a:cs typeface="Segoe UI" pitchFamily="34" charset="-120"/>
              </a:rPr>
              <a:t>More than 30 days is the inactivity level at which churn reaches 75% (Question 06).</a:t>
            </a:r>
            <a:endParaRPr lang="en-US" sz="1050" dirty="0"/>
          </a:p>
        </p:txBody>
      </p:sp>
      <p:sp>
        <p:nvSpPr>
          <p:cNvPr id="23" name="Shape 18"/>
          <p:cNvSpPr/>
          <p:nvPr/>
        </p:nvSpPr>
        <p:spPr>
          <a:xfrm>
            <a:off x="7406640" y="1920240"/>
            <a:ext cx="4233672" cy="3108960"/>
          </a:xfrm>
          <a:prstGeom prst="roundRect">
            <a:avLst>
              <a:gd name="adj" fmla="val 1765"/>
            </a:avLst>
          </a:prstGeom>
          <a:solidFill>
            <a:srgbClr val="0E0E0E"/>
          </a:solidFill>
          <a:ln w="9525">
            <a:solidFill>
              <a:srgbClr val="2A2A2A"/>
            </a:solidFill>
            <a:prstDash val="solid"/>
          </a:ln>
        </p:spPr>
      </p:sp>
      <p:sp>
        <p:nvSpPr>
          <p:cNvPr id="24" name="Shape 19"/>
          <p:cNvSpPr/>
          <p:nvPr/>
        </p:nvSpPr>
        <p:spPr>
          <a:xfrm>
            <a:off x="7589520" y="2075688"/>
            <a:ext cx="91440" cy="91440"/>
          </a:xfrm>
          <a:prstGeom prst="ellipse">
            <a:avLst/>
          </a:prstGeom>
          <a:solidFill>
            <a:srgbClr val="FF5F57"/>
          </a:solidFill>
          <a:ln w="12700">
            <a:solidFill>
              <a:srgbClr val="FF5F57"/>
            </a:solidFill>
            <a:prstDash val="solid"/>
          </a:ln>
        </p:spPr>
      </p:sp>
      <p:sp>
        <p:nvSpPr>
          <p:cNvPr id="25" name="Shape 20"/>
          <p:cNvSpPr/>
          <p:nvPr/>
        </p:nvSpPr>
        <p:spPr>
          <a:xfrm>
            <a:off x="7754112" y="2075688"/>
            <a:ext cx="91440" cy="91440"/>
          </a:xfrm>
          <a:prstGeom prst="ellipse">
            <a:avLst/>
          </a:prstGeom>
          <a:solidFill>
            <a:srgbClr val="FEBC2E"/>
          </a:solidFill>
          <a:ln w="12700">
            <a:solidFill>
              <a:srgbClr val="FEBC2E"/>
            </a:solidFill>
            <a:prstDash val="solid"/>
          </a:ln>
        </p:spPr>
      </p:sp>
      <p:sp>
        <p:nvSpPr>
          <p:cNvPr id="26" name="Shape 21"/>
          <p:cNvSpPr/>
          <p:nvPr/>
        </p:nvSpPr>
        <p:spPr>
          <a:xfrm>
            <a:off x="7918704" y="2075688"/>
            <a:ext cx="91440" cy="91440"/>
          </a:xfrm>
          <a:prstGeom prst="ellipse">
            <a:avLst/>
          </a:prstGeom>
          <a:solidFill>
            <a:srgbClr val="28C840"/>
          </a:solidFill>
          <a:ln w="12700">
            <a:solidFill>
              <a:srgbClr val="28C840"/>
            </a:solidFill>
            <a:prstDash val="solid"/>
          </a:ln>
        </p:spPr>
      </p:sp>
      <p:sp>
        <p:nvSpPr>
          <p:cNvPr id="27" name="Text 22"/>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8" name="Text 23"/>
          <p:cNvSpPr txBox="1"/>
          <p:nvPr/>
        </p:nvSpPr>
        <p:spPr>
          <a:xfrm>
            <a:off x="7589520" y="2331720"/>
            <a:ext cx="3959352" cy="2606040"/>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1: retained customers (churned = 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active = dataset.loc[dataset["churned"] == 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2: last login more than 30 days ago</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inactive = active.loc[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active["last_login_days"] &gt; 30]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3: 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inactive_count = len(inactive)        # 579</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4: combined monthly fees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inactive_revenue = inactive["monthly_fee"].sum()</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8591.21</a:t>
            </a:r>
            <a:endParaRPr lang="en-US" sz="950" dirty="0"/>
          </a:p>
        </p:txBody>
      </p:sp>
      <p:sp>
        <p:nvSpPr>
          <p:cNvPr id="29" name="Shape 24"/>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0" name="Shape 25"/>
          <p:cNvSpPr/>
          <p:nvPr/>
        </p:nvSpPr>
        <p:spPr>
          <a:xfrm>
            <a:off x="548640" y="5358384"/>
            <a:ext cx="54864" cy="704088"/>
          </a:xfrm>
          <a:prstGeom prst="rect">
            <a:avLst/>
          </a:prstGeom>
          <a:solidFill>
            <a:srgbClr val="E50914"/>
          </a:solidFill>
          <a:ln w="12700">
            <a:solidFill>
              <a:srgbClr val="E50914"/>
            </a:solidFill>
            <a:prstDash val="solid"/>
          </a:ln>
        </p:spPr>
      </p:sp>
      <p:pic>
        <p:nvPicPr>
          <p:cNvPr id="31" name="Image 3" descr="/tmp/claude-0/-home-claude/0afb8f05-6c65-583f-af33-ecd94b11a885/scratchpad/eda/assets/bulb.png">    </p:cNvPr>
          <p:cNvPicPr>
            <a:picLocks noChangeAspect="1"/>
          </p:cNvPicPr>
          <p:nvPr/>
        </p:nvPicPr>
        <p:blipFill>
          <a:blip r:embed="rId5"/>
          <a:stretch>
            <a:fillRect/>
          </a:stretch>
        </p:blipFill>
        <p:spPr>
          <a:xfrm>
            <a:off x="804672" y="5513832"/>
            <a:ext cx="384048" cy="384048"/>
          </a:xfrm>
          <a:prstGeom prst="rect">
            <a:avLst/>
          </a:prstGeom>
        </p:spPr>
      </p:pic>
      <p:sp>
        <p:nvSpPr>
          <p:cNvPr id="32" name="Text 26"/>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3" name="Text 27"/>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b="1" dirty="0">
                <a:solidFill>
                  <a:srgbClr val="F5F5F1"/>
                </a:solidFill>
                <a:latin typeface="Segoe UI" pitchFamily="34" charset="0"/>
                <a:ea typeface="Segoe UI" pitchFamily="34" charset="-122"/>
                <a:cs typeface="Segoe UI" pitchFamily="34" charset="-120"/>
              </a:rPr>
              <a:t>579 customers</a:t>
            </a:r>
            <a:pPr indent="0" marL="0">
              <a:buNone/>
            </a:pPr>
            <a:r>
              <a:rPr lang="en-US" sz="1200" dirty="0">
                <a:solidFill>
                  <a:srgbClr val="F5F5F1"/>
                </a:solidFill>
                <a:latin typeface="Segoe UI" pitchFamily="34" charset="0"/>
                <a:ea typeface="Segoe UI" pitchFamily="34" charset="-122"/>
                <a:cs typeface="Segoe UI" pitchFamily="34" charset="-120"/>
              </a:rPr>
              <a:t> are still subscribed but have not opened Netflix in over a month, together paying </a:t>
            </a:r>
            <a:pPr indent="0" marL="0">
              <a:buNone/>
            </a:pPr>
            <a:r>
              <a:rPr lang="en-US" sz="1200" b="1" dirty="0">
                <a:solidFill>
                  <a:srgbClr val="F5F5F1"/>
                </a:solidFill>
                <a:latin typeface="Segoe UI" pitchFamily="34" charset="0"/>
                <a:ea typeface="Segoe UI" pitchFamily="34" charset="-122"/>
                <a:cs typeface="Segoe UI" pitchFamily="34" charset="-120"/>
              </a:rPr>
              <a:t>$8,591.21 a month</a:t>
            </a:r>
            <a:pPr indent="0" marL="0">
              <a:buNone/>
            </a:pPr>
            <a:r>
              <a:rPr lang="en-US" sz="1200" dirty="0">
                <a:solidFill>
                  <a:srgbClr val="F5F5F1"/>
                </a:solidFill>
                <a:latin typeface="Segoe UI" pitchFamily="34" charset="0"/>
                <a:ea typeface="Segoe UI" pitchFamily="34" charset="-122"/>
                <a:cs typeface="Segoe UI" pitchFamily="34" charset="-120"/>
              </a:rPr>
              <a:t>. They sit in the same inactivity range where three in four customers have already churned, making them a priority group for re-engagement.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05  ·  PAYMENT BEHAVIOUR</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How much revenue depends on customers actively choosing to renew?</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Share of customers and monthly fees from manual payment methods (Gift Card and Crypto).</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11 / 27</a:t>
            </a:r>
            <a:endParaRPr lang="en-US" sz="900" dirty="0"/>
          </a:p>
        </p:txBody>
      </p:sp>
      <p:sp>
        <p:nvSpPr>
          <p:cNvPr id="10" name="Shape 7"/>
          <p:cNvSpPr/>
          <p:nvPr/>
        </p:nvSpPr>
        <p:spPr>
          <a:xfrm>
            <a:off x="548640" y="1920240"/>
            <a:ext cx="6629400" cy="1051560"/>
          </a:xfrm>
          <a:prstGeom prst="roundRect">
            <a:avLst>
              <a:gd name="adj" fmla="val 6957"/>
            </a:avLst>
          </a:prstGeom>
          <a:solidFill>
            <a:srgbClr val="151515"/>
          </a:solidFill>
          <a:ln w="9525">
            <a:solidFill>
              <a:srgbClr val="2A2A2A"/>
            </a:solidFill>
            <a:prstDash val="solid"/>
          </a:ln>
        </p:spPr>
      </p:sp>
      <p:pic>
        <p:nvPicPr>
          <p:cNvPr id="11" name="Image 1" descr="/tmp/claude-0/-home-claude/0afb8f05-6c65-583f-af33-ecd94b11a885/scratchpad/eda/assets/gift.png">    </p:cNvPr>
          <p:cNvPicPr>
            <a:picLocks noChangeAspect="1"/>
          </p:cNvPicPr>
          <p:nvPr/>
        </p:nvPicPr>
        <p:blipFill>
          <a:blip r:embed="rId3"/>
          <a:stretch>
            <a:fillRect/>
          </a:stretch>
        </p:blipFill>
        <p:spPr>
          <a:xfrm>
            <a:off x="777240" y="2130552"/>
            <a:ext cx="640080" cy="640080"/>
          </a:xfrm>
          <a:prstGeom prst="rect">
            <a:avLst/>
          </a:prstGeom>
        </p:spPr>
      </p:pic>
      <p:pic>
        <p:nvPicPr>
          <p:cNvPr id="12" name="Image 2" descr="/tmp/claude-0/-home-claude/0afb8f05-6c65-583f-af33-ecd94b11a885/scratchpad/eda/assets/crypto.png">    </p:cNvPr>
          <p:cNvPicPr>
            <a:picLocks noChangeAspect="1"/>
          </p:cNvPicPr>
          <p:nvPr/>
        </p:nvPicPr>
        <p:blipFill>
          <a:blip r:embed="rId4"/>
          <a:stretch>
            <a:fillRect/>
          </a:stretch>
        </p:blipFill>
        <p:spPr>
          <a:xfrm>
            <a:off x="1554480" y="2130552"/>
            <a:ext cx="640080" cy="640080"/>
          </a:xfrm>
          <a:prstGeom prst="rect">
            <a:avLst/>
          </a:prstGeom>
        </p:spPr>
      </p:pic>
      <p:sp>
        <p:nvSpPr>
          <p:cNvPr id="13" name="Text 8"/>
          <p:cNvSpPr txBox="1"/>
          <p:nvPr/>
        </p:nvSpPr>
        <p:spPr>
          <a:xfrm>
            <a:off x="2423160" y="2057400"/>
            <a:ext cx="3657600" cy="365760"/>
          </a:xfrm>
          <a:prstGeom prst="rect">
            <a:avLst/>
          </a:prstGeom>
          <a:noFill/>
          <a:ln/>
        </p:spPr>
        <p:txBody>
          <a:bodyPr wrap="square" lIns="0" tIns="0" rIns="0" bIns="0" rtlCol="0" anchor="ctr"/>
          <a:lstStyle/>
          <a:p>
            <a:pPr indent="0" marL="0">
              <a:buNone/>
            </a:pPr>
            <a:r>
              <a:rPr lang="en-US" sz="1600" b="1" dirty="0">
                <a:solidFill>
                  <a:srgbClr val="F5F5F1"/>
                </a:solidFill>
                <a:latin typeface="Segoe UI" pitchFamily="34" charset="0"/>
                <a:ea typeface="Segoe UI" pitchFamily="34" charset="-122"/>
                <a:cs typeface="Segoe UI" pitchFamily="34" charset="-120"/>
              </a:rPr>
              <a:t>Gift Card + Crypto</a:t>
            </a:r>
            <a:endParaRPr lang="en-US" sz="1600" dirty="0"/>
          </a:p>
        </p:txBody>
      </p:sp>
      <p:sp>
        <p:nvSpPr>
          <p:cNvPr id="14" name="Text 9"/>
          <p:cNvSpPr txBox="1"/>
          <p:nvPr/>
        </p:nvSpPr>
        <p:spPr>
          <a:xfrm>
            <a:off x="2423160" y="2423160"/>
            <a:ext cx="4572000" cy="32004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Payment methods that require customers to pay again manually</a:t>
            </a:r>
            <a:endParaRPr lang="en-US" sz="1100" dirty="0"/>
          </a:p>
        </p:txBody>
      </p:sp>
      <p:sp>
        <p:nvSpPr>
          <p:cNvPr id="15" name="Shape 10"/>
          <p:cNvSpPr/>
          <p:nvPr/>
        </p:nvSpPr>
        <p:spPr>
          <a:xfrm>
            <a:off x="548640" y="3081528"/>
            <a:ext cx="3264408" cy="914400"/>
          </a:xfrm>
          <a:prstGeom prst="roundRect">
            <a:avLst>
              <a:gd name="adj" fmla="val 8000"/>
            </a:avLst>
          </a:prstGeom>
          <a:solidFill>
            <a:srgbClr val="151515"/>
          </a:solidFill>
          <a:ln w="9525">
            <a:solidFill>
              <a:srgbClr val="2A2A2A"/>
            </a:solidFill>
            <a:prstDash val="solid"/>
          </a:ln>
        </p:spPr>
      </p:sp>
      <p:sp>
        <p:nvSpPr>
          <p:cNvPr id="16" name="Text 11"/>
          <p:cNvSpPr txBox="1"/>
          <p:nvPr/>
        </p:nvSpPr>
        <p:spPr>
          <a:xfrm>
            <a:off x="731520" y="3172968"/>
            <a:ext cx="2944368"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1,905</a:t>
            </a:r>
            <a:endParaRPr lang="en-US" sz="2000" dirty="0"/>
          </a:p>
        </p:txBody>
      </p:sp>
      <p:sp>
        <p:nvSpPr>
          <p:cNvPr id="17" name="Text 12"/>
          <p:cNvSpPr txBox="1"/>
          <p:nvPr/>
        </p:nvSpPr>
        <p:spPr>
          <a:xfrm>
            <a:off x="731520" y="3666744"/>
            <a:ext cx="2944368"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manual-payment customers</a:t>
            </a:r>
            <a:endParaRPr lang="en-US" sz="1000" dirty="0"/>
          </a:p>
        </p:txBody>
      </p:sp>
      <p:sp>
        <p:nvSpPr>
          <p:cNvPr id="18" name="Shape 13"/>
          <p:cNvSpPr/>
          <p:nvPr/>
        </p:nvSpPr>
        <p:spPr>
          <a:xfrm>
            <a:off x="3913632" y="3081528"/>
            <a:ext cx="3264408" cy="914400"/>
          </a:xfrm>
          <a:prstGeom prst="roundRect">
            <a:avLst>
              <a:gd name="adj" fmla="val 8000"/>
            </a:avLst>
          </a:prstGeom>
          <a:solidFill>
            <a:srgbClr val="151515"/>
          </a:solidFill>
          <a:ln w="9525">
            <a:solidFill>
              <a:srgbClr val="2A2A2A"/>
            </a:solidFill>
            <a:prstDash val="solid"/>
          </a:ln>
        </p:spPr>
      </p:sp>
      <p:sp>
        <p:nvSpPr>
          <p:cNvPr id="19" name="Text 14"/>
          <p:cNvSpPr txBox="1"/>
          <p:nvPr/>
        </p:nvSpPr>
        <p:spPr>
          <a:xfrm>
            <a:off x="4096512" y="3172968"/>
            <a:ext cx="2944368" cy="457200"/>
          </a:xfrm>
          <a:prstGeom prst="rect">
            <a:avLst/>
          </a:prstGeom>
          <a:noFill/>
          <a:ln/>
        </p:spPr>
        <p:txBody>
          <a:bodyPr wrap="square" lIns="0" tIns="0" rIns="0" bIns="0" rtlCol="0" anchor="b"/>
          <a:lstStyle/>
          <a:p>
            <a:pPr indent="0" marL="0">
              <a:buNone/>
            </a:pPr>
            <a:r>
              <a:rPr lang="en-US" sz="2000" b="1" dirty="0">
                <a:solidFill>
                  <a:srgbClr val="FF4D57"/>
                </a:solidFill>
                <a:latin typeface="Segoe UI" pitchFamily="34" charset="0"/>
                <a:ea typeface="Segoe UI" pitchFamily="34" charset="-122"/>
                <a:cs typeface="Segoe UI" pitchFamily="34" charset="-120"/>
              </a:rPr>
              <a:t>38.1%</a:t>
            </a:r>
            <a:endParaRPr lang="en-US" sz="2000" dirty="0"/>
          </a:p>
        </p:txBody>
      </p:sp>
      <p:sp>
        <p:nvSpPr>
          <p:cNvPr id="20" name="Text 15"/>
          <p:cNvSpPr txBox="1"/>
          <p:nvPr/>
        </p:nvSpPr>
        <p:spPr>
          <a:xfrm>
            <a:off x="4096512" y="3666744"/>
            <a:ext cx="2944368"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of all customers</a:t>
            </a:r>
            <a:endParaRPr lang="en-US" sz="1000" dirty="0"/>
          </a:p>
        </p:txBody>
      </p:sp>
      <p:sp>
        <p:nvSpPr>
          <p:cNvPr id="21" name="Shape 16"/>
          <p:cNvSpPr/>
          <p:nvPr/>
        </p:nvSpPr>
        <p:spPr>
          <a:xfrm>
            <a:off x="548640" y="4087368"/>
            <a:ext cx="3264408" cy="914400"/>
          </a:xfrm>
          <a:prstGeom prst="roundRect">
            <a:avLst>
              <a:gd name="adj" fmla="val 8000"/>
            </a:avLst>
          </a:prstGeom>
          <a:solidFill>
            <a:srgbClr val="151515"/>
          </a:solidFill>
          <a:ln w="9525">
            <a:solidFill>
              <a:srgbClr val="2A2A2A"/>
            </a:solidFill>
            <a:prstDash val="solid"/>
          </a:ln>
        </p:spPr>
      </p:sp>
      <p:sp>
        <p:nvSpPr>
          <p:cNvPr id="22" name="Text 17"/>
          <p:cNvSpPr txBox="1"/>
          <p:nvPr/>
        </p:nvSpPr>
        <p:spPr>
          <a:xfrm>
            <a:off x="731520" y="4178808"/>
            <a:ext cx="2944368"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$26,404.95</a:t>
            </a:r>
            <a:endParaRPr lang="en-US" sz="2000" dirty="0"/>
          </a:p>
        </p:txBody>
      </p:sp>
      <p:sp>
        <p:nvSpPr>
          <p:cNvPr id="23" name="Text 18"/>
          <p:cNvSpPr txBox="1"/>
          <p:nvPr/>
        </p:nvSpPr>
        <p:spPr>
          <a:xfrm>
            <a:off x="731520" y="4672584"/>
            <a:ext cx="2944368"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combined monthly fees</a:t>
            </a:r>
            <a:endParaRPr lang="en-US" sz="1000" dirty="0"/>
          </a:p>
        </p:txBody>
      </p:sp>
      <p:sp>
        <p:nvSpPr>
          <p:cNvPr id="24" name="Shape 19"/>
          <p:cNvSpPr/>
          <p:nvPr/>
        </p:nvSpPr>
        <p:spPr>
          <a:xfrm>
            <a:off x="3913632" y="4087368"/>
            <a:ext cx="3264408" cy="914400"/>
          </a:xfrm>
          <a:prstGeom prst="roundRect">
            <a:avLst>
              <a:gd name="adj" fmla="val 8000"/>
            </a:avLst>
          </a:prstGeom>
          <a:solidFill>
            <a:srgbClr val="151515"/>
          </a:solidFill>
          <a:ln w="9525">
            <a:solidFill>
              <a:srgbClr val="2A2A2A"/>
            </a:solidFill>
            <a:prstDash val="solid"/>
          </a:ln>
        </p:spPr>
      </p:sp>
      <p:sp>
        <p:nvSpPr>
          <p:cNvPr id="25" name="Text 20"/>
          <p:cNvSpPr txBox="1"/>
          <p:nvPr/>
        </p:nvSpPr>
        <p:spPr>
          <a:xfrm>
            <a:off x="4096512" y="4178808"/>
            <a:ext cx="2944368" cy="457200"/>
          </a:xfrm>
          <a:prstGeom prst="rect">
            <a:avLst/>
          </a:prstGeom>
          <a:noFill/>
          <a:ln/>
        </p:spPr>
        <p:txBody>
          <a:bodyPr wrap="square" lIns="0" tIns="0" rIns="0" bIns="0" rtlCol="0" anchor="b"/>
          <a:lstStyle/>
          <a:p>
            <a:pPr indent="0" marL="0">
              <a:buNone/>
            </a:pPr>
            <a:r>
              <a:rPr lang="en-US" sz="2000" b="1" dirty="0">
                <a:solidFill>
                  <a:srgbClr val="FF4D57"/>
                </a:solidFill>
                <a:latin typeface="Segoe UI" pitchFamily="34" charset="0"/>
                <a:ea typeface="Segoe UI" pitchFamily="34" charset="-122"/>
                <a:cs typeface="Segoe UI" pitchFamily="34" charset="-120"/>
              </a:rPr>
              <a:t>38.58%</a:t>
            </a:r>
            <a:endParaRPr lang="en-US" sz="2000" dirty="0"/>
          </a:p>
        </p:txBody>
      </p:sp>
      <p:sp>
        <p:nvSpPr>
          <p:cNvPr id="26" name="Text 21"/>
          <p:cNvSpPr txBox="1"/>
          <p:nvPr/>
        </p:nvSpPr>
        <p:spPr>
          <a:xfrm>
            <a:off x="4096512" y="4672584"/>
            <a:ext cx="2944368"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of total monthly fees</a:t>
            </a:r>
            <a:endParaRPr lang="en-US" sz="1000" dirty="0"/>
          </a:p>
        </p:txBody>
      </p:sp>
      <p:sp>
        <p:nvSpPr>
          <p:cNvPr id="27" name="Shape 22"/>
          <p:cNvSpPr/>
          <p:nvPr/>
        </p:nvSpPr>
        <p:spPr>
          <a:xfrm>
            <a:off x="7406640" y="1920240"/>
            <a:ext cx="4233672" cy="3145536"/>
          </a:xfrm>
          <a:prstGeom prst="roundRect">
            <a:avLst>
              <a:gd name="adj" fmla="val 1744"/>
            </a:avLst>
          </a:prstGeom>
          <a:solidFill>
            <a:srgbClr val="0E0E0E"/>
          </a:solidFill>
          <a:ln w="9525">
            <a:solidFill>
              <a:srgbClr val="2A2A2A"/>
            </a:solidFill>
            <a:prstDash val="solid"/>
          </a:ln>
        </p:spPr>
      </p:sp>
      <p:sp>
        <p:nvSpPr>
          <p:cNvPr id="28" name="Shape 23"/>
          <p:cNvSpPr/>
          <p:nvPr/>
        </p:nvSpPr>
        <p:spPr>
          <a:xfrm>
            <a:off x="7589520" y="2075688"/>
            <a:ext cx="91440" cy="91440"/>
          </a:xfrm>
          <a:prstGeom prst="ellipse">
            <a:avLst/>
          </a:prstGeom>
          <a:solidFill>
            <a:srgbClr val="FF5F57"/>
          </a:solidFill>
          <a:ln w="12700">
            <a:solidFill>
              <a:srgbClr val="FF5F57"/>
            </a:solidFill>
            <a:prstDash val="solid"/>
          </a:ln>
        </p:spPr>
      </p:sp>
      <p:sp>
        <p:nvSpPr>
          <p:cNvPr id="29" name="Shape 24"/>
          <p:cNvSpPr/>
          <p:nvPr/>
        </p:nvSpPr>
        <p:spPr>
          <a:xfrm>
            <a:off x="7754112" y="2075688"/>
            <a:ext cx="91440" cy="91440"/>
          </a:xfrm>
          <a:prstGeom prst="ellipse">
            <a:avLst/>
          </a:prstGeom>
          <a:solidFill>
            <a:srgbClr val="FEBC2E"/>
          </a:solidFill>
          <a:ln w="12700">
            <a:solidFill>
              <a:srgbClr val="FEBC2E"/>
            </a:solidFill>
            <a:prstDash val="solid"/>
          </a:ln>
        </p:spPr>
      </p:sp>
      <p:sp>
        <p:nvSpPr>
          <p:cNvPr id="30" name="Shape 25"/>
          <p:cNvSpPr/>
          <p:nvPr/>
        </p:nvSpPr>
        <p:spPr>
          <a:xfrm>
            <a:off x="7918704" y="2075688"/>
            <a:ext cx="91440" cy="91440"/>
          </a:xfrm>
          <a:prstGeom prst="ellipse">
            <a:avLst/>
          </a:prstGeom>
          <a:solidFill>
            <a:srgbClr val="28C840"/>
          </a:solidFill>
          <a:ln w="12700">
            <a:solidFill>
              <a:srgbClr val="28C840"/>
            </a:solidFill>
            <a:prstDash val="solid"/>
          </a:ln>
        </p:spPr>
      </p:sp>
      <p:sp>
        <p:nvSpPr>
          <p:cNvPr id="31" name="Text 26"/>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2" name="Text 27"/>
          <p:cNvSpPr txBox="1"/>
          <p:nvPr/>
        </p:nvSpPr>
        <p:spPr>
          <a:xfrm>
            <a:off x="7589520" y="2331720"/>
            <a:ext cx="3959352" cy="2642616"/>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Step 1: Gift Card or Crypto customers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manual_customers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dataset["payment_method"].isin(</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["Gift Card", "Crypto"])]</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manual_count = len(manual_customers)   # 1905</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manual_payment_share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manual_count / len(dataset)) * 100  # 38.1</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manual_fee = manual_customers["monthly_fee"].sum()</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total_fee = dataset["monthly_fee"].sum()</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manual_revenue_share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manual_fee / total_fee) * 100      # 38.58</a:t>
            </a:r>
            <a:endParaRPr lang="en-US" sz="950" dirty="0"/>
          </a:p>
        </p:txBody>
      </p:sp>
      <p:sp>
        <p:nvSpPr>
          <p:cNvPr id="33" name="Shape 28"/>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4" name="Shape 29"/>
          <p:cNvSpPr/>
          <p:nvPr/>
        </p:nvSpPr>
        <p:spPr>
          <a:xfrm>
            <a:off x="548640" y="5358384"/>
            <a:ext cx="54864" cy="704088"/>
          </a:xfrm>
          <a:prstGeom prst="rect">
            <a:avLst/>
          </a:prstGeom>
          <a:solidFill>
            <a:srgbClr val="E50914"/>
          </a:solidFill>
          <a:ln w="12700">
            <a:solidFill>
              <a:srgbClr val="E50914"/>
            </a:solidFill>
            <a:prstDash val="solid"/>
          </a:ln>
        </p:spPr>
      </p:sp>
      <p:pic>
        <p:nvPicPr>
          <p:cNvPr id="35" name="Image 3" descr="/tmp/claude-0/-home-claude/0afb8f05-6c65-583f-af33-ecd94b11a885/scratchpad/eda/assets/bulb.png">    </p:cNvPr>
          <p:cNvPicPr>
            <a:picLocks noChangeAspect="1"/>
          </p:cNvPicPr>
          <p:nvPr/>
        </p:nvPicPr>
        <p:blipFill>
          <a:blip r:embed="rId5"/>
          <a:stretch>
            <a:fillRect/>
          </a:stretch>
        </p:blipFill>
        <p:spPr>
          <a:xfrm>
            <a:off x="804672" y="5513832"/>
            <a:ext cx="384048" cy="384048"/>
          </a:xfrm>
          <a:prstGeom prst="rect">
            <a:avLst/>
          </a:prstGeom>
        </p:spPr>
      </p:pic>
      <p:sp>
        <p:nvSpPr>
          <p:cNvPr id="36" name="Text 30"/>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7" name="Text 31"/>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More than a third of the business renews by choice rather than automatically. </a:t>
            </a:r>
            <a:pPr indent="0" marL="0">
              <a:buNone/>
            </a:pPr>
            <a:r>
              <a:rPr lang="en-US" sz="1200" b="1" dirty="0">
                <a:solidFill>
                  <a:srgbClr val="F5F5F1"/>
                </a:solidFill>
                <a:latin typeface="Segoe UI" pitchFamily="34" charset="0"/>
                <a:ea typeface="Segoe UI" pitchFamily="34" charset="-122"/>
                <a:cs typeface="Segoe UI" pitchFamily="34" charset="-120"/>
              </a:rPr>
              <a:t>1,905 customers (38.1%)</a:t>
            </a:r>
            <a:pPr indent="0" marL="0">
              <a:buNone/>
            </a:pPr>
            <a:r>
              <a:rPr lang="en-US" sz="1200" dirty="0">
                <a:solidFill>
                  <a:srgbClr val="F5F5F1"/>
                </a:solidFill>
                <a:latin typeface="Segoe UI" pitchFamily="34" charset="0"/>
                <a:ea typeface="Segoe UI" pitchFamily="34" charset="-122"/>
                <a:cs typeface="Segoe UI" pitchFamily="34" charset="-120"/>
              </a:rPr>
              <a:t> pay by Gift Card or Crypto, accounting for </a:t>
            </a:r>
            <a:pPr indent="0" marL="0">
              <a:buNone/>
            </a:pPr>
            <a:r>
              <a:rPr lang="en-US" sz="1200" b="1" dirty="0">
                <a:solidFill>
                  <a:srgbClr val="F5F5F1"/>
                </a:solidFill>
                <a:latin typeface="Segoe UI" pitchFamily="34" charset="0"/>
                <a:ea typeface="Segoe UI" pitchFamily="34" charset="-122"/>
                <a:cs typeface="Segoe UI" pitchFamily="34" charset="-120"/>
              </a:rPr>
              <a:t>$26,404.95 a month, 38.58% of all subscription fees</a:t>
            </a:r>
            <a:pPr indent="0" marL="0">
              <a:buNone/>
            </a:pPr>
            <a:r>
              <a:rPr lang="en-US" sz="1200" dirty="0">
                <a:solidFill>
                  <a:srgbClr val="F5F5F1"/>
                </a:solidFill>
                <a:latin typeface="Segoe UI" pitchFamily="34" charset="0"/>
                <a:ea typeface="Segoe UI" pitchFamily="34" charset="-122"/>
                <a:cs typeface="Segoe UI" pitchFamily="34" charset="-120"/>
              </a:rPr>
              <a:t>, revenue that continues only if each customer actively decides to pay again.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06  ·  INACTIVITY DANGER ZONE</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How does churn rate change as last login days increase, and is there a point where churn rises sharply?</a:t>
            </a:r>
            <a:endParaRPr lang="en-US" sz="2200" dirty="0"/>
          </a:p>
        </p:txBody>
      </p:sp>
      <p:sp>
        <p:nvSpPr>
          <p:cNvPr id="6" name="Shape 3"/>
          <p:cNvSpPr/>
          <p:nvPr/>
        </p:nvSpPr>
        <p:spPr>
          <a:xfrm>
            <a:off x="548640" y="6355080"/>
            <a:ext cx="11091672" cy="0"/>
          </a:xfrm>
          <a:prstGeom prst="line">
            <a:avLst/>
          </a:prstGeom>
          <a:noFill/>
          <a:ln w="9525">
            <a:solidFill>
              <a:srgbClr val="2A2A2A"/>
            </a:solidFill>
            <a:prstDash val="solid"/>
          </a:ln>
        </p:spPr>
      </p:sp>
      <p:sp>
        <p:nvSpPr>
          <p:cNvPr id="7" name="Text 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8" name="Text 5"/>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12 / 27</a:t>
            </a:r>
            <a:endParaRPr lang="en-US" sz="900" dirty="0"/>
          </a:p>
        </p:txBody>
      </p:sp>
      <p:sp>
        <p:nvSpPr>
          <p:cNvPr id="9" name="Shape 6"/>
          <p:cNvSpPr/>
          <p:nvPr/>
        </p:nvSpPr>
        <p:spPr>
          <a:xfrm>
            <a:off x="548640" y="1691640"/>
            <a:ext cx="1261872" cy="1828800"/>
          </a:xfrm>
          <a:prstGeom prst="roundRect">
            <a:avLst>
              <a:gd name="adj" fmla="val 5797"/>
            </a:avLst>
          </a:prstGeom>
          <a:solidFill>
            <a:srgbClr val="151515"/>
          </a:solidFill>
          <a:ln w="9525">
            <a:solidFill>
              <a:srgbClr val="2A2A2A"/>
            </a:solidFill>
            <a:prstDash val="solid"/>
          </a:ln>
        </p:spPr>
      </p:sp>
      <p:sp>
        <p:nvSpPr>
          <p:cNvPr id="10" name="Text 7"/>
          <p:cNvSpPr txBox="1"/>
          <p:nvPr/>
        </p:nvSpPr>
        <p:spPr>
          <a:xfrm>
            <a:off x="685800" y="1828800"/>
            <a:ext cx="1005840" cy="274320"/>
          </a:xfrm>
          <a:prstGeom prst="rect">
            <a:avLst/>
          </a:prstGeom>
          <a:noFill/>
          <a:ln/>
        </p:spPr>
        <p:txBody>
          <a:bodyPr wrap="square" lIns="0" tIns="0" rIns="0" bIns="0" rtlCol="0" anchor="ctr"/>
          <a:lstStyle/>
          <a:p>
            <a:pPr indent="0" marL="0">
              <a:buNone/>
            </a:pPr>
            <a:r>
              <a:rPr lang="en-US" sz="1100" b="1" dirty="0">
                <a:solidFill>
                  <a:srgbClr val="A6A6A6"/>
                </a:solidFill>
                <a:latin typeface="Segoe UI" pitchFamily="34" charset="0"/>
                <a:ea typeface="Segoe UI" pitchFamily="34" charset="-122"/>
                <a:cs typeface="Segoe UI" pitchFamily="34" charset="-120"/>
              </a:rPr>
              <a:t>0–7 days</a:t>
            </a:r>
            <a:endParaRPr lang="en-US" sz="1100" dirty="0"/>
          </a:p>
        </p:txBody>
      </p:sp>
      <p:sp>
        <p:nvSpPr>
          <p:cNvPr id="11" name="Text 8"/>
          <p:cNvSpPr txBox="1"/>
          <p:nvPr/>
        </p:nvSpPr>
        <p:spPr>
          <a:xfrm>
            <a:off x="685800" y="2194560"/>
            <a:ext cx="1051560" cy="502920"/>
          </a:xfrm>
          <a:prstGeom prst="rect">
            <a:avLst/>
          </a:prstGeom>
          <a:noFill/>
          <a:ln/>
        </p:spPr>
        <p:txBody>
          <a:bodyPr wrap="square" lIns="0" tIns="0" rIns="0" bIns="0" rtlCol="0" anchor="ctr"/>
          <a:lstStyle/>
          <a:p>
            <a:pPr indent="0" marL="0">
              <a:buNone/>
            </a:pPr>
            <a:r>
              <a:rPr lang="en-US" sz="2100" b="1" dirty="0">
                <a:solidFill>
                  <a:srgbClr val="F5F5F1"/>
                </a:solidFill>
                <a:latin typeface="Segoe UI" pitchFamily="34" charset="0"/>
                <a:ea typeface="Segoe UI" pitchFamily="34" charset="-122"/>
                <a:cs typeface="Segoe UI" pitchFamily="34" charset="-120"/>
              </a:rPr>
              <a:t>13.43%</a:t>
            </a:r>
            <a:endParaRPr lang="en-US" sz="2100" dirty="0"/>
          </a:p>
        </p:txBody>
      </p:sp>
      <p:sp>
        <p:nvSpPr>
          <p:cNvPr id="12" name="Text 9"/>
          <p:cNvSpPr txBox="1"/>
          <p:nvPr/>
        </p:nvSpPr>
        <p:spPr>
          <a:xfrm>
            <a:off x="685800" y="2697480"/>
            <a:ext cx="1005840" cy="228600"/>
          </a:xfrm>
          <a:prstGeom prst="rect">
            <a:avLst/>
          </a:prstGeom>
          <a:noFill/>
          <a:ln/>
        </p:spPr>
        <p:txBody>
          <a:bodyPr wrap="square" lIns="0" tIns="0" rIns="0" bIns="0" rtlCol="0" anchor="ctr"/>
          <a:lstStyle/>
          <a:p>
            <a:pPr indent="0" marL="0">
              <a:buNone/>
            </a:pPr>
            <a:r>
              <a:rPr lang="en-US" sz="950" dirty="0">
                <a:solidFill>
                  <a:srgbClr val="A6A6A6"/>
                </a:solidFill>
                <a:latin typeface="Segoe UI" pitchFamily="34" charset="0"/>
                <a:ea typeface="Segoe UI" pitchFamily="34" charset="-122"/>
                <a:cs typeface="Segoe UI" pitchFamily="34" charset="-120"/>
              </a:rPr>
              <a:t>churn rate</a:t>
            </a:r>
            <a:endParaRPr lang="en-US" sz="950" dirty="0"/>
          </a:p>
        </p:txBody>
      </p:sp>
      <p:sp>
        <p:nvSpPr>
          <p:cNvPr id="13" name="Text 10"/>
          <p:cNvSpPr txBox="1"/>
          <p:nvPr/>
        </p:nvSpPr>
        <p:spPr>
          <a:xfrm>
            <a:off x="685800" y="3017520"/>
            <a:ext cx="1051560" cy="365760"/>
          </a:xfrm>
          <a:prstGeom prst="rect">
            <a:avLst/>
          </a:prstGeom>
          <a:noFill/>
          <a:ln/>
        </p:spPr>
        <p:txBody>
          <a:bodyPr wrap="square" lIns="0" tIns="0" rIns="0" bIns="0" rtlCol="0" anchor="t"/>
          <a:lstStyle/>
          <a:p>
            <a:pPr indent="0" marL="0">
              <a:buNone/>
            </a:pPr>
            <a:r>
              <a:rPr lang="en-US" sz="1000" dirty="0">
                <a:solidFill>
                  <a:srgbClr val="F5F5F1"/>
                </a:solidFill>
                <a:latin typeface="Segoe UI" pitchFamily="34" charset="0"/>
                <a:ea typeface="Segoe UI" pitchFamily="34" charset="-122"/>
                <a:cs typeface="Segoe UI" pitchFamily="34" charset="-120"/>
              </a:rPr>
              <a:t>83 of 618 left</a:t>
            </a:r>
            <a:endParaRPr lang="en-US" sz="1000" dirty="0"/>
          </a:p>
        </p:txBody>
      </p:sp>
      <p:sp>
        <p:nvSpPr>
          <p:cNvPr id="14" name="Shape 11"/>
          <p:cNvSpPr/>
          <p:nvPr/>
        </p:nvSpPr>
        <p:spPr>
          <a:xfrm>
            <a:off x="1901952" y="1691640"/>
            <a:ext cx="1261872" cy="1828800"/>
          </a:xfrm>
          <a:prstGeom prst="roundRect">
            <a:avLst>
              <a:gd name="adj" fmla="val 5797"/>
            </a:avLst>
          </a:prstGeom>
          <a:solidFill>
            <a:srgbClr val="151515"/>
          </a:solidFill>
          <a:ln w="9525">
            <a:solidFill>
              <a:srgbClr val="2A2A2A"/>
            </a:solidFill>
            <a:prstDash val="solid"/>
          </a:ln>
        </p:spPr>
      </p:sp>
      <p:sp>
        <p:nvSpPr>
          <p:cNvPr id="15" name="Text 12"/>
          <p:cNvSpPr txBox="1"/>
          <p:nvPr/>
        </p:nvSpPr>
        <p:spPr>
          <a:xfrm>
            <a:off x="2039112" y="1828800"/>
            <a:ext cx="1005840" cy="274320"/>
          </a:xfrm>
          <a:prstGeom prst="rect">
            <a:avLst/>
          </a:prstGeom>
          <a:noFill/>
          <a:ln/>
        </p:spPr>
        <p:txBody>
          <a:bodyPr wrap="square" lIns="0" tIns="0" rIns="0" bIns="0" rtlCol="0" anchor="ctr"/>
          <a:lstStyle/>
          <a:p>
            <a:pPr indent="0" marL="0">
              <a:buNone/>
            </a:pPr>
            <a:r>
              <a:rPr lang="en-US" sz="1100" b="1" dirty="0">
                <a:solidFill>
                  <a:srgbClr val="A6A6A6"/>
                </a:solidFill>
                <a:latin typeface="Segoe UI" pitchFamily="34" charset="0"/>
                <a:ea typeface="Segoe UI" pitchFamily="34" charset="-122"/>
                <a:cs typeface="Segoe UI" pitchFamily="34" charset="-120"/>
              </a:rPr>
              <a:t>8–14 days</a:t>
            </a:r>
            <a:endParaRPr lang="en-US" sz="1100" dirty="0"/>
          </a:p>
        </p:txBody>
      </p:sp>
      <p:sp>
        <p:nvSpPr>
          <p:cNvPr id="16" name="Text 13"/>
          <p:cNvSpPr txBox="1"/>
          <p:nvPr/>
        </p:nvSpPr>
        <p:spPr>
          <a:xfrm>
            <a:off x="2039112" y="2194560"/>
            <a:ext cx="1051560" cy="502920"/>
          </a:xfrm>
          <a:prstGeom prst="rect">
            <a:avLst/>
          </a:prstGeom>
          <a:noFill/>
          <a:ln/>
        </p:spPr>
        <p:txBody>
          <a:bodyPr wrap="square" lIns="0" tIns="0" rIns="0" bIns="0" rtlCol="0" anchor="ctr"/>
          <a:lstStyle/>
          <a:p>
            <a:pPr indent="0" marL="0">
              <a:buNone/>
            </a:pPr>
            <a:r>
              <a:rPr lang="en-US" sz="2100" b="1" dirty="0">
                <a:solidFill>
                  <a:srgbClr val="F5F5F1"/>
                </a:solidFill>
                <a:latin typeface="Segoe UI" pitchFamily="34" charset="0"/>
                <a:ea typeface="Segoe UI" pitchFamily="34" charset="-122"/>
                <a:cs typeface="Segoe UI" pitchFamily="34" charset="-120"/>
              </a:rPr>
              <a:t>26.89%</a:t>
            </a:r>
            <a:endParaRPr lang="en-US" sz="2100" dirty="0"/>
          </a:p>
        </p:txBody>
      </p:sp>
      <p:sp>
        <p:nvSpPr>
          <p:cNvPr id="17" name="Text 14"/>
          <p:cNvSpPr txBox="1"/>
          <p:nvPr/>
        </p:nvSpPr>
        <p:spPr>
          <a:xfrm>
            <a:off x="2039112" y="2697480"/>
            <a:ext cx="1005840" cy="228600"/>
          </a:xfrm>
          <a:prstGeom prst="rect">
            <a:avLst/>
          </a:prstGeom>
          <a:noFill/>
          <a:ln/>
        </p:spPr>
        <p:txBody>
          <a:bodyPr wrap="square" lIns="0" tIns="0" rIns="0" bIns="0" rtlCol="0" anchor="ctr"/>
          <a:lstStyle/>
          <a:p>
            <a:pPr indent="0" marL="0">
              <a:buNone/>
            </a:pPr>
            <a:r>
              <a:rPr lang="en-US" sz="950" dirty="0">
                <a:solidFill>
                  <a:srgbClr val="A6A6A6"/>
                </a:solidFill>
                <a:latin typeface="Segoe UI" pitchFamily="34" charset="0"/>
                <a:ea typeface="Segoe UI" pitchFamily="34" charset="-122"/>
                <a:cs typeface="Segoe UI" pitchFamily="34" charset="-120"/>
              </a:rPr>
              <a:t>churn rate</a:t>
            </a:r>
            <a:endParaRPr lang="en-US" sz="950" dirty="0"/>
          </a:p>
        </p:txBody>
      </p:sp>
      <p:sp>
        <p:nvSpPr>
          <p:cNvPr id="18" name="Text 15"/>
          <p:cNvSpPr txBox="1"/>
          <p:nvPr/>
        </p:nvSpPr>
        <p:spPr>
          <a:xfrm>
            <a:off x="2039112" y="3017520"/>
            <a:ext cx="1051560" cy="365760"/>
          </a:xfrm>
          <a:prstGeom prst="rect">
            <a:avLst/>
          </a:prstGeom>
          <a:noFill/>
          <a:ln/>
        </p:spPr>
        <p:txBody>
          <a:bodyPr wrap="square" lIns="0" tIns="0" rIns="0" bIns="0" rtlCol="0" anchor="t"/>
          <a:lstStyle/>
          <a:p>
            <a:pPr indent="0" marL="0">
              <a:buNone/>
            </a:pPr>
            <a:r>
              <a:rPr lang="en-US" sz="1000" dirty="0">
                <a:solidFill>
                  <a:srgbClr val="F5F5F1"/>
                </a:solidFill>
                <a:latin typeface="Segoe UI" pitchFamily="34" charset="0"/>
                <a:ea typeface="Segoe UI" pitchFamily="34" charset="-122"/>
                <a:cs typeface="Segoe UI" pitchFamily="34" charset="-120"/>
              </a:rPr>
              <a:t>142 of 528 left</a:t>
            </a:r>
            <a:endParaRPr lang="en-US" sz="1000" dirty="0"/>
          </a:p>
        </p:txBody>
      </p:sp>
      <p:sp>
        <p:nvSpPr>
          <p:cNvPr id="19" name="Shape 16"/>
          <p:cNvSpPr/>
          <p:nvPr/>
        </p:nvSpPr>
        <p:spPr>
          <a:xfrm>
            <a:off x="3255264" y="1691640"/>
            <a:ext cx="1261872" cy="1828800"/>
          </a:xfrm>
          <a:prstGeom prst="roundRect">
            <a:avLst>
              <a:gd name="adj" fmla="val 5797"/>
            </a:avLst>
          </a:prstGeom>
          <a:solidFill>
            <a:srgbClr val="151515"/>
          </a:solidFill>
          <a:ln w="9525">
            <a:solidFill>
              <a:srgbClr val="2A2A2A"/>
            </a:solidFill>
            <a:prstDash val="solid"/>
          </a:ln>
        </p:spPr>
      </p:sp>
      <p:sp>
        <p:nvSpPr>
          <p:cNvPr id="20" name="Text 17"/>
          <p:cNvSpPr txBox="1"/>
          <p:nvPr/>
        </p:nvSpPr>
        <p:spPr>
          <a:xfrm>
            <a:off x="3392424" y="1828800"/>
            <a:ext cx="1005840" cy="274320"/>
          </a:xfrm>
          <a:prstGeom prst="rect">
            <a:avLst/>
          </a:prstGeom>
          <a:noFill/>
          <a:ln/>
        </p:spPr>
        <p:txBody>
          <a:bodyPr wrap="square" lIns="0" tIns="0" rIns="0" bIns="0" rtlCol="0" anchor="ctr"/>
          <a:lstStyle/>
          <a:p>
            <a:pPr indent="0" marL="0">
              <a:buNone/>
            </a:pPr>
            <a:r>
              <a:rPr lang="en-US" sz="1100" b="1" dirty="0">
                <a:solidFill>
                  <a:srgbClr val="A6A6A6"/>
                </a:solidFill>
                <a:latin typeface="Segoe UI" pitchFamily="34" charset="0"/>
                <a:ea typeface="Segoe UI" pitchFamily="34" charset="-122"/>
                <a:cs typeface="Segoe UI" pitchFamily="34" charset="-120"/>
              </a:rPr>
              <a:t>15–30 days</a:t>
            </a:r>
            <a:endParaRPr lang="en-US" sz="1100" dirty="0"/>
          </a:p>
        </p:txBody>
      </p:sp>
      <p:sp>
        <p:nvSpPr>
          <p:cNvPr id="21" name="Text 18"/>
          <p:cNvSpPr txBox="1"/>
          <p:nvPr/>
        </p:nvSpPr>
        <p:spPr>
          <a:xfrm>
            <a:off x="3392424" y="2194560"/>
            <a:ext cx="1051560" cy="502920"/>
          </a:xfrm>
          <a:prstGeom prst="rect">
            <a:avLst/>
          </a:prstGeom>
          <a:noFill/>
          <a:ln/>
        </p:spPr>
        <p:txBody>
          <a:bodyPr wrap="square" lIns="0" tIns="0" rIns="0" bIns="0" rtlCol="0" anchor="ctr"/>
          <a:lstStyle/>
          <a:p>
            <a:pPr indent="0" marL="0">
              <a:buNone/>
            </a:pPr>
            <a:r>
              <a:rPr lang="en-US" sz="2100" b="1" dirty="0">
                <a:solidFill>
                  <a:srgbClr val="F5F5F1"/>
                </a:solidFill>
                <a:latin typeface="Segoe UI" pitchFamily="34" charset="0"/>
                <a:ea typeface="Segoe UI" pitchFamily="34" charset="-122"/>
                <a:cs typeface="Segoe UI" pitchFamily="34" charset="-120"/>
              </a:rPr>
              <a:t>34.38%</a:t>
            </a:r>
            <a:endParaRPr lang="en-US" sz="2100" dirty="0"/>
          </a:p>
        </p:txBody>
      </p:sp>
      <p:sp>
        <p:nvSpPr>
          <p:cNvPr id="22" name="Text 19"/>
          <p:cNvSpPr txBox="1"/>
          <p:nvPr/>
        </p:nvSpPr>
        <p:spPr>
          <a:xfrm>
            <a:off x="3392424" y="2697480"/>
            <a:ext cx="1005840" cy="228600"/>
          </a:xfrm>
          <a:prstGeom prst="rect">
            <a:avLst/>
          </a:prstGeom>
          <a:noFill/>
          <a:ln/>
        </p:spPr>
        <p:txBody>
          <a:bodyPr wrap="square" lIns="0" tIns="0" rIns="0" bIns="0" rtlCol="0" anchor="ctr"/>
          <a:lstStyle/>
          <a:p>
            <a:pPr indent="0" marL="0">
              <a:buNone/>
            </a:pPr>
            <a:r>
              <a:rPr lang="en-US" sz="950" dirty="0">
                <a:solidFill>
                  <a:srgbClr val="A6A6A6"/>
                </a:solidFill>
                <a:latin typeface="Segoe UI" pitchFamily="34" charset="0"/>
                <a:ea typeface="Segoe UI" pitchFamily="34" charset="-122"/>
                <a:cs typeface="Segoe UI" pitchFamily="34" charset="-120"/>
              </a:rPr>
              <a:t>churn rate</a:t>
            </a:r>
            <a:endParaRPr lang="en-US" sz="950" dirty="0"/>
          </a:p>
        </p:txBody>
      </p:sp>
      <p:sp>
        <p:nvSpPr>
          <p:cNvPr id="23" name="Text 20"/>
          <p:cNvSpPr txBox="1"/>
          <p:nvPr/>
        </p:nvSpPr>
        <p:spPr>
          <a:xfrm>
            <a:off x="3392424" y="3017520"/>
            <a:ext cx="1051560" cy="365760"/>
          </a:xfrm>
          <a:prstGeom prst="rect">
            <a:avLst/>
          </a:prstGeom>
          <a:noFill/>
          <a:ln/>
        </p:spPr>
        <p:txBody>
          <a:bodyPr wrap="square" lIns="0" tIns="0" rIns="0" bIns="0" rtlCol="0" anchor="t"/>
          <a:lstStyle/>
          <a:p>
            <a:pPr indent="0" marL="0">
              <a:buNone/>
            </a:pPr>
            <a:r>
              <a:rPr lang="en-US" sz="1000" dirty="0">
                <a:solidFill>
                  <a:srgbClr val="F5F5F1"/>
                </a:solidFill>
                <a:latin typeface="Segoe UI" pitchFamily="34" charset="0"/>
                <a:ea typeface="Segoe UI" pitchFamily="34" charset="-122"/>
                <a:cs typeface="Segoe UI" pitchFamily="34" charset="-120"/>
              </a:rPr>
              <a:t>516 of 1,501 left</a:t>
            </a:r>
            <a:endParaRPr lang="en-US" sz="1000" dirty="0"/>
          </a:p>
        </p:txBody>
      </p:sp>
      <p:sp>
        <p:nvSpPr>
          <p:cNvPr id="24" name="Shape 21"/>
          <p:cNvSpPr/>
          <p:nvPr/>
        </p:nvSpPr>
        <p:spPr>
          <a:xfrm>
            <a:off x="4608576" y="1691640"/>
            <a:ext cx="1261872" cy="1828800"/>
          </a:xfrm>
          <a:prstGeom prst="roundRect">
            <a:avLst>
              <a:gd name="adj" fmla="val 5797"/>
            </a:avLst>
          </a:prstGeom>
          <a:solidFill>
            <a:srgbClr val="1E0B0D"/>
          </a:solidFill>
          <a:ln w="12700">
            <a:solidFill>
              <a:srgbClr val="E50914"/>
            </a:solidFill>
            <a:prstDash val="solid"/>
          </a:ln>
        </p:spPr>
      </p:sp>
      <p:sp>
        <p:nvSpPr>
          <p:cNvPr id="25" name="Text 22"/>
          <p:cNvSpPr txBox="1"/>
          <p:nvPr/>
        </p:nvSpPr>
        <p:spPr>
          <a:xfrm>
            <a:off x="4745736" y="1828800"/>
            <a:ext cx="1005840" cy="274320"/>
          </a:xfrm>
          <a:prstGeom prst="rect">
            <a:avLst/>
          </a:prstGeom>
          <a:noFill/>
          <a:ln/>
        </p:spPr>
        <p:txBody>
          <a:bodyPr wrap="square" lIns="0" tIns="0" rIns="0" bIns="0" rtlCol="0" anchor="ctr"/>
          <a:lstStyle/>
          <a:p>
            <a:pPr indent="0" marL="0">
              <a:buNone/>
            </a:pPr>
            <a:r>
              <a:rPr lang="en-US" sz="1100" b="1" dirty="0">
                <a:solidFill>
                  <a:srgbClr val="FF4D57"/>
                </a:solidFill>
                <a:latin typeface="Segoe UI" pitchFamily="34" charset="0"/>
                <a:ea typeface="Segoe UI" pitchFamily="34" charset="-122"/>
                <a:cs typeface="Segoe UI" pitchFamily="34" charset="-120"/>
              </a:rPr>
              <a:t>31–45 days</a:t>
            </a:r>
            <a:endParaRPr lang="en-US" sz="1100" dirty="0"/>
          </a:p>
        </p:txBody>
      </p:sp>
      <p:sp>
        <p:nvSpPr>
          <p:cNvPr id="26" name="Text 23"/>
          <p:cNvSpPr txBox="1"/>
          <p:nvPr/>
        </p:nvSpPr>
        <p:spPr>
          <a:xfrm>
            <a:off x="4745736" y="2194560"/>
            <a:ext cx="1051560" cy="502920"/>
          </a:xfrm>
          <a:prstGeom prst="rect">
            <a:avLst/>
          </a:prstGeom>
          <a:noFill/>
          <a:ln/>
        </p:spPr>
        <p:txBody>
          <a:bodyPr wrap="square" lIns="0" tIns="0" rIns="0" bIns="0" rtlCol="0" anchor="ctr"/>
          <a:lstStyle/>
          <a:p>
            <a:pPr indent="0" marL="0">
              <a:buNone/>
            </a:pPr>
            <a:r>
              <a:rPr lang="en-US" sz="2100" b="1" dirty="0">
                <a:solidFill>
                  <a:srgbClr val="FF4D57"/>
                </a:solidFill>
                <a:latin typeface="Segoe UI" pitchFamily="34" charset="0"/>
                <a:ea typeface="Segoe UI" pitchFamily="34" charset="-122"/>
                <a:cs typeface="Segoe UI" pitchFamily="34" charset="-120"/>
              </a:rPr>
              <a:t>75.17%</a:t>
            </a:r>
            <a:endParaRPr lang="en-US" sz="2100" dirty="0"/>
          </a:p>
        </p:txBody>
      </p:sp>
      <p:sp>
        <p:nvSpPr>
          <p:cNvPr id="27" name="Text 24"/>
          <p:cNvSpPr txBox="1"/>
          <p:nvPr/>
        </p:nvSpPr>
        <p:spPr>
          <a:xfrm>
            <a:off x="4745736" y="2697480"/>
            <a:ext cx="1005840" cy="228600"/>
          </a:xfrm>
          <a:prstGeom prst="rect">
            <a:avLst/>
          </a:prstGeom>
          <a:noFill/>
          <a:ln/>
        </p:spPr>
        <p:txBody>
          <a:bodyPr wrap="square" lIns="0" tIns="0" rIns="0" bIns="0" rtlCol="0" anchor="ctr"/>
          <a:lstStyle/>
          <a:p>
            <a:pPr indent="0" marL="0">
              <a:buNone/>
            </a:pPr>
            <a:r>
              <a:rPr lang="en-US" sz="950" dirty="0">
                <a:solidFill>
                  <a:srgbClr val="A6A6A6"/>
                </a:solidFill>
                <a:latin typeface="Segoe UI" pitchFamily="34" charset="0"/>
                <a:ea typeface="Segoe UI" pitchFamily="34" charset="-122"/>
                <a:cs typeface="Segoe UI" pitchFamily="34" charset="-120"/>
              </a:rPr>
              <a:t>churn rate</a:t>
            </a:r>
            <a:endParaRPr lang="en-US" sz="950" dirty="0"/>
          </a:p>
        </p:txBody>
      </p:sp>
      <p:sp>
        <p:nvSpPr>
          <p:cNvPr id="28" name="Text 25"/>
          <p:cNvSpPr txBox="1"/>
          <p:nvPr/>
        </p:nvSpPr>
        <p:spPr>
          <a:xfrm>
            <a:off x="4745736" y="3017520"/>
            <a:ext cx="1051560" cy="365760"/>
          </a:xfrm>
          <a:prstGeom prst="rect">
            <a:avLst/>
          </a:prstGeom>
          <a:noFill/>
          <a:ln/>
        </p:spPr>
        <p:txBody>
          <a:bodyPr wrap="square" lIns="0" tIns="0" rIns="0" bIns="0" rtlCol="0" anchor="t"/>
          <a:lstStyle/>
          <a:p>
            <a:pPr indent="0" marL="0">
              <a:buNone/>
            </a:pPr>
            <a:r>
              <a:rPr lang="en-US" sz="1000" dirty="0">
                <a:solidFill>
                  <a:srgbClr val="F5F5F1"/>
                </a:solidFill>
                <a:latin typeface="Segoe UI" pitchFamily="34" charset="0"/>
                <a:ea typeface="Segoe UI" pitchFamily="34" charset="-122"/>
                <a:cs typeface="Segoe UI" pitchFamily="34" charset="-120"/>
              </a:rPr>
              <a:t>890 of 1,184 left</a:t>
            </a:r>
            <a:endParaRPr lang="en-US" sz="1000" dirty="0"/>
          </a:p>
        </p:txBody>
      </p:sp>
      <p:sp>
        <p:nvSpPr>
          <p:cNvPr id="29" name="Shape 26"/>
          <p:cNvSpPr/>
          <p:nvPr/>
        </p:nvSpPr>
        <p:spPr>
          <a:xfrm>
            <a:off x="5961888" y="1691640"/>
            <a:ext cx="1261872" cy="1828800"/>
          </a:xfrm>
          <a:prstGeom prst="roundRect">
            <a:avLst>
              <a:gd name="adj" fmla="val 5797"/>
            </a:avLst>
          </a:prstGeom>
          <a:solidFill>
            <a:srgbClr val="1E0B0D"/>
          </a:solidFill>
          <a:ln w="12700">
            <a:solidFill>
              <a:srgbClr val="E50914"/>
            </a:solidFill>
            <a:prstDash val="solid"/>
          </a:ln>
        </p:spPr>
      </p:sp>
      <p:sp>
        <p:nvSpPr>
          <p:cNvPr id="30" name="Text 27"/>
          <p:cNvSpPr txBox="1"/>
          <p:nvPr/>
        </p:nvSpPr>
        <p:spPr>
          <a:xfrm>
            <a:off x="6099048" y="1828800"/>
            <a:ext cx="1005840" cy="274320"/>
          </a:xfrm>
          <a:prstGeom prst="rect">
            <a:avLst/>
          </a:prstGeom>
          <a:noFill/>
          <a:ln/>
        </p:spPr>
        <p:txBody>
          <a:bodyPr wrap="square" lIns="0" tIns="0" rIns="0" bIns="0" rtlCol="0" anchor="ctr"/>
          <a:lstStyle/>
          <a:p>
            <a:pPr indent="0" marL="0">
              <a:buNone/>
            </a:pPr>
            <a:r>
              <a:rPr lang="en-US" sz="1100" b="1" dirty="0">
                <a:solidFill>
                  <a:srgbClr val="FF4D57"/>
                </a:solidFill>
                <a:latin typeface="Segoe UI" pitchFamily="34" charset="0"/>
                <a:ea typeface="Segoe UI" pitchFamily="34" charset="-122"/>
                <a:cs typeface="Segoe UI" pitchFamily="34" charset="-120"/>
              </a:rPr>
              <a:t>46–60 days</a:t>
            </a:r>
            <a:endParaRPr lang="en-US" sz="1100" dirty="0"/>
          </a:p>
        </p:txBody>
      </p:sp>
      <p:sp>
        <p:nvSpPr>
          <p:cNvPr id="31" name="Text 28"/>
          <p:cNvSpPr txBox="1"/>
          <p:nvPr/>
        </p:nvSpPr>
        <p:spPr>
          <a:xfrm>
            <a:off x="6099048" y="2194560"/>
            <a:ext cx="1051560" cy="502920"/>
          </a:xfrm>
          <a:prstGeom prst="rect">
            <a:avLst/>
          </a:prstGeom>
          <a:noFill/>
          <a:ln/>
        </p:spPr>
        <p:txBody>
          <a:bodyPr wrap="square" lIns="0" tIns="0" rIns="0" bIns="0" rtlCol="0" anchor="ctr"/>
          <a:lstStyle/>
          <a:p>
            <a:pPr indent="0" marL="0">
              <a:buNone/>
            </a:pPr>
            <a:r>
              <a:rPr lang="en-US" sz="2100" b="1" dirty="0">
                <a:solidFill>
                  <a:srgbClr val="FF4D57"/>
                </a:solidFill>
                <a:latin typeface="Segoe UI" pitchFamily="34" charset="0"/>
                <a:ea typeface="Segoe UI" pitchFamily="34" charset="-122"/>
                <a:cs typeface="Segoe UI" pitchFamily="34" charset="-120"/>
              </a:rPr>
              <a:t>75.62%</a:t>
            </a:r>
            <a:endParaRPr lang="en-US" sz="2100" dirty="0"/>
          </a:p>
        </p:txBody>
      </p:sp>
      <p:sp>
        <p:nvSpPr>
          <p:cNvPr id="32" name="Text 29"/>
          <p:cNvSpPr txBox="1"/>
          <p:nvPr/>
        </p:nvSpPr>
        <p:spPr>
          <a:xfrm>
            <a:off x="6099048" y="2697480"/>
            <a:ext cx="1005840" cy="228600"/>
          </a:xfrm>
          <a:prstGeom prst="rect">
            <a:avLst/>
          </a:prstGeom>
          <a:noFill/>
          <a:ln/>
        </p:spPr>
        <p:txBody>
          <a:bodyPr wrap="square" lIns="0" tIns="0" rIns="0" bIns="0" rtlCol="0" anchor="ctr"/>
          <a:lstStyle/>
          <a:p>
            <a:pPr indent="0" marL="0">
              <a:buNone/>
            </a:pPr>
            <a:r>
              <a:rPr lang="en-US" sz="950" dirty="0">
                <a:solidFill>
                  <a:srgbClr val="A6A6A6"/>
                </a:solidFill>
                <a:latin typeface="Segoe UI" pitchFamily="34" charset="0"/>
                <a:ea typeface="Segoe UI" pitchFamily="34" charset="-122"/>
                <a:cs typeface="Segoe UI" pitchFamily="34" charset="-120"/>
              </a:rPr>
              <a:t>churn rate</a:t>
            </a:r>
            <a:endParaRPr lang="en-US" sz="950" dirty="0"/>
          </a:p>
        </p:txBody>
      </p:sp>
      <p:sp>
        <p:nvSpPr>
          <p:cNvPr id="33" name="Text 30"/>
          <p:cNvSpPr txBox="1"/>
          <p:nvPr/>
        </p:nvSpPr>
        <p:spPr>
          <a:xfrm>
            <a:off x="6099048" y="3017520"/>
            <a:ext cx="1051560" cy="365760"/>
          </a:xfrm>
          <a:prstGeom prst="rect">
            <a:avLst/>
          </a:prstGeom>
          <a:noFill/>
          <a:ln/>
        </p:spPr>
        <p:txBody>
          <a:bodyPr wrap="square" lIns="0" tIns="0" rIns="0" bIns="0" rtlCol="0" anchor="t"/>
          <a:lstStyle/>
          <a:p>
            <a:pPr indent="0" marL="0">
              <a:buNone/>
            </a:pPr>
            <a:r>
              <a:rPr lang="en-US" sz="1000" dirty="0">
                <a:solidFill>
                  <a:srgbClr val="F5F5F1"/>
                </a:solidFill>
                <a:latin typeface="Segoe UI" pitchFamily="34" charset="0"/>
                <a:ea typeface="Segoe UI" pitchFamily="34" charset="-122"/>
                <a:cs typeface="Segoe UI" pitchFamily="34" charset="-120"/>
              </a:rPr>
              <a:t>884 of 1,169 left</a:t>
            </a:r>
            <a:endParaRPr lang="en-US" sz="1000" dirty="0"/>
          </a:p>
        </p:txBody>
      </p:sp>
      <p:sp>
        <p:nvSpPr>
          <p:cNvPr id="34" name="Shape 31"/>
          <p:cNvSpPr/>
          <p:nvPr/>
        </p:nvSpPr>
        <p:spPr>
          <a:xfrm>
            <a:off x="548640" y="3657600"/>
            <a:ext cx="3246120" cy="1417320"/>
          </a:xfrm>
          <a:prstGeom prst="roundRect">
            <a:avLst>
              <a:gd name="adj" fmla="val 5161"/>
            </a:avLst>
          </a:prstGeom>
          <a:solidFill>
            <a:srgbClr val="151515"/>
          </a:solidFill>
          <a:ln w="9525">
            <a:solidFill>
              <a:srgbClr val="2A2A2A"/>
            </a:solidFill>
            <a:prstDash val="solid"/>
          </a:ln>
        </p:spPr>
      </p:sp>
      <p:sp>
        <p:nvSpPr>
          <p:cNvPr id="35" name="Shape 32"/>
          <p:cNvSpPr/>
          <p:nvPr/>
        </p:nvSpPr>
        <p:spPr>
          <a:xfrm>
            <a:off x="749808" y="3657600"/>
            <a:ext cx="548640" cy="36576"/>
          </a:xfrm>
          <a:prstGeom prst="rect">
            <a:avLst/>
          </a:prstGeom>
          <a:solidFill>
            <a:srgbClr val="E50914"/>
          </a:solidFill>
          <a:ln w="12700">
            <a:solidFill>
              <a:srgbClr val="E50914"/>
            </a:solidFill>
            <a:prstDash val="solid"/>
          </a:ln>
        </p:spPr>
      </p:sp>
      <p:sp>
        <p:nvSpPr>
          <p:cNvPr id="36" name="Text 33"/>
          <p:cNvSpPr txBox="1"/>
          <p:nvPr/>
        </p:nvSpPr>
        <p:spPr>
          <a:xfrm>
            <a:off x="749808" y="3794760"/>
            <a:ext cx="2926080" cy="594360"/>
          </a:xfrm>
          <a:prstGeom prst="rect">
            <a:avLst/>
          </a:prstGeom>
          <a:noFill/>
          <a:ln/>
        </p:spPr>
        <p:txBody>
          <a:bodyPr wrap="square" lIns="0" tIns="0" rIns="0" bIns="0" rtlCol="0" anchor="ctr"/>
          <a:lstStyle/>
          <a:p>
            <a:pPr indent="0" marL="0">
              <a:buNone/>
            </a:pPr>
            <a:r>
              <a:rPr lang="en-US" sz="2600" b="1" dirty="0">
                <a:solidFill>
                  <a:srgbClr val="F5F5F1"/>
                </a:solidFill>
                <a:latin typeface="Segoe UI" pitchFamily="34" charset="0"/>
                <a:ea typeface="Segoe UI" pitchFamily="34" charset="-122"/>
                <a:cs typeface="Segoe UI" pitchFamily="34" charset="-120"/>
              </a:rPr>
              <a:t>34.38% → 75.17%</a:t>
            </a:r>
            <a:endParaRPr lang="en-US" sz="2600" dirty="0"/>
          </a:p>
        </p:txBody>
      </p:sp>
      <p:sp>
        <p:nvSpPr>
          <p:cNvPr id="37" name="Text 34"/>
          <p:cNvSpPr txBox="1"/>
          <p:nvPr/>
        </p:nvSpPr>
        <p:spPr>
          <a:xfrm>
            <a:off x="749808" y="4434840"/>
            <a:ext cx="292608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churn rate from 15–30 days to 31–45 days without logging in</a:t>
            </a:r>
            <a:endParaRPr lang="en-US" sz="1100" dirty="0"/>
          </a:p>
        </p:txBody>
      </p:sp>
      <p:sp>
        <p:nvSpPr>
          <p:cNvPr id="38" name="Shape 35"/>
          <p:cNvSpPr/>
          <p:nvPr/>
        </p:nvSpPr>
        <p:spPr>
          <a:xfrm>
            <a:off x="3931920" y="3657600"/>
            <a:ext cx="3246120" cy="1417320"/>
          </a:xfrm>
          <a:prstGeom prst="roundRect">
            <a:avLst>
              <a:gd name="adj" fmla="val 5161"/>
            </a:avLst>
          </a:prstGeom>
          <a:solidFill>
            <a:srgbClr val="151515"/>
          </a:solidFill>
          <a:ln w="9525">
            <a:solidFill>
              <a:srgbClr val="2A2A2A"/>
            </a:solidFill>
            <a:prstDash val="solid"/>
          </a:ln>
        </p:spPr>
      </p:sp>
      <p:sp>
        <p:nvSpPr>
          <p:cNvPr id="39" name="Shape 36"/>
          <p:cNvSpPr/>
          <p:nvPr/>
        </p:nvSpPr>
        <p:spPr>
          <a:xfrm>
            <a:off x="4133088" y="3657600"/>
            <a:ext cx="548640" cy="36576"/>
          </a:xfrm>
          <a:prstGeom prst="rect">
            <a:avLst/>
          </a:prstGeom>
          <a:solidFill>
            <a:srgbClr val="E50914"/>
          </a:solidFill>
          <a:ln w="12700">
            <a:solidFill>
              <a:srgbClr val="E50914"/>
            </a:solidFill>
            <a:prstDash val="solid"/>
          </a:ln>
        </p:spPr>
      </p:sp>
      <p:sp>
        <p:nvSpPr>
          <p:cNvPr id="40" name="Text 37"/>
          <p:cNvSpPr txBox="1"/>
          <p:nvPr/>
        </p:nvSpPr>
        <p:spPr>
          <a:xfrm>
            <a:off x="4133088" y="3794760"/>
            <a:ext cx="2926080" cy="594360"/>
          </a:xfrm>
          <a:prstGeom prst="rect">
            <a:avLst/>
          </a:prstGeom>
          <a:noFill/>
          <a:ln/>
        </p:spPr>
        <p:txBody>
          <a:bodyPr wrap="square" lIns="0" tIns="0" rIns="0" bIns="0" rtlCol="0" anchor="ctr"/>
          <a:lstStyle/>
          <a:p>
            <a:pPr indent="0" marL="0">
              <a:buNone/>
            </a:pPr>
            <a:r>
              <a:rPr lang="en-US" sz="3200" b="1" dirty="0">
                <a:solidFill>
                  <a:srgbClr val="F5F5F1"/>
                </a:solidFill>
                <a:latin typeface="Segoe UI" pitchFamily="34" charset="0"/>
                <a:ea typeface="Segoe UI" pitchFamily="34" charset="-122"/>
                <a:cs typeface="Segoe UI" pitchFamily="34" charset="-120"/>
              </a:rPr>
              <a:t>2,353</a:t>
            </a:r>
            <a:endParaRPr lang="en-US" sz="3200" dirty="0"/>
          </a:p>
        </p:txBody>
      </p:sp>
      <p:sp>
        <p:nvSpPr>
          <p:cNvPr id="41" name="Text 38"/>
          <p:cNvSpPr txBox="1"/>
          <p:nvPr/>
        </p:nvSpPr>
        <p:spPr>
          <a:xfrm>
            <a:off x="4133088" y="4434840"/>
            <a:ext cx="2926080" cy="54864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customers inactive for more than 30 days</a:t>
            </a:r>
            <a:endParaRPr lang="en-US" sz="1100" dirty="0"/>
          </a:p>
        </p:txBody>
      </p:sp>
      <p:sp>
        <p:nvSpPr>
          <p:cNvPr id="42" name="Shape 39"/>
          <p:cNvSpPr/>
          <p:nvPr/>
        </p:nvSpPr>
        <p:spPr>
          <a:xfrm>
            <a:off x="7589520" y="1691640"/>
            <a:ext cx="4050792" cy="3429000"/>
          </a:xfrm>
          <a:prstGeom prst="roundRect">
            <a:avLst>
              <a:gd name="adj" fmla="val 2133"/>
            </a:avLst>
          </a:prstGeom>
          <a:solidFill>
            <a:srgbClr val="151515"/>
          </a:solidFill>
          <a:ln w="9525">
            <a:solidFill>
              <a:srgbClr val="2A2A2A"/>
            </a:solidFill>
            <a:prstDash val="solid"/>
          </a:ln>
        </p:spPr>
      </p:sp>
      <p:sp>
        <p:nvSpPr>
          <p:cNvPr id="43" name="Shape 40"/>
          <p:cNvSpPr/>
          <p:nvPr/>
        </p:nvSpPr>
        <p:spPr>
          <a:xfrm>
            <a:off x="7790688" y="1691640"/>
            <a:ext cx="548640" cy="36576"/>
          </a:xfrm>
          <a:prstGeom prst="rect">
            <a:avLst/>
          </a:prstGeom>
          <a:solidFill>
            <a:srgbClr val="E50914"/>
          </a:solidFill>
          <a:ln w="12700">
            <a:solidFill>
              <a:srgbClr val="E50914"/>
            </a:solidFill>
            <a:prstDash val="solid"/>
          </a:ln>
        </p:spPr>
      </p:sp>
      <p:pic>
        <p:nvPicPr>
          <p:cNvPr id="44" name="Image 1" descr="/tmp/claude-0/-home-claude/0afb8f05-6c65-583f-af33-ecd94b11a885/scratchpad/eda/assets/warning.png">    </p:cNvPr>
          <p:cNvPicPr>
            <a:picLocks noChangeAspect="1"/>
          </p:cNvPicPr>
          <p:nvPr/>
        </p:nvPicPr>
        <p:blipFill>
          <a:blip r:embed="rId3"/>
          <a:stretch>
            <a:fillRect/>
          </a:stretch>
        </p:blipFill>
        <p:spPr>
          <a:xfrm>
            <a:off x="7818120" y="1965960"/>
            <a:ext cx="457200" cy="457200"/>
          </a:xfrm>
          <a:prstGeom prst="rect">
            <a:avLst/>
          </a:prstGeom>
        </p:spPr>
      </p:pic>
      <p:sp>
        <p:nvSpPr>
          <p:cNvPr id="45" name="Text 41"/>
          <p:cNvSpPr txBox="1"/>
          <p:nvPr/>
        </p:nvSpPr>
        <p:spPr>
          <a:xfrm>
            <a:off x="8412480" y="2011680"/>
            <a:ext cx="3017520" cy="365760"/>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THE DANGER ZONE</a:t>
            </a:r>
            <a:endParaRPr lang="en-US" sz="1100" dirty="0"/>
          </a:p>
        </p:txBody>
      </p:sp>
      <p:sp>
        <p:nvSpPr>
          <p:cNvPr id="46" name="Text 42"/>
          <p:cNvSpPr txBox="1"/>
          <p:nvPr/>
        </p:nvSpPr>
        <p:spPr>
          <a:xfrm>
            <a:off x="7818120" y="2606040"/>
            <a:ext cx="3657600" cy="457200"/>
          </a:xfrm>
          <a:prstGeom prst="rect">
            <a:avLst/>
          </a:prstGeom>
          <a:noFill/>
          <a:ln/>
        </p:spPr>
        <p:txBody>
          <a:bodyPr wrap="square" lIns="0" tIns="0" rIns="0" bIns="0" rtlCol="0" anchor="ctr"/>
          <a:lstStyle/>
          <a:p>
            <a:pPr indent="0" marL="0">
              <a:buNone/>
            </a:pPr>
            <a:r>
              <a:rPr lang="en-US" sz="2200" b="1" dirty="0">
                <a:solidFill>
                  <a:srgbClr val="F5F5F1"/>
                </a:solidFill>
                <a:latin typeface="Segoe UI" pitchFamily="34" charset="0"/>
                <a:ea typeface="Segoe UI" pitchFamily="34" charset="-122"/>
                <a:cs typeface="Segoe UI" pitchFamily="34" charset="-120"/>
              </a:rPr>
              <a:t>Beyond 30 days</a:t>
            </a:r>
            <a:endParaRPr lang="en-US" sz="2200" dirty="0"/>
          </a:p>
        </p:txBody>
      </p:sp>
      <p:sp>
        <p:nvSpPr>
          <p:cNvPr id="47" name="Text 43"/>
          <p:cNvSpPr txBox="1"/>
          <p:nvPr/>
        </p:nvSpPr>
        <p:spPr>
          <a:xfrm>
            <a:off x="7818120" y="3108960"/>
            <a:ext cx="3611880" cy="731520"/>
          </a:xfrm>
          <a:prstGeom prst="rect">
            <a:avLst/>
          </a:prstGeom>
          <a:noFill/>
          <a:ln/>
        </p:spPr>
        <p:txBody>
          <a:bodyPr wrap="square" lIns="0" tIns="0" rIns="0" bIns="0" rtlCol="0" anchor="t"/>
          <a:lstStyle/>
          <a:p>
            <a:pPr indent="0" marL="0">
              <a:buNone/>
            </a:pPr>
            <a:r>
              <a:rPr lang="en-US" sz="1200" dirty="0">
                <a:solidFill>
                  <a:srgbClr val="A6A6A6"/>
                </a:solidFill>
                <a:latin typeface="Segoe UI" pitchFamily="34" charset="0"/>
                <a:ea typeface="Segoe UI" pitchFamily="34" charset="-122"/>
                <a:cs typeface="Segoe UI" pitchFamily="34" charset="-120"/>
              </a:rPr>
              <a:t>Churn more than doubles after 30 days without logging in, then holds at about 75% in both later groups.</a:t>
            </a:r>
            <a:endParaRPr lang="en-US" sz="1200" dirty="0"/>
          </a:p>
        </p:txBody>
      </p:sp>
      <p:sp>
        <p:nvSpPr>
          <p:cNvPr id="48" name="Shape 44"/>
          <p:cNvSpPr/>
          <p:nvPr/>
        </p:nvSpPr>
        <p:spPr>
          <a:xfrm>
            <a:off x="7818120" y="3931920"/>
            <a:ext cx="3566160" cy="0"/>
          </a:xfrm>
          <a:prstGeom prst="line">
            <a:avLst/>
          </a:prstGeom>
          <a:noFill/>
          <a:ln w="9525">
            <a:solidFill>
              <a:srgbClr val="2A2A2A"/>
            </a:solidFill>
            <a:prstDash val="solid"/>
          </a:ln>
        </p:spPr>
      </p:sp>
      <p:sp>
        <p:nvSpPr>
          <p:cNvPr id="49" name="Text 45"/>
          <p:cNvSpPr txBox="1"/>
          <p:nvPr/>
        </p:nvSpPr>
        <p:spPr>
          <a:xfrm>
            <a:off x="7818120" y="4041648"/>
            <a:ext cx="1645920" cy="502920"/>
          </a:xfrm>
          <a:prstGeom prst="rect">
            <a:avLst/>
          </a:prstGeom>
          <a:noFill/>
          <a:ln/>
        </p:spPr>
        <p:txBody>
          <a:bodyPr wrap="square" lIns="0" tIns="0" rIns="0" bIns="0" rtlCol="0" anchor="ctr"/>
          <a:lstStyle/>
          <a:p>
            <a:pPr indent="0" marL="0">
              <a:buNone/>
            </a:pPr>
            <a:r>
              <a:rPr lang="en-US" sz="2600" b="1" dirty="0">
                <a:solidFill>
                  <a:srgbClr val="FF4D57"/>
                </a:solidFill>
                <a:latin typeface="Segoe UI" pitchFamily="34" charset="0"/>
                <a:ea typeface="Segoe UI" pitchFamily="34" charset="-122"/>
                <a:cs typeface="Segoe UI" pitchFamily="34" charset="-120"/>
              </a:rPr>
              <a:t>1,774</a:t>
            </a:r>
            <a:endParaRPr lang="en-US" sz="2600" dirty="0"/>
          </a:p>
        </p:txBody>
      </p:sp>
      <p:sp>
        <p:nvSpPr>
          <p:cNvPr id="50" name="Text 46"/>
          <p:cNvSpPr txBox="1"/>
          <p:nvPr/>
        </p:nvSpPr>
        <p:spPr>
          <a:xfrm>
            <a:off x="7818120" y="4553712"/>
            <a:ext cx="3611880" cy="411480"/>
          </a:xfrm>
          <a:prstGeom prst="rect">
            <a:avLst/>
          </a:prstGeom>
          <a:noFill/>
          <a:ln/>
        </p:spPr>
        <p:txBody>
          <a:bodyPr wrap="square" lIns="0" tIns="0" rIns="0" bIns="0" rtlCol="0" anchor="t"/>
          <a:lstStyle/>
          <a:p>
            <a:pPr indent="0" marL="0">
              <a:buNone/>
            </a:pPr>
            <a:r>
              <a:rPr lang="en-US" sz="1100" dirty="0">
                <a:solidFill>
                  <a:srgbClr val="A6A6A6"/>
                </a:solidFill>
                <a:latin typeface="Segoe UI" pitchFamily="34" charset="0"/>
                <a:ea typeface="Segoe UI" pitchFamily="34" charset="-122"/>
                <a:cs typeface="Segoe UI" pitchFamily="34" charset="-120"/>
              </a:rPr>
              <a:t>of them have already left (75.39%)</a:t>
            </a:r>
            <a:endParaRPr lang="en-US" sz="1100" dirty="0"/>
          </a:p>
        </p:txBody>
      </p:sp>
      <p:sp>
        <p:nvSpPr>
          <p:cNvPr id="51" name="Shape 47"/>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52" name="Shape 48"/>
          <p:cNvSpPr/>
          <p:nvPr/>
        </p:nvSpPr>
        <p:spPr>
          <a:xfrm>
            <a:off x="548640" y="5358384"/>
            <a:ext cx="54864" cy="704088"/>
          </a:xfrm>
          <a:prstGeom prst="rect">
            <a:avLst/>
          </a:prstGeom>
          <a:solidFill>
            <a:srgbClr val="E50914"/>
          </a:solidFill>
          <a:ln w="12700">
            <a:solidFill>
              <a:srgbClr val="E50914"/>
            </a:solidFill>
            <a:prstDash val="solid"/>
          </a:ln>
        </p:spPr>
      </p:sp>
      <p:pic>
        <p:nvPicPr>
          <p:cNvPr id="53" name="Image 2" descr="/tmp/claude-0/-home-claude/0afb8f05-6c65-583f-af33-ecd94b11a885/scratchpad/eda/assets/bulb.png">    </p:cNvPr>
          <p:cNvPicPr>
            <a:picLocks noChangeAspect="1"/>
          </p:cNvPicPr>
          <p:nvPr/>
        </p:nvPicPr>
        <p:blipFill>
          <a:blip r:embed="rId4"/>
          <a:stretch>
            <a:fillRect/>
          </a:stretch>
        </p:blipFill>
        <p:spPr>
          <a:xfrm>
            <a:off x="804672" y="5513832"/>
            <a:ext cx="384048" cy="384048"/>
          </a:xfrm>
          <a:prstGeom prst="rect">
            <a:avLst/>
          </a:prstGeom>
        </p:spPr>
      </p:pic>
      <p:sp>
        <p:nvSpPr>
          <p:cNvPr id="54" name="Text 49"/>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55" name="Text 50"/>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Churn rises steadily with inactivity, from </a:t>
            </a:r>
            <a:pPr indent="0" marL="0">
              <a:buNone/>
            </a:pPr>
            <a:r>
              <a:rPr lang="en-US" sz="1200" b="1" dirty="0">
                <a:solidFill>
                  <a:srgbClr val="F5F5F1"/>
                </a:solidFill>
                <a:latin typeface="Segoe UI" pitchFamily="34" charset="0"/>
                <a:ea typeface="Segoe UI" pitchFamily="34" charset="-122"/>
                <a:cs typeface="Segoe UI" pitchFamily="34" charset="-120"/>
              </a:rPr>
              <a:t>13.43%</a:t>
            </a:r>
            <a:pPr indent="0" marL="0">
              <a:buNone/>
            </a:pPr>
            <a:r>
              <a:rPr lang="en-US" sz="1200" dirty="0">
                <a:solidFill>
                  <a:srgbClr val="F5F5F1"/>
                </a:solidFill>
                <a:latin typeface="Segoe UI" pitchFamily="34" charset="0"/>
                <a:ea typeface="Segoe UI" pitchFamily="34" charset="-122"/>
                <a:cs typeface="Segoe UI" pitchFamily="34" charset="-120"/>
              </a:rPr>
              <a:t> for customers seen in the last week to </a:t>
            </a:r>
            <a:pPr indent="0" marL="0">
              <a:buNone/>
            </a:pPr>
            <a:r>
              <a:rPr lang="en-US" sz="1200" b="1" dirty="0">
                <a:solidFill>
                  <a:srgbClr val="F5F5F1"/>
                </a:solidFill>
                <a:latin typeface="Segoe UI" pitchFamily="34" charset="0"/>
                <a:ea typeface="Segoe UI" pitchFamily="34" charset="-122"/>
                <a:cs typeface="Segoe UI" pitchFamily="34" charset="-120"/>
              </a:rPr>
              <a:t>34.38%</a:t>
            </a:r>
            <a:pPr indent="0" marL="0">
              <a:buNone/>
            </a:pPr>
            <a:r>
              <a:rPr lang="en-US" sz="1200" dirty="0">
                <a:solidFill>
                  <a:srgbClr val="F5F5F1"/>
                </a:solidFill>
                <a:latin typeface="Segoe UI" pitchFamily="34" charset="0"/>
                <a:ea typeface="Segoe UI" pitchFamily="34" charset="-122"/>
                <a:cs typeface="Segoe UI" pitchFamily="34" charset="-120"/>
              </a:rPr>
              <a:t> at 15–30 days. It then </a:t>
            </a:r>
            <a:pPr indent="0" marL="0">
              <a:buNone/>
            </a:pPr>
            <a:r>
              <a:rPr lang="en-US" sz="1200" b="1" dirty="0">
                <a:solidFill>
                  <a:srgbClr val="F5F5F1"/>
                </a:solidFill>
                <a:latin typeface="Segoe UI" pitchFamily="34" charset="0"/>
                <a:ea typeface="Segoe UI" pitchFamily="34" charset="-122"/>
                <a:cs typeface="Segoe UI" pitchFamily="34" charset="-120"/>
              </a:rPr>
              <a:t>more than doubles to 75.17%</a:t>
            </a:r>
            <a:pPr indent="0" marL="0">
              <a:buNone/>
            </a:pPr>
            <a:r>
              <a:rPr lang="en-US" sz="1200" dirty="0">
                <a:solidFill>
                  <a:srgbClr val="F5F5F1"/>
                </a:solidFill>
                <a:latin typeface="Segoe UI" pitchFamily="34" charset="0"/>
                <a:ea typeface="Segoe UI" pitchFamily="34" charset="-122"/>
                <a:cs typeface="Segoe UI" pitchFamily="34" charset="-120"/>
              </a:rPr>
              <a:t> once a customer passes 30 days without logging in and stays at about 75% beyond that point. </a:t>
            </a:r>
            <a:pPr indent="0" marL="0">
              <a:buNone/>
            </a:pPr>
            <a:r>
              <a:rPr lang="en-US" sz="1200" b="1" dirty="0">
                <a:solidFill>
                  <a:srgbClr val="FF4D57"/>
                </a:solidFill>
                <a:latin typeface="Segoe UI" pitchFamily="34" charset="0"/>
                <a:ea typeface="Segoe UI" pitchFamily="34" charset="-122"/>
                <a:cs typeface="Segoe UI" pitchFamily="34" charset="-120"/>
              </a:rPr>
              <a:t>30 days of inactivity is the danger zone.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06  ·  INACTIVITY DANGER ZONE</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Customer breakdown by inactivity group</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Stayed, left and total customers in each inactivity group, with the resulting churn rate.</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13 / 27</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629400" cy="914400"/>
        </p:xfrm>
        <a:graphic>
          <a:graphicData uri="http://schemas.openxmlformats.org/drawingml/2006/table">
            <a:tbl>
              <a:tblPr/>
              <a:tblGrid>
                <a:gridCol w="1691640"/>
                <a:gridCol w="1188720"/>
                <a:gridCol w="1188720"/>
                <a:gridCol w="1188720"/>
                <a:gridCol w="1371600"/>
              </a:tblGrid>
              <a:tr h="402336">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Inactivity group</a:t>
                      </a:r>
                      <a:endParaRPr lang="en-US" sz="12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Stayed</a:t>
                      </a:r>
                      <a:endParaRPr lang="en-US" sz="12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Left</a:t>
                      </a:r>
                      <a:endParaRPr lang="en-US" sz="12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Total</a:t>
                      </a:r>
                      <a:endParaRPr lang="en-US" sz="12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Churn rate</a:t>
                      </a:r>
                      <a:endParaRPr lang="en-US" sz="12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402336">
                <a:tc>
                  <a:txBody>
                    <a:bodyPr/>
                    <a:lstStyle/>
                    <a:p>
                      <a:pPr algn="l" indent="0" marL="0">
                        <a:buNone/>
                      </a:pPr>
                      <a:r>
                        <a:rPr lang="en-US" sz="1250" b="1" dirty="0">
                          <a:solidFill>
                            <a:srgbClr val="F5F5F1"/>
                          </a:solidFill>
                          <a:latin typeface="Segoe UI" pitchFamily="34" charset="0"/>
                          <a:ea typeface="Segoe UI" pitchFamily="34" charset="-122"/>
                          <a:cs typeface="Segoe UI" pitchFamily="34" charset="-120"/>
                        </a:rPr>
                        <a:t>0–7 days</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535</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83</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618</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b="1" dirty="0">
                          <a:solidFill>
                            <a:srgbClr val="F5F5F1"/>
                          </a:solidFill>
                          <a:latin typeface="Segoe UI" pitchFamily="34" charset="0"/>
                          <a:ea typeface="Segoe UI" pitchFamily="34" charset="-122"/>
                          <a:cs typeface="Segoe UI" pitchFamily="34" charset="-120"/>
                        </a:rPr>
                        <a:t>13.43%</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02336">
                <a:tc>
                  <a:txBody>
                    <a:bodyPr/>
                    <a:lstStyle/>
                    <a:p>
                      <a:pPr algn="l" indent="0" marL="0">
                        <a:buNone/>
                      </a:pPr>
                      <a:r>
                        <a:rPr lang="en-US" sz="1250" b="1" dirty="0">
                          <a:solidFill>
                            <a:srgbClr val="F5F5F1"/>
                          </a:solidFill>
                          <a:latin typeface="Segoe UI" pitchFamily="34" charset="0"/>
                          <a:ea typeface="Segoe UI" pitchFamily="34" charset="-122"/>
                          <a:cs typeface="Segoe UI" pitchFamily="34" charset="-120"/>
                        </a:rPr>
                        <a:t>8–14 days</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386</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142</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528</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250" b="1" dirty="0">
                          <a:solidFill>
                            <a:srgbClr val="F5F5F1"/>
                          </a:solidFill>
                          <a:latin typeface="Segoe UI" pitchFamily="34" charset="0"/>
                          <a:ea typeface="Segoe UI" pitchFamily="34" charset="-122"/>
                          <a:cs typeface="Segoe UI" pitchFamily="34" charset="-120"/>
                        </a:rPr>
                        <a:t>26.89%</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02336">
                <a:tc>
                  <a:txBody>
                    <a:bodyPr/>
                    <a:lstStyle/>
                    <a:p>
                      <a:pPr algn="l" indent="0" marL="0">
                        <a:buNone/>
                      </a:pPr>
                      <a:r>
                        <a:rPr lang="en-US" sz="1250" b="1" dirty="0">
                          <a:solidFill>
                            <a:srgbClr val="F5F5F1"/>
                          </a:solidFill>
                          <a:latin typeface="Segoe UI" pitchFamily="34" charset="0"/>
                          <a:ea typeface="Segoe UI" pitchFamily="34" charset="-122"/>
                          <a:cs typeface="Segoe UI" pitchFamily="34" charset="-120"/>
                        </a:rPr>
                        <a:t>15–30 days</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985</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516</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1,501</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250" b="1" dirty="0">
                          <a:solidFill>
                            <a:srgbClr val="F5F5F1"/>
                          </a:solidFill>
                          <a:latin typeface="Segoe UI" pitchFamily="34" charset="0"/>
                          <a:ea typeface="Segoe UI" pitchFamily="34" charset="-122"/>
                          <a:cs typeface="Segoe UI" pitchFamily="34" charset="-120"/>
                        </a:rPr>
                        <a:t>34.38%</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02336">
                <a:tc>
                  <a:txBody>
                    <a:bodyPr/>
                    <a:lstStyle/>
                    <a:p>
                      <a:pPr algn="l" indent="0" marL="0">
                        <a:buNone/>
                      </a:pPr>
                      <a:r>
                        <a:rPr lang="en-US" sz="1250" b="1" dirty="0">
                          <a:solidFill>
                            <a:srgbClr val="F5F5F1"/>
                          </a:solidFill>
                          <a:latin typeface="Segoe UI" pitchFamily="34" charset="0"/>
                          <a:ea typeface="Segoe UI" pitchFamily="34" charset="-122"/>
                          <a:cs typeface="Segoe UI" pitchFamily="34" charset="-120"/>
                        </a:rPr>
                        <a:t>31–45 days</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294</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890</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1,184</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b="1" dirty="0">
                          <a:solidFill>
                            <a:srgbClr val="FF4D57"/>
                          </a:solidFill>
                          <a:latin typeface="Segoe UI" pitchFamily="34" charset="0"/>
                          <a:ea typeface="Segoe UI" pitchFamily="34" charset="-122"/>
                          <a:cs typeface="Segoe UI" pitchFamily="34" charset="-120"/>
                        </a:rPr>
                        <a:t>75.17%</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r h="402336">
                <a:tc>
                  <a:txBody>
                    <a:bodyPr/>
                    <a:lstStyle/>
                    <a:p>
                      <a:pPr algn="l" indent="0" marL="0">
                        <a:buNone/>
                      </a:pPr>
                      <a:r>
                        <a:rPr lang="en-US" sz="1250" b="1" dirty="0">
                          <a:solidFill>
                            <a:srgbClr val="F5F5F1"/>
                          </a:solidFill>
                          <a:latin typeface="Segoe UI" pitchFamily="34" charset="0"/>
                          <a:ea typeface="Segoe UI" pitchFamily="34" charset="-122"/>
                          <a:cs typeface="Segoe UI" pitchFamily="34" charset="-120"/>
                        </a:rPr>
                        <a:t>46–60 days</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285</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884</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dirty="0">
                          <a:solidFill>
                            <a:srgbClr val="F5F5F1"/>
                          </a:solidFill>
                          <a:latin typeface="Segoe UI" pitchFamily="34" charset="0"/>
                          <a:ea typeface="Segoe UI" pitchFamily="34" charset="-122"/>
                          <a:cs typeface="Segoe UI" pitchFamily="34" charset="-120"/>
                        </a:rPr>
                        <a:t>1,169</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250" b="1" dirty="0">
                          <a:solidFill>
                            <a:srgbClr val="FF4D57"/>
                          </a:solidFill>
                          <a:latin typeface="Segoe UI" pitchFamily="34" charset="0"/>
                          <a:ea typeface="Segoe UI" pitchFamily="34" charset="-122"/>
                          <a:cs typeface="Segoe UI" pitchFamily="34" charset="-120"/>
                        </a:rPr>
                        <a:t>75.62%</a:t>
                      </a:r>
                      <a:endParaRPr lang="en-US" sz="12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bl>
          </a:graphicData>
        </a:graphic>
      </p:graphicFrame>
      <p:sp>
        <p:nvSpPr>
          <p:cNvPr id="11" name="Text 7"/>
          <p:cNvSpPr txBox="1"/>
          <p:nvPr/>
        </p:nvSpPr>
        <p:spPr>
          <a:xfrm>
            <a:off x="548640" y="4800600"/>
            <a:ext cx="6583680" cy="219456"/>
          </a:xfrm>
          <a:prstGeom prst="rect">
            <a:avLst/>
          </a:prstGeom>
          <a:noFill/>
          <a:ln/>
        </p:spPr>
        <p:txBody>
          <a:bodyPr wrap="square" lIns="0" tIns="0" rIns="0" bIns="0" rtlCol="0" anchor="ctr"/>
          <a:lstStyle/>
          <a:p>
            <a:pPr indent="0" marL="0">
              <a:buNone/>
            </a:pPr>
            <a:r>
              <a:rPr lang="en-US" sz="950" i="1" dirty="0">
                <a:solidFill>
                  <a:srgbClr val="7D7D7D"/>
                </a:solidFill>
                <a:latin typeface="Segoe UI" pitchFamily="34" charset="0"/>
                <a:ea typeface="Segoe UI" pitchFamily="34" charset="-122"/>
                <a:cs typeface="Segoe UI" pitchFamily="34" charset="-120"/>
              </a:rPr>
              <a:t>Shaded rows: more than 30 days since last login.</a:t>
            </a:r>
            <a:endParaRPr lang="en-US" sz="950" dirty="0"/>
          </a:p>
        </p:txBody>
      </p:sp>
      <p:sp>
        <p:nvSpPr>
          <p:cNvPr id="12" name="Shape 8"/>
          <p:cNvSpPr/>
          <p:nvPr/>
        </p:nvSpPr>
        <p:spPr>
          <a:xfrm>
            <a:off x="548640" y="5102352"/>
            <a:ext cx="6629400" cy="1005840"/>
          </a:xfrm>
          <a:prstGeom prst="roundRect">
            <a:avLst>
              <a:gd name="adj" fmla="val 7273"/>
            </a:avLst>
          </a:prstGeom>
          <a:solidFill>
            <a:srgbClr val="151515"/>
          </a:solidFill>
          <a:ln w="9525">
            <a:solidFill>
              <a:srgbClr val="2A2A2A"/>
            </a:solidFill>
            <a:prstDash val="solid"/>
          </a:ln>
        </p:spPr>
      </p:sp>
      <p:sp>
        <p:nvSpPr>
          <p:cNvPr id="13" name="Shape 9"/>
          <p:cNvSpPr/>
          <p:nvPr/>
        </p:nvSpPr>
        <p:spPr>
          <a:xfrm>
            <a:off x="548640" y="5230368"/>
            <a:ext cx="54864" cy="749808"/>
          </a:xfrm>
          <a:prstGeom prst="rect">
            <a:avLst/>
          </a:prstGeom>
          <a:solidFill>
            <a:srgbClr val="E50914"/>
          </a:solidFill>
          <a:ln w="12700">
            <a:solidFill>
              <a:srgbClr val="E50914"/>
            </a:solidFill>
            <a:prstDash val="solid"/>
          </a:ln>
        </p:spPr>
      </p:sp>
      <p:sp>
        <p:nvSpPr>
          <p:cNvPr id="14" name="Text 10"/>
          <p:cNvSpPr txBox="1"/>
          <p:nvPr/>
        </p:nvSpPr>
        <p:spPr>
          <a:xfrm>
            <a:off x="777240" y="5102352"/>
            <a:ext cx="6263640" cy="1005840"/>
          </a:xfrm>
          <a:prstGeom prst="rect">
            <a:avLst/>
          </a:prstGeom>
          <a:noFill/>
          <a:ln/>
        </p:spPr>
        <p:txBody>
          <a:bodyPr wrap="square" lIns="0" tIns="0" rIns="0" bIns="0" rtlCol="0" anchor="ctr"/>
          <a:lstStyle/>
          <a:p>
            <a:pPr indent="0" marL="0">
              <a:buNone/>
            </a:pPr>
            <a:r>
              <a:rPr lang="en-US" sz="1200" dirty="0">
                <a:solidFill>
                  <a:srgbClr val="F5F5F1"/>
                </a:solidFill>
                <a:latin typeface="Segoe UI" pitchFamily="34" charset="0"/>
                <a:ea typeface="Segoe UI" pitchFamily="34" charset="-122"/>
                <a:cs typeface="Segoe UI" pitchFamily="34" charset="-120"/>
              </a:rPr>
              <a:t>Inactive for more than 30 days: </a:t>
            </a:r>
            <a:pPr indent="0" marL="0">
              <a:buNone/>
            </a:pPr>
            <a:r>
              <a:rPr lang="en-US" sz="1200" b="1" dirty="0">
                <a:solidFill>
                  <a:srgbClr val="FF4D57"/>
                </a:solidFill>
                <a:latin typeface="Segoe UI" pitchFamily="34" charset="0"/>
                <a:ea typeface="Segoe UI" pitchFamily="34" charset="-122"/>
                <a:cs typeface="Segoe UI" pitchFamily="34" charset="-120"/>
              </a:rPr>
              <a:t>1,774 of 2,353 customers left (75.39%)</a:t>
            </a:r>
            <a:pPr indent="0" marL="0">
              <a:buNone/>
            </a:pPr>
            <a:r>
              <a:rPr lang="en-US" sz="1200" dirty="0">
                <a:solidFill>
                  <a:srgbClr val="F5F5F1"/>
                </a:solidFill>
                <a:latin typeface="Segoe UI" pitchFamily="34" charset="0"/>
                <a:ea typeface="Segoe UI" pitchFamily="34" charset="-122"/>
                <a:cs typeface="Segoe UI" pitchFamily="34" charset="-120"/>
              </a:rPr>
              <a:t>, compared with 741 who left and 1,906 who stayed among more recently active customers.</a:t>
            </a:r>
            <a:endParaRPr lang="en-US" sz="1200" dirty="0"/>
          </a:p>
        </p:txBody>
      </p:sp>
      <p:sp>
        <p:nvSpPr>
          <p:cNvPr id="15" name="Shape 11"/>
          <p:cNvSpPr/>
          <p:nvPr/>
        </p:nvSpPr>
        <p:spPr>
          <a:xfrm>
            <a:off x="7406640" y="1920240"/>
            <a:ext cx="4233672" cy="4187952"/>
          </a:xfrm>
          <a:prstGeom prst="roundRect">
            <a:avLst>
              <a:gd name="adj" fmla="val 1310"/>
            </a:avLst>
          </a:prstGeom>
          <a:solidFill>
            <a:srgbClr val="0E0E0E"/>
          </a:solidFill>
          <a:ln w="9525">
            <a:solidFill>
              <a:srgbClr val="2A2A2A"/>
            </a:solidFill>
            <a:prstDash val="solid"/>
          </a:ln>
        </p:spPr>
      </p:sp>
      <p:sp>
        <p:nvSpPr>
          <p:cNvPr id="16" name="Shape 12"/>
          <p:cNvSpPr/>
          <p:nvPr/>
        </p:nvSpPr>
        <p:spPr>
          <a:xfrm>
            <a:off x="7589520" y="2075688"/>
            <a:ext cx="91440" cy="91440"/>
          </a:xfrm>
          <a:prstGeom prst="ellipse">
            <a:avLst/>
          </a:prstGeom>
          <a:solidFill>
            <a:srgbClr val="FF5F57"/>
          </a:solidFill>
          <a:ln w="12700">
            <a:solidFill>
              <a:srgbClr val="FF5F57"/>
            </a:solidFill>
            <a:prstDash val="solid"/>
          </a:ln>
        </p:spPr>
      </p:sp>
      <p:sp>
        <p:nvSpPr>
          <p:cNvPr id="17" name="Shape 13"/>
          <p:cNvSpPr/>
          <p:nvPr/>
        </p:nvSpPr>
        <p:spPr>
          <a:xfrm>
            <a:off x="7754112" y="2075688"/>
            <a:ext cx="91440" cy="91440"/>
          </a:xfrm>
          <a:prstGeom prst="ellipse">
            <a:avLst/>
          </a:prstGeom>
          <a:solidFill>
            <a:srgbClr val="FEBC2E"/>
          </a:solidFill>
          <a:ln w="12700">
            <a:solidFill>
              <a:srgbClr val="FEBC2E"/>
            </a:solidFill>
            <a:prstDash val="solid"/>
          </a:ln>
        </p:spPr>
      </p:sp>
      <p:sp>
        <p:nvSpPr>
          <p:cNvPr id="18" name="Shape 14"/>
          <p:cNvSpPr/>
          <p:nvPr/>
        </p:nvSpPr>
        <p:spPr>
          <a:xfrm>
            <a:off x="7918704" y="2075688"/>
            <a:ext cx="91440" cy="91440"/>
          </a:xfrm>
          <a:prstGeom prst="ellipse">
            <a:avLst/>
          </a:prstGeom>
          <a:solidFill>
            <a:srgbClr val="28C840"/>
          </a:solidFill>
          <a:ln w="12700">
            <a:solidFill>
              <a:srgbClr val="28C840"/>
            </a:solidFill>
            <a:prstDash val="solid"/>
          </a:ln>
        </p:spPr>
      </p:sp>
      <p:sp>
        <p:nvSpPr>
          <p:cNvPr id="19" name="Text 15"/>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0" name="Text 16"/>
          <p:cNvSpPr txBox="1"/>
          <p:nvPr/>
        </p:nvSpPr>
        <p:spPr>
          <a:xfrm>
            <a:off x="7589520" y="2331720"/>
            <a:ext cx="3959352" cy="3685032"/>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GROUP 1: 0-7 days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stayed_group1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(dataset["inactivity_group"] == "0-7 days")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"Stayed")]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left_group1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(dataset["inactivity_group"] == "0-7 days")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stayed_count1 = len(stayed_group1)     # 535</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left_count1 = len(left_group1)         # 83</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total_count1 = stayed_count1 + left_count1</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repeated for groups 2 to 5</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churn_rate_group1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left_count1 / total_count1) * 100  # 13.43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07  ·  ENGAGEMENT AND CHURN</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Do churned customers have significantly lower daily watch time than retained customers?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Independent two-sample t-test on daily watch time (avg_watch_recalculated).</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14 / 27</a:t>
            </a:r>
            <a:endParaRPr lang="en-US" sz="900" dirty="0"/>
          </a:p>
        </p:txBody>
      </p:sp>
      <p:sp>
        <p:nvSpPr>
          <p:cNvPr id="10" name="Shape 7"/>
          <p:cNvSpPr/>
          <p:nvPr/>
        </p:nvSpPr>
        <p:spPr>
          <a:xfrm>
            <a:off x="548640" y="1920240"/>
            <a:ext cx="6629400" cy="1371600"/>
          </a:xfrm>
          <a:prstGeom prst="roundRect">
            <a:avLst>
              <a:gd name="adj" fmla="val 5333"/>
            </a:avLst>
          </a:prstGeom>
          <a:solidFill>
            <a:srgbClr val="151515"/>
          </a:solidFill>
          <a:ln w="9525">
            <a:solidFill>
              <a:srgbClr val="2A2A2A"/>
            </a:solidFill>
            <a:prstDash val="solid"/>
          </a:ln>
        </p:spPr>
      </p:sp>
      <p:pic>
        <p:nvPicPr>
          <p:cNvPr id="11" name="Image 1" descr="/tmp/claude-0/-home-claude/0afb8f05-6c65-583f-af33-ecd94b11a885/scratchpad/eda/assets/stat.png">    </p:cNvPr>
          <p:cNvPicPr>
            <a:picLocks noChangeAspect="1"/>
          </p:cNvPicPr>
          <p:nvPr/>
        </p:nvPicPr>
        <p:blipFill>
          <a:blip r:embed="rId3"/>
          <a:stretch>
            <a:fillRect/>
          </a:stretch>
        </p:blipFill>
        <p:spPr>
          <a:xfrm>
            <a:off x="777240" y="2148840"/>
            <a:ext cx="457200" cy="457200"/>
          </a:xfrm>
          <a:prstGeom prst="rect">
            <a:avLst/>
          </a:prstGeom>
        </p:spPr>
      </p:pic>
      <p:sp>
        <p:nvSpPr>
          <p:cNvPr id="12" name="Text 8"/>
          <p:cNvSpPr txBox="1"/>
          <p:nvPr/>
        </p:nvSpPr>
        <p:spPr>
          <a:xfrm>
            <a:off x="1371600" y="2148840"/>
            <a:ext cx="2743200" cy="457200"/>
          </a:xfrm>
          <a:prstGeom prst="rect">
            <a:avLst/>
          </a:prstGeom>
          <a:noFill/>
          <a:ln/>
        </p:spPr>
        <p:txBody>
          <a:bodyPr wrap="square" lIns="0" tIns="0" rIns="0" bIns="0" rtlCol="0" anchor="ctr"/>
          <a:lstStyle/>
          <a:p>
            <a:pPr indent="0" marL="0">
              <a:buNone/>
            </a:pPr>
            <a:r>
              <a:rPr lang="en-US" sz="1400" b="1" dirty="0">
                <a:solidFill>
                  <a:srgbClr val="F5F5F1"/>
                </a:solidFill>
                <a:latin typeface="Segoe UI" pitchFamily="34" charset="0"/>
                <a:ea typeface="Segoe UI" pitchFamily="34" charset="-122"/>
                <a:cs typeface="Segoe UI" pitchFamily="34" charset="-120"/>
              </a:rPr>
              <a:t>Hypotheses</a:t>
            </a:r>
            <a:endParaRPr lang="en-US" sz="1400" dirty="0"/>
          </a:p>
        </p:txBody>
      </p:sp>
      <p:sp>
        <p:nvSpPr>
          <p:cNvPr id="13" name="Text 9"/>
          <p:cNvSpPr txBox="1"/>
          <p:nvPr/>
        </p:nvSpPr>
        <p:spPr>
          <a:xfrm>
            <a:off x="777240" y="2697480"/>
            <a:ext cx="6263640" cy="548640"/>
          </a:xfrm>
          <a:prstGeom prst="rect">
            <a:avLst/>
          </a:prstGeom>
          <a:noFill/>
          <a:ln/>
        </p:spPr>
        <p:txBody>
          <a:bodyPr wrap="square" lIns="0" tIns="0" rIns="0" bIns="0" rtlCol="0" anchor="t"/>
          <a:lstStyle/>
          <a:p>
            <a:pPr indent="0" marL="0">
              <a:spcAft>
                <a:spcPts val="300"/>
              </a:spcAft>
              <a:buNone/>
            </a:pPr>
            <a:r>
              <a:rPr lang="en-US" sz="1150" b="1" dirty="0">
                <a:solidFill>
                  <a:srgbClr val="FF4D57"/>
                </a:solidFill>
                <a:latin typeface="Segoe UI" pitchFamily="34" charset="0"/>
                <a:ea typeface="Segoe UI" pitchFamily="34" charset="-122"/>
                <a:cs typeface="Segoe UI" pitchFamily="34" charset="-120"/>
              </a:rPr>
              <a:t>H0  </a:t>
            </a:r>
            <a:pPr indent="0" marL="0">
              <a:spcAft>
                <a:spcPts val="300"/>
              </a:spcAft>
              <a:buNone/>
            </a:pPr>
            <a:r>
              <a:rPr lang="en-US" sz="1150" dirty="0">
                <a:solidFill>
                  <a:srgbClr val="F5F5F1"/>
                </a:solidFill>
                <a:latin typeface="Segoe UI" pitchFamily="34" charset="0"/>
                <a:ea typeface="Segoe UI" pitchFamily="34" charset="-122"/>
                <a:cs typeface="Segoe UI" pitchFamily="34" charset="-120"/>
              </a:rPr>
              <a:t>Mean daily watch time is the same for retained and churned customers.</a:t>
            </a:r>
            <a:endParaRPr lang="en-US" sz="1150" dirty="0"/>
          </a:p>
          <a:p>
            <a:pPr indent="0" marL="0">
              <a:spcAft>
                <a:spcPts val="300"/>
              </a:spcAft>
              <a:buNone/>
            </a:pPr>
            <a:r>
              <a:rPr lang="en-US" sz="1150" b="1" dirty="0">
                <a:solidFill>
                  <a:srgbClr val="FF4D57"/>
                </a:solidFill>
                <a:latin typeface="Segoe UI" pitchFamily="34" charset="0"/>
                <a:ea typeface="Segoe UI" pitchFamily="34" charset="-122"/>
                <a:cs typeface="Segoe UI" pitchFamily="34" charset="-120"/>
              </a:rPr>
              <a:t>H1  </a:t>
            </a:r>
            <a:pPr indent="0" marL="0">
              <a:spcAft>
                <a:spcPts val="300"/>
              </a:spcAft>
              <a:buNone/>
            </a:pPr>
            <a:r>
              <a:rPr lang="en-US" sz="1150" dirty="0">
                <a:solidFill>
                  <a:srgbClr val="F5F5F1"/>
                </a:solidFill>
                <a:latin typeface="Segoe UI" pitchFamily="34" charset="0"/>
                <a:ea typeface="Segoe UI" pitchFamily="34" charset="-122"/>
                <a:cs typeface="Segoe UI" pitchFamily="34" charset="-120"/>
              </a:rPr>
              <a:t>Mean daily watch time differs between the two groups.</a:t>
            </a:r>
            <a:endParaRPr lang="en-US" sz="1150" dirty="0"/>
          </a:p>
        </p:txBody>
      </p:sp>
      <p:sp>
        <p:nvSpPr>
          <p:cNvPr id="14" name="Shape 10"/>
          <p:cNvSpPr/>
          <p:nvPr/>
        </p:nvSpPr>
        <p:spPr>
          <a:xfrm>
            <a:off x="548640" y="3401568"/>
            <a:ext cx="2148840" cy="1005840"/>
          </a:xfrm>
          <a:prstGeom prst="roundRect">
            <a:avLst>
              <a:gd name="adj" fmla="val 7273"/>
            </a:avLst>
          </a:prstGeom>
          <a:solidFill>
            <a:srgbClr val="151515"/>
          </a:solidFill>
          <a:ln w="9525">
            <a:solidFill>
              <a:srgbClr val="2A2A2A"/>
            </a:solidFill>
            <a:prstDash val="solid"/>
          </a:ln>
        </p:spPr>
      </p:sp>
      <p:sp>
        <p:nvSpPr>
          <p:cNvPr id="15" name="Text 11"/>
          <p:cNvSpPr txBox="1"/>
          <p:nvPr/>
        </p:nvSpPr>
        <p:spPr>
          <a:xfrm>
            <a:off x="731520" y="3493008"/>
            <a:ext cx="1828800" cy="502920"/>
          </a:xfrm>
          <a:prstGeom prst="rect">
            <a:avLst/>
          </a:prstGeom>
          <a:noFill/>
          <a:ln/>
        </p:spPr>
        <p:txBody>
          <a:bodyPr wrap="square" lIns="0" tIns="0" rIns="0" bIns="0" rtlCol="0" anchor="b"/>
          <a:lstStyle/>
          <a:p>
            <a:pPr indent="0" marL="0">
              <a:buNone/>
            </a:pPr>
            <a:r>
              <a:rPr lang="en-US" sz="2600" b="1" dirty="0">
                <a:solidFill>
                  <a:srgbClr val="F5F5F1"/>
                </a:solidFill>
                <a:latin typeface="Segoe UI" pitchFamily="34" charset="0"/>
                <a:ea typeface="Segoe UI" pitchFamily="34" charset="-122"/>
                <a:cs typeface="Segoe UI" pitchFamily="34" charset="-120"/>
              </a:rPr>
              <a:t>23.83</a:t>
            </a:r>
            <a:endParaRPr lang="en-US" sz="2600" dirty="0"/>
          </a:p>
        </p:txBody>
      </p:sp>
      <p:sp>
        <p:nvSpPr>
          <p:cNvPr id="16" name="Text 12"/>
          <p:cNvSpPr txBox="1"/>
          <p:nvPr/>
        </p:nvSpPr>
        <p:spPr>
          <a:xfrm>
            <a:off x="731520" y="4032504"/>
            <a:ext cx="1828800" cy="32004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t-statistic</a:t>
            </a:r>
            <a:endParaRPr lang="en-US" sz="1000" dirty="0"/>
          </a:p>
        </p:txBody>
      </p:sp>
      <p:sp>
        <p:nvSpPr>
          <p:cNvPr id="17" name="Shape 13"/>
          <p:cNvSpPr/>
          <p:nvPr/>
        </p:nvSpPr>
        <p:spPr>
          <a:xfrm>
            <a:off x="2788920" y="3401568"/>
            <a:ext cx="2148840" cy="1005840"/>
          </a:xfrm>
          <a:prstGeom prst="roundRect">
            <a:avLst>
              <a:gd name="adj" fmla="val 7273"/>
            </a:avLst>
          </a:prstGeom>
          <a:solidFill>
            <a:srgbClr val="151515"/>
          </a:solidFill>
          <a:ln w="9525">
            <a:solidFill>
              <a:srgbClr val="2A2A2A"/>
            </a:solidFill>
            <a:prstDash val="solid"/>
          </a:ln>
        </p:spPr>
      </p:sp>
      <p:sp>
        <p:nvSpPr>
          <p:cNvPr id="18" name="Text 14"/>
          <p:cNvSpPr txBox="1"/>
          <p:nvPr/>
        </p:nvSpPr>
        <p:spPr>
          <a:xfrm>
            <a:off x="2971800" y="3493008"/>
            <a:ext cx="1828800" cy="502920"/>
          </a:xfrm>
          <a:prstGeom prst="rect">
            <a:avLst/>
          </a:prstGeom>
          <a:noFill/>
          <a:ln/>
        </p:spPr>
        <p:txBody>
          <a:bodyPr wrap="square" lIns="0" tIns="0" rIns="0" bIns="0" rtlCol="0" anchor="b"/>
          <a:lstStyle/>
          <a:p>
            <a:pPr indent="0" marL="0">
              <a:buNone/>
            </a:pPr>
            <a:r>
              <a:rPr lang="en-US" sz="2100" b="1" dirty="0">
                <a:solidFill>
                  <a:srgbClr val="FF4D57"/>
                </a:solidFill>
                <a:latin typeface="Segoe UI" pitchFamily="34" charset="0"/>
                <a:ea typeface="Segoe UI" pitchFamily="34" charset="-122"/>
                <a:cs typeface="Segoe UI" pitchFamily="34" charset="-120"/>
              </a:rPr>
              <a:t>5.12e-119</a:t>
            </a:r>
            <a:endParaRPr lang="en-US" sz="2100" dirty="0"/>
          </a:p>
        </p:txBody>
      </p:sp>
      <p:sp>
        <p:nvSpPr>
          <p:cNvPr id="19" name="Text 15"/>
          <p:cNvSpPr txBox="1"/>
          <p:nvPr/>
        </p:nvSpPr>
        <p:spPr>
          <a:xfrm>
            <a:off x="2971800" y="4032504"/>
            <a:ext cx="1828800" cy="32004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p-value</a:t>
            </a:r>
            <a:endParaRPr lang="en-US" sz="1000" dirty="0"/>
          </a:p>
        </p:txBody>
      </p:sp>
      <p:sp>
        <p:nvSpPr>
          <p:cNvPr id="20" name="Shape 16"/>
          <p:cNvSpPr/>
          <p:nvPr/>
        </p:nvSpPr>
        <p:spPr>
          <a:xfrm>
            <a:off x="5029200" y="3401568"/>
            <a:ext cx="2148840" cy="1005840"/>
          </a:xfrm>
          <a:prstGeom prst="roundRect">
            <a:avLst>
              <a:gd name="adj" fmla="val 7273"/>
            </a:avLst>
          </a:prstGeom>
          <a:solidFill>
            <a:srgbClr val="151515"/>
          </a:solidFill>
          <a:ln w="9525">
            <a:solidFill>
              <a:srgbClr val="2A2A2A"/>
            </a:solidFill>
            <a:prstDash val="solid"/>
          </a:ln>
        </p:spPr>
      </p:sp>
      <p:sp>
        <p:nvSpPr>
          <p:cNvPr id="21" name="Text 17"/>
          <p:cNvSpPr txBox="1"/>
          <p:nvPr/>
        </p:nvSpPr>
        <p:spPr>
          <a:xfrm>
            <a:off x="5212080" y="3493008"/>
            <a:ext cx="1828800" cy="502920"/>
          </a:xfrm>
          <a:prstGeom prst="rect">
            <a:avLst/>
          </a:prstGeom>
          <a:noFill/>
          <a:ln/>
        </p:spPr>
        <p:txBody>
          <a:bodyPr wrap="square" lIns="0" tIns="0" rIns="0" bIns="0" rtlCol="0" anchor="b"/>
          <a:lstStyle/>
          <a:p>
            <a:pPr indent="0" marL="0">
              <a:buNone/>
            </a:pPr>
            <a:r>
              <a:rPr lang="en-US" sz="2600" b="1" dirty="0">
                <a:solidFill>
                  <a:srgbClr val="F5F5F1"/>
                </a:solidFill>
                <a:latin typeface="Segoe UI" pitchFamily="34" charset="0"/>
                <a:ea typeface="Segoe UI" pitchFamily="34" charset="-122"/>
                <a:cs typeface="Segoe UI" pitchFamily="34" charset="-120"/>
              </a:rPr>
              <a:t>4,998</a:t>
            </a:r>
            <a:endParaRPr lang="en-US" sz="2600" dirty="0"/>
          </a:p>
        </p:txBody>
      </p:sp>
      <p:sp>
        <p:nvSpPr>
          <p:cNvPr id="22" name="Text 18"/>
          <p:cNvSpPr txBox="1"/>
          <p:nvPr/>
        </p:nvSpPr>
        <p:spPr>
          <a:xfrm>
            <a:off x="5212080" y="4032504"/>
            <a:ext cx="1828800" cy="32004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degrees of freedom</a:t>
            </a:r>
            <a:endParaRPr lang="en-US" sz="1000" dirty="0"/>
          </a:p>
        </p:txBody>
      </p:sp>
      <p:sp>
        <p:nvSpPr>
          <p:cNvPr id="23" name="Shape 19"/>
          <p:cNvSpPr/>
          <p:nvPr/>
        </p:nvSpPr>
        <p:spPr>
          <a:xfrm>
            <a:off x="548640" y="4526280"/>
            <a:ext cx="6629400" cy="548640"/>
          </a:xfrm>
          <a:prstGeom prst="roundRect">
            <a:avLst>
              <a:gd name="adj" fmla="val 13333"/>
            </a:avLst>
          </a:prstGeom>
          <a:solidFill>
            <a:srgbClr val="3A0D10"/>
          </a:solidFill>
          <a:ln w="12700">
            <a:solidFill>
              <a:srgbClr val="E50914"/>
            </a:solidFill>
            <a:prstDash val="solid"/>
          </a:ln>
        </p:spPr>
      </p:sp>
      <p:sp>
        <p:nvSpPr>
          <p:cNvPr id="24" name="Text 20"/>
          <p:cNvSpPr txBox="1"/>
          <p:nvPr/>
        </p:nvSpPr>
        <p:spPr>
          <a:xfrm>
            <a:off x="777240" y="4526280"/>
            <a:ext cx="6263640" cy="548640"/>
          </a:xfrm>
          <a:prstGeom prst="rect">
            <a:avLst/>
          </a:prstGeom>
          <a:noFill/>
          <a:ln/>
        </p:spPr>
        <p:txBody>
          <a:bodyPr wrap="square" lIns="0" tIns="0" rIns="0" bIns="0" rtlCol="0" anchor="ctr"/>
          <a:lstStyle/>
          <a:p>
            <a:pPr indent="0" marL="0">
              <a:buNone/>
            </a:pPr>
            <a:r>
              <a:rPr lang="en-US" sz="1250" b="1" dirty="0">
                <a:solidFill>
                  <a:srgbClr val="FF4D57"/>
                </a:solidFill>
                <a:latin typeface="Segoe UI" pitchFamily="34" charset="0"/>
                <a:ea typeface="Segoe UI" pitchFamily="34" charset="-122"/>
                <a:cs typeface="Segoe UI" pitchFamily="34" charset="-120"/>
              </a:rPr>
              <a:t>Decision:  </a:t>
            </a:r>
            <a:pPr indent="0" marL="0">
              <a:buNone/>
            </a:pPr>
            <a:r>
              <a:rPr lang="en-US" sz="1250" b="1" dirty="0">
                <a:solidFill>
                  <a:srgbClr val="F5F5F1"/>
                </a:solidFill>
                <a:latin typeface="Segoe UI" pitchFamily="34" charset="0"/>
                <a:ea typeface="Segoe UI" pitchFamily="34" charset="-122"/>
                <a:cs typeface="Segoe UI" pitchFamily="34" charset="-120"/>
              </a:rPr>
              <a:t>p &lt; 0.05, so H0 is rejected. The difference is statistically significant.</a:t>
            </a:r>
            <a:endParaRPr lang="en-US" sz="1250" dirty="0"/>
          </a:p>
        </p:txBody>
      </p:sp>
      <p:sp>
        <p:nvSpPr>
          <p:cNvPr id="25" name="Shape 21"/>
          <p:cNvSpPr/>
          <p:nvPr/>
        </p:nvSpPr>
        <p:spPr>
          <a:xfrm>
            <a:off x="7406640" y="1920240"/>
            <a:ext cx="4233672" cy="3154680"/>
          </a:xfrm>
          <a:prstGeom prst="roundRect">
            <a:avLst>
              <a:gd name="adj" fmla="val 1739"/>
            </a:avLst>
          </a:prstGeom>
          <a:solidFill>
            <a:srgbClr val="0E0E0E"/>
          </a:solidFill>
          <a:ln w="9525">
            <a:solidFill>
              <a:srgbClr val="2A2A2A"/>
            </a:solidFill>
            <a:prstDash val="solid"/>
          </a:ln>
        </p:spPr>
      </p:sp>
      <p:sp>
        <p:nvSpPr>
          <p:cNvPr id="26" name="Shape 22"/>
          <p:cNvSpPr/>
          <p:nvPr/>
        </p:nvSpPr>
        <p:spPr>
          <a:xfrm>
            <a:off x="7589520" y="2075688"/>
            <a:ext cx="91440" cy="91440"/>
          </a:xfrm>
          <a:prstGeom prst="ellipse">
            <a:avLst/>
          </a:prstGeom>
          <a:solidFill>
            <a:srgbClr val="FF5F57"/>
          </a:solidFill>
          <a:ln w="12700">
            <a:solidFill>
              <a:srgbClr val="FF5F57"/>
            </a:solidFill>
            <a:prstDash val="solid"/>
          </a:ln>
        </p:spPr>
      </p:sp>
      <p:sp>
        <p:nvSpPr>
          <p:cNvPr id="27" name="Shape 23"/>
          <p:cNvSpPr/>
          <p:nvPr/>
        </p:nvSpPr>
        <p:spPr>
          <a:xfrm>
            <a:off x="7754112" y="2075688"/>
            <a:ext cx="91440" cy="91440"/>
          </a:xfrm>
          <a:prstGeom prst="ellipse">
            <a:avLst/>
          </a:prstGeom>
          <a:solidFill>
            <a:srgbClr val="FEBC2E"/>
          </a:solidFill>
          <a:ln w="12700">
            <a:solidFill>
              <a:srgbClr val="FEBC2E"/>
            </a:solidFill>
            <a:prstDash val="solid"/>
          </a:ln>
        </p:spPr>
      </p:sp>
      <p:sp>
        <p:nvSpPr>
          <p:cNvPr id="28" name="Shape 24"/>
          <p:cNvSpPr/>
          <p:nvPr/>
        </p:nvSpPr>
        <p:spPr>
          <a:xfrm>
            <a:off x="7918704" y="2075688"/>
            <a:ext cx="91440" cy="91440"/>
          </a:xfrm>
          <a:prstGeom prst="ellipse">
            <a:avLst/>
          </a:prstGeom>
          <a:solidFill>
            <a:srgbClr val="28C840"/>
          </a:solidFill>
          <a:ln w="12700">
            <a:solidFill>
              <a:srgbClr val="28C840"/>
            </a:solidFill>
            <a:prstDash val="solid"/>
          </a:ln>
        </p:spPr>
      </p:sp>
      <p:sp>
        <p:nvSpPr>
          <p:cNvPr id="29" name="Text 25"/>
          <p:cNvSpPr txBox="1"/>
          <p:nvPr/>
        </p:nvSpPr>
        <p:spPr>
          <a:xfrm>
            <a:off x="8138160" y="20116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0" name="Text 26"/>
          <p:cNvSpPr txBox="1"/>
          <p:nvPr/>
        </p:nvSpPr>
        <p:spPr>
          <a:xfrm>
            <a:off x="7589520" y="2331720"/>
            <a:ext cx="3959352" cy="265176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from scipy.stats import ttest_ind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Retained customers' daily watch time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churned_stayed = dataset[dataset["churned"] == 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"avg_watch_recalculated"]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Churned customers' daily watch time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churned_left = dataset[dataset["churned"] == 1][</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"avg_watch_recalculated"]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ttest_ind(churned_stayed, churned_left)</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statistic = 23.83</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pvalue    = 5.12e-119</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df        = 4998</a:t>
            </a:r>
            <a:endParaRPr lang="en-US" sz="950" dirty="0"/>
          </a:p>
        </p:txBody>
      </p:sp>
      <p:sp>
        <p:nvSpPr>
          <p:cNvPr id="31" name="Shape 27"/>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2" name="Shape 28"/>
          <p:cNvSpPr/>
          <p:nvPr/>
        </p:nvSpPr>
        <p:spPr>
          <a:xfrm>
            <a:off x="548640" y="5358384"/>
            <a:ext cx="54864" cy="704088"/>
          </a:xfrm>
          <a:prstGeom prst="rect">
            <a:avLst/>
          </a:prstGeom>
          <a:solidFill>
            <a:srgbClr val="E50914"/>
          </a:solidFill>
          <a:ln w="12700">
            <a:solidFill>
              <a:srgbClr val="E50914"/>
            </a:solidFill>
            <a:prstDash val="solid"/>
          </a:ln>
        </p:spPr>
      </p:sp>
      <p:pic>
        <p:nvPicPr>
          <p:cNvPr id="33" name="Image 2" descr="/tmp/claude-0/-home-claude/0afb8f05-6c65-583f-af33-ecd94b11a885/scratchpad/eda/assets/bulb.png">    </p:cNvPr>
          <p:cNvPicPr>
            <a:picLocks noChangeAspect="1"/>
          </p:cNvPicPr>
          <p:nvPr/>
        </p:nvPicPr>
        <p:blipFill>
          <a:blip r:embed="rId4"/>
          <a:stretch>
            <a:fillRect/>
          </a:stretch>
        </p:blipFill>
        <p:spPr>
          <a:xfrm>
            <a:off x="804672" y="5513832"/>
            <a:ext cx="384048" cy="384048"/>
          </a:xfrm>
          <a:prstGeom prst="rect">
            <a:avLst/>
          </a:prstGeom>
        </p:spPr>
      </p:pic>
      <p:sp>
        <p:nvSpPr>
          <p:cNvPr id="34" name="Text 29"/>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5" name="Text 30"/>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Daily engagement clearly separates the two groups. With a p-value far below 0.05, the difference is not due to chance, and the </a:t>
            </a:r>
            <a:pPr indent="0" marL="0">
              <a:buNone/>
            </a:pPr>
            <a:r>
              <a:rPr lang="en-US" sz="1200" b="1" dirty="0">
                <a:solidFill>
                  <a:srgbClr val="F5F5F1"/>
                </a:solidFill>
                <a:latin typeface="Segoe UI" pitchFamily="34" charset="0"/>
                <a:ea typeface="Segoe UI" pitchFamily="34" charset="-122"/>
                <a:cs typeface="Segoe UI" pitchFamily="34" charset="-120"/>
              </a:rPr>
              <a:t>positive t-statistic (23.83)</a:t>
            </a:r>
            <a:pPr indent="0" marL="0">
              <a:buNone/>
            </a:pPr>
            <a:r>
              <a:rPr lang="en-US" sz="1200" dirty="0">
                <a:solidFill>
                  <a:srgbClr val="F5F5F1"/>
                </a:solidFill>
                <a:latin typeface="Segoe UI" pitchFamily="34" charset="0"/>
                <a:ea typeface="Segoe UI" pitchFamily="34" charset="-122"/>
                <a:cs typeface="Segoe UI" pitchFamily="34" charset="-120"/>
              </a:rPr>
              <a:t> shows that </a:t>
            </a:r>
            <a:pPr indent="0" marL="0">
              <a:buNone/>
            </a:pPr>
            <a:r>
              <a:rPr lang="en-US" sz="1200" b="1" dirty="0">
                <a:solidFill>
                  <a:srgbClr val="F5F5F1"/>
                </a:solidFill>
                <a:latin typeface="Segoe UI" pitchFamily="34" charset="0"/>
                <a:ea typeface="Segoe UI" pitchFamily="34" charset="-122"/>
                <a:cs typeface="Segoe UI" pitchFamily="34" charset="-120"/>
              </a:rPr>
              <a:t>retained customers watch more per day than customers who left</a:t>
            </a:r>
            <a:pPr indent="0" marL="0">
              <a:buNone/>
            </a:pPr>
            <a:r>
              <a:rPr lang="en-US" sz="1200" dirty="0">
                <a:solidFill>
                  <a:srgbClr val="F5F5F1"/>
                </a:solidFill>
                <a:latin typeface="Segoe UI" pitchFamily="34" charset="0"/>
                <a:ea typeface="Segoe UI" pitchFamily="34" charset="-122"/>
                <a:cs typeface="Segoe UI" pitchFamily="34" charset="-120"/>
              </a:rPr>
              <a:t>. Low daily viewing is a reliable churn signal.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08  ·  COMPARING WARNING SIGNALS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How does churn compare among low-viewing customers, long-inactive customers, and customers showing both signals?</a:t>
            </a:r>
            <a:endParaRPr lang="en-US" sz="2200" dirty="0"/>
          </a:p>
        </p:txBody>
      </p:sp>
      <p:sp>
        <p:nvSpPr>
          <p:cNvPr id="6" name="Shape 3"/>
          <p:cNvSpPr/>
          <p:nvPr/>
        </p:nvSpPr>
        <p:spPr>
          <a:xfrm>
            <a:off x="548640" y="6355080"/>
            <a:ext cx="11091672" cy="0"/>
          </a:xfrm>
          <a:prstGeom prst="line">
            <a:avLst/>
          </a:prstGeom>
          <a:noFill/>
          <a:ln w="9525">
            <a:solidFill>
              <a:srgbClr val="2A2A2A"/>
            </a:solidFill>
            <a:prstDash val="solid"/>
          </a:ln>
        </p:spPr>
      </p:sp>
      <p:sp>
        <p:nvSpPr>
          <p:cNvPr id="7" name="Text 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8" name="Text 5"/>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15 / 27</a:t>
            </a:r>
            <a:endParaRPr lang="en-US" sz="900" dirty="0"/>
          </a:p>
        </p:txBody>
      </p:sp>
      <p:sp>
        <p:nvSpPr>
          <p:cNvPr id="9" name="Shape 6"/>
          <p:cNvSpPr/>
          <p:nvPr/>
        </p:nvSpPr>
        <p:spPr>
          <a:xfrm>
            <a:off x="548640" y="1783080"/>
            <a:ext cx="2148840" cy="3291840"/>
          </a:xfrm>
          <a:prstGeom prst="roundRect">
            <a:avLst>
              <a:gd name="adj" fmla="val 3404"/>
            </a:avLst>
          </a:prstGeom>
          <a:solidFill>
            <a:srgbClr val="151515"/>
          </a:solidFill>
          <a:ln w="9525">
            <a:solidFill>
              <a:srgbClr val="2A2A2A"/>
            </a:solidFill>
            <a:prstDash val="solid"/>
          </a:ln>
        </p:spPr>
      </p:sp>
      <p:sp>
        <p:nvSpPr>
          <p:cNvPr id="10" name="Shape 7"/>
          <p:cNvSpPr/>
          <p:nvPr/>
        </p:nvSpPr>
        <p:spPr>
          <a:xfrm>
            <a:off x="749808" y="1783080"/>
            <a:ext cx="548640" cy="36576"/>
          </a:xfrm>
          <a:prstGeom prst="rect">
            <a:avLst/>
          </a:prstGeom>
          <a:solidFill>
            <a:srgbClr val="E50914"/>
          </a:solidFill>
          <a:ln w="12700">
            <a:solidFill>
              <a:srgbClr val="E50914"/>
            </a:solidFill>
            <a:prstDash val="solid"/>
          </a:ln>
        </p:spPr>
      </p:sp>
      <p:pic>
        <p:nvPicPr>
          <p:cNvPr id="11" name="Image 1" descr="/tmp/claude-0/-home-claude/0afb8f05-6c65-583f-af33-ecd94b11a885/scratchpad/eda/assets/inactive.png">    </p:cNvPr>
          <p:cNvPicPr>
            <a:picLocks noChangeAspect="1"/>
          </p:cNvPicPr>
          <p:nvPr/>
        </p:nvPicPr>
        <p:blipFill>
          <a:blip r:embed="rId3"/>
          <a:stretch>
            <a:fillRect/>
          </a:stretch>
        </p:blipFill>
        <p:spPr>
          <a:xfrm>
            <a:off x="777240" y="2103120"/>
            <a:ext cx="502920" cy="502920"/>
          </a:xfrm>
          <a:prstGeom prst="rect">
            <a:avLst/>
          </a:prstGeom>
        </p:spPr>
      </p:pic>
      <p:sp>
        <p:nvSpPr>
          <p:cNvPr id="12" name="Text 8"/>
          <p:cNvSpPr txBox="1"/>
          <p:nvPr/>
        </p:nvSpPr>
        <p:spPr>
          <a:xfrm>
            <a:off x="777240" y="2743200"/>
            <a:ext cx="1783080" cy="457200"/>
          </a:xfrm>
          <a:prstGeom prst="rect">
            <a:avLst/>
          </a:prstGeom>
          <a:noFill/>
          <a:ln/>
        </p:spPr>
        <p:txBody>
          <a:bodyPr wrap="square" lIns="0" tIns="0" rIns="0" bIns="0" rtlCol="0" anchor="t"/>
          <a:lstStyle/>
          <a:p>
            <a:pPr indent="0" marL="0">
              <a:buNone/>
            </a:pPr>
            <a:r>
              <a:rPr lang="en-US" sz="1250" b="1" dirty="0">
                <a:solidFill>
                  <a:srgbClr val="F5F5F1"/>
                </a:solidFill>
                <a:latin typeface="Segoe UI" pitchFamily="34" charset="0"/>
                <a:ea typeface="Segoe UI" pitchFamily="34" charset="-122"/>
                <a:cs typeface="Segoe UI" pitchFamily="34" charset="-120"/>
              </a:rPr>
              <a:t>Long-inactive (&gt;30 days)</a:t>
            </a:r>
            <a:endParaRPr lang="en-US" sz="1250" dirty="0"/>
          </a:p>
        </p:txBody>
      </p:sp>
      <p:sp>
        <p:nvSpPr>
          <p:cNvPr id="13" name="Text 9"/>
          <p:cNvSpPr txBox="1"/>
          <p:nvPr/>
        </p:nvSpPr>
        <p:spPr>
          <a:xfrm>
            <a:off x="777240" y="3246120"/>
            <a:ext cx="1828800" cy="685800"/>
          </a:xfrm>
          <a:prstGeom prst="rect">
            <a:avLst/>
          </a:prstGeom>
          <a:noFill/>
          <a:ln/>
        </p:spPr>
        <p:txBody>
          <a:bodyPr wrap="square" lIns="0" tIns="0" rIns="0" bIns="0" rtlCol="0" anchor="ctr"/>
          <a:lstStyle/>
          <a:p>
            <a:pPr indent="0" marL="0">
              <a:buNone/>
            </a:pPr>
            <a:r>
              <a:rPr lang="en-US" sz="3400" b="1" dirty="0">
                <a:solidFill>
                  <a:srgbClr val="F5F5F1"/>
                </a:solidFill>
                <a:latin typeface="Segoe UI" pitchFamily="34" charset="0"/>
                <a:ea typeface="Segoe UI" pitchFamily="34" charset="-122"/>
                <a:cs typeface="Segoe UI" pitchFamily="34" charset="-120"/>
              </a:rPr>
              <a:t>75.39%</a:t>
            </a:r>
            <a:endParaRPr lang="en-US" sz="3400" dirty="0"/>
          </a:p>
        </p:txBody>
      </p:sp>
      <p:sp>
        <p:nvSpPr>
          <p:cNvPr id="14" name="Text 10"/>
          <p:cNvSpPr txBox="1"/>
          <p:nvPr/>
        </p:nvSpPr>
        <p:spPr>
          <a:xfrm>
            <a:off x="777240" y="3931920"/>
            <a:ext cx="1828800" cy="228600"/>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churn rate</a:t>
            </a:r>
            <a:endParaRPr lang="en-US" sz="1000" dirty="0"/>
          </a:p>
        </p:txBody>
      </p:sp>
      <p:sp>
        <p:nvSpPr>
          <p:cNvPr id="15" name="Text 11"/>
          <p:cNvSpPr txBox="1"/>
          <p:nvPr/>
        </p:nvSpPr>
        <p:spPr>
          <a:xfrm>
            <a:off x="777240" y="4279392"/>
            <a:ext cx="1828800" cy="320040"/>
          </a:xfrm>
          <a:prstGeom prst="rect">
            <a:avLst/>
          </a:prstGeom>
          <a:noFill/>
          <a:ln/>
        </p:spPr>
        <p:txBody>
          <a:bodyPr wrap="square" lIns="0" tIns="0" rIns="0" bIns="0" rtlCol="0" anchor="ctr"/>
          <a:lstStyle/>
          <a:p>
            <a:pPr indent="0" marL="0">
              <a:buNone/>
            </a:pPr>
            <a:r>
              <a:rPr lang="en-US" sz="1500" b="1" dirty="0">
                <a:solidFill>
                  <a:srgbClr val="F5F5F1"/>
                </a:solidFill>
                <a:latin typeface="Segoe UI" pitchFamily="34" charset="0"/>
                <a:ea typeface="Segoe UI" pitchFamily="34" charset="-122"/>
                <a:cs typeface="Segoe UI" pitchFamily="34" charset="-120"/>
              </a:rPr>
              <a:t>1,774</a:t>
            </a:r>
            <a:endParaRPr lang="en-US" sz="1500" dirty="0"/>
          </a:p>
        </p:txBody>
      </p:sp>
      <p:sp>
        <p:nvSpPr>
          <p:cNvPr id="16" name="Text 12"/>
          <p:cNvSpPr txBox="1"/>
          <p:nvPr/>
        </p:nvSpPr>
        <p:spPr>
          <a:xfrm>
            <a:off x="777240" y="4590288"/>
            <a:ext cx="1828800" cy="384048"/>
          </a:xfrm>
          <a:prstGeom prst="rect">
            <a:avLst/>
          </a:prstGeom>
          <a:noFill/>
          <a:ln/>
        </p:spPr>
        <p:txBody>
          <a:bodyPr wrap="square" lIns="0" tIns="0" rIns="0" bIns="0" rtlCol="0" anchor="t"/>
          <a:lstStyle/>
          <a:p>
            <a:pPr indent="0" marL="0">
              <a:buNone/>
            </a:pPr>
            <a:r>
              <a:rPr lang="en-US" sz="950" dirty="0">
                <a:solidFill>
                  <a:srgbClr val="A6A6A6"/>
                </a:solidFill>
                <a:latin typeface="Segoe UI" pitchFamily="34" charset="0"/>
                <a:ea typeface="Segoe UI" pitchFamily="34" charset="-122"/>
                <a:cs typeface="Segoe UI" pitchFamily="34" charset="-120"/>
              </a:rPr>
              <a:t>long-inactive customers churned</a:t>
            </a:r>
            <a:endParaRPr lang="en-US" sz="950" dirty="0"/>
          </a:p>
        </p:txBody>
      </p:sp>
      <p:sp>
        <p:nvSpPr>
          <p:cNvPr id="17" name="Shape 13"/>
          <p:cNvSpPr/>
          <p:nvPr/>
        </p:nvSpPr>
        <p:spPr>
          <a:xfrm>
            <a:off x="2788920" y="1783080"/>
            <a:ext cx="2148840" cy="3291840"/>
          </a:xfrm>
          <a:prstGeom prst="roundRect">
            <a:avLst>
              <a:gd name="adj" fmla="val 3404"/>
            </a:avLst>
          </a:prstGeom>
          <a:solidFill>
            <a:srgbClr val="151515"/>
          </a:solidFill>
          <a:ln w="9525">
            <a:solidFill>
              <a:srgbClr val="2A2A2A"/>
            </a:solidFill>
            <a:prstDash val="solid"/>
          </a:ln>
        </p:spPr>
      </p:sp>
      <p:sp>
        <p:nvSpPr>
          <p:cNvPr id="18" name="Shape 14"/>
          <p:cNvSpPr/>
          <p:nvPr/>
        </p:nvSpPr>
        <p:spPr>
          <a:xfrm>
            <a:off x="2990088" y="1783080"/>
            <a:ext cx="548640" cy="36576"/>
          </a:xfrm>
          <a:prstGeom prst="rect">
            <a:avLst/>
          </a:prstGeom>
          <a:solidFill>
            <a:srgbClr val="E50914"/>
          </a:solidFill>
          <a:ln w="12700">
            <a:solidFill>
              <a:srgbClr val="E50914"/>
            </a:solidFill>
            <a:prstDash val="solid"/>
          </a:ln>
        </p:spPr>
      </p:sp>
      <p:pic>
        <p:nvPicPr>
          <p:cNvPr id="19" name="Image 2" descr="/tmp/claude-0/-home-claude/0afb8f05-6c65-583f-af33-ecd94b11a885/scratchpad/eda/assets/lowview.png">    </p:cNvPr>
          <p:cNvPicPr>
            <a:picLocks noChangeAspect="1"/>
          </p:cNvPicPr>
          <p:nvPr/>
        </p:nvPicPr>
        <p:blipFill>
          <a:blip r:embed="rId4"/>
          <a:stretch>
            <a:fillRect/>
          </a:stretch>
        </p:blipFill>
        <p:spPr>
          <a:xfrm>
            <a:off x="3017520" y="2103120"/>
            <a:ext cx="502920" cy="502920"/>
          </a:xfrm>
          <a:prstGeom prst="rect">
            <a:avLst/>
          </a:prstGeom>
        </p:spPr>
      </p:pic>
      <p:sp>
        <p:nvSpPr>
          <p:cNvPr id="20" name="Text 15"/>
          <p:cNvSpPr txBox="1"/>
          <p:nvPr/>
        </p:nvSpPr>
        <p:spPr>
          <a:xfrm>
            <a:off x="3017520" y="2743200"/>
            <a:ext cx="1783080" cy="457200"/>
          </a:xfrm>
          <a:prstGeom prst="rect">
            <a:avLst/>
          </a:prstGeom>
          <a:noFill/>
          <a:ln/>
        </p:spPr>
        <p:txBody>
          <a:bodyPr wrap="square" lIns="0" tIns="0" rIns="0" bIns="0" rtlCol="0" anchor="t"/>
          <a:lstStyle/>
          <a:p>
            <a:pPr indent="0" marL="0">
              <a:buNone/>
            </a:pPr>
            <a:r>
              <a:rPr lang="en-US" sz="1250" b="1" dirty="0">
                <a:solidFill>
                  <a:srgbClr val="F5F5F1"/>
                </a:solidFill>
                <a:latin typeface="Segoe UI" pitchFamily="34" charset="0"/>
                <a:ea typeface="Segoe UI" pitchFamily="34" charset="-122"/>
                <a:cs typeface="Segoe UI" pitchFamily="34" charset="-120"/>
              </a:rPr>
              <a:t>Low viewing</a:t>
            </a:r>
            <a:endParaRPr lang="en-US" sz="1250" dirty="0"/>
          </a:p>
        </p:txBody>
      </p:sp>
      <p:sp>
        <p:nvSpPr>
          <p:cNvPr id="21" name="Text 16"/>
          <p:cNvSpPr txBox="1"/>
          <p:nvPr/>
        </p:nvSpPr>
        <p:spPr>
          <a:xfrm>
            <a:off x="3017520" y="3246120"/>
            <a:ext cx="1828800" cy="685800"/>
          </a:xfrm>
          <a:prstGeom prst="rect">
            <a:avLst/>
          </a:prstGeom>
          <a:noFill/>
          <a:ln/>
        </p:spPr>
        <p:txBody>
          <a:bodyPr wrap="square" lIns="0" tIns="0" rIns="0" bIns="0" rtlCol="0" anchor="ctr"/>
          <a:lstStyle/>
          <a:p>
            <a:pPr indent="0" marL="0">
              <a:buNone/>
            </a:pPr>
            <a:r>
              <a:rPr lang="en-US" sz="3400" b="1" dirty="0">
                <a:solidFill>
                  <a:srgbClr val="F5F5F1"/>
                </a:solidFill>
                <a:latin typeface="Segoe UI" pitchFamily="34" charset="0"/>
                <a:ea typeface="Segoe UI" pitchFamily="34" charset="-122"/>
                <a:cs typeface="Segoe UI" pitchFamily="34" charset="-120"/>
              </a:rPr>
              <a:t>85.58%</a:t>
            </a:r>
            <a:endParaRPr lang="en-US" sz="3400" dirty="0"/>
          </a:p>
        </p:txBody>
      </p:sp>
      <p:sp>
        <p:nvSpPr>
          <p:cNvPr id="22" name="Text 17"/>
          <p:cNvSpPr txBox="1"/>
          <p:nvPr/>
        </p:nvSpPr>
        <p:spPr>
          <a:xfrm>
            <a:off x="3017520" y="3931920"/>
            <a:ext cx="1828800" cy="228600"/>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churn rate</a:t>
            </a:r>
            <a:endParaRPr lang="en-US" sz="1000" dirty="0"/>
          </a:p>
        </p:txBody>
      </p:sp>
      <p:sp>
        <p:nvSpPr>
          <p:cNvPr id="23" name="Text 18"/>
          <p:cNvSpPr txBox="1"/>
          <p:nvPr/>
        </p:nvSpPr>
        <p:spPr>
          <a:xfrm>
            <a:off x="3017520" y="4279392"/>
            <a:ext cx="1828800" cy="320040"/>
          </a:xfrm>
          <a:prstGeom prst="rect">
            <a:avLst/>
          </a:prstGeom>
          <a:noFill/>
          <a:ln/>
        </p:spPr>
        <p:txBody>
          <a:bodyPr wrap="square" lIns="0" tIns="0" rIns="0" bIns="0" rtlCol="0" anchor="ctr"/>
          <a:lstStyle/>
          <a:p>
            <a:pPr indent="0" marL="0">
              <a:buNone/>
            </a:pPr>
            <a:r>
              <a:rPr lang="en-US" sz="1500" b="1" dirty="0">
                <a:solidFill>
                  <a:srgbClr val="F5F5F1"/>
                </a:solidFill>
                <a:latin typeface="Segoe UI" pitchFamily="34" charset="0"/>
                <a:ea typeface="Segoe UI" pitchFamily="34" charset="-122"/>
                <a:cs typeface="Segoe UI" pitchFamily="34" charset="-120"/>
              </a:rPr>
              <a:t>1,068</a:t>
            </a:r>
            <a:endParaRPr lang="en-US" sz="1500" dirty="0"/>
          </a:p>
        </p:txBody>
      </p:sp>
      <p:sp>
        <p:nvSpPr>
          <p:cNvPr id="24" name="Text 19"/>
          <p:cNvSpPr txBox="1"/>
          <p:nvPr/>
        </p:nvSpPr>
        <p:spPr>
          <a:xfrm>
            <a:off x="3017520" y="4590288"/>
            <a:ext cx="1828800" cy="384048"/>
          </a:xfrm>
          <a:prstGeom prst="rect">
            <a:avLst/>
          </a:prstGeom>
          <a:noFill/>
          <a:ln/>
        </p:spPr>
        <p:txBody>
          <a:bodyPr wrap="square" lIns="0" tIns="0" rIns="0" bIns="0" rtlCol="0" anchor="t"/>
          <a:lstStyle/>
          <a:p>
            <a:pPr indent="0" marL="0">
              <a:buNone/>
            </a:pPr>
            <a:r>
              <a:rPr lang="en-US" sz="950" dirty="0">
                <a:solidFill>
                  <a:srgbClr val="A6A6A6"/>
                </a:solidFill>
                <a:latin typeface="Segoe UI" pitchFamily="34" charset="0"/>
                <a:ea typeface="Segoe UI" pitchFamily="34" charset="-122"/>
                <a:cs typeface="Segoe UI" pitchFamily="34" charset="-120"/>
              </a:rPr>
              <a:t>low-viewing customers churned</a:t>
            </a:r>
            <a:endParaRPr lang="en-US" sz="950" dirty="0"/>
          </a:p>
        </p:txBody>
      </p:sp>
      <p:sp>
        <p:nvSpPr>
          <p:cNvPr id="25" name="Shape 20"/>
          <p:cNvSpPr/>
          <p:nvPr/>
        </p:nvSpPr>
        <p:spPr>
          <a:xfrm>
            <a:off x="5029200" y="1783080"/>
            <a:ext cx="2148840" cy="3291840"/>
          </a:xfrm>
          <a:prstGeom prst="roundRect">
            <a:avLst>
              <a:gd name="adj" fmla="val 3404"/>
            </a:avLst>
          </a:prstGeom>
          <a:solidFill>
            <a:srgbClr val="3A0D10"/>
          </a:solidFill>
          <a:ln w="12700">
            <a:solidFill>
              <a:srgbClr val="E50914"/>
            </a:solidFill>
            <a:prstDash val="solid"/>
          </a:ln>
        </p:spPr>
      </p:sp>
      <p:sp>
        <p:nvSpPr>
          <p:cNvPr id="26" name="Shape 21"/>
          <p:cNvSpPr/>
          <p:nvPr/>
        </p:nvSpPr>
        <p:spPr>
          <a:xfrm>
            <a:off x="5230368" y="1783080"/>
            <a:ext cx="548640" cy="36576"/>
          </a:xfrm>
          <a:prstGeom prst="rect">
            <a:avLst/>
          </a:prstGeom>
          <a:solidFill>
            <a:srgbClr val="E50914"/>
          </a:solidFill>
          <a:ln w="12700">
            <a:solidFill>
              <a:srgbClr val="E50914"/>
            </a:solidFill>
            <a:prstDash val="solid"/>
          </a:ln>
        </p:spPr>
      </p:sp>
      <p:pic>
        <p:nvPicPr>
          <p:cNvPr id="27" name="Image 3" descr="/tmp/claude-0/-home-claude/0afb8f05-6c65-583f-af33-ecd94b11a885/scratchpad/eda/assets/gauge.png">    </p:cNvPr>
          <p:cNvPicPr>
            <a:picLocks noChangeAspect="1"/>
          </p:cNvPicPr>
          <p:nvPr/>
        </p:nvPicPr>
        <p:blipFill>
          <a:blip r:embed="rId5"/>
          <a:stretch>
            <a:fillRect/>
          </a:stretch>
        </p:blipFill>
        <p:spPr>
          <a:xfrm>
            <a:off x="5257800" y="2103120"/>
            <a:ext cx="502920" cy="502920"/>
          </a:xfrm>
          <a:prstGeom prst="rect">
            <a:avLst/>
          </a:prstGeom>
        </p:spPr>
      </p:pic>
      <p:sp>
        <p:nvSpPr>
          <p:cNvPr id="28" name="Text 22"/>
          <p:cNvSpPr txBox="1"/>
          <p:nvPr/>
        </p:nvSpPr>
        <p:spPr>
          <a:xfrm>
            <a:off x="5257800" y="2743200"/>
            <a:ext cx="1783080" cy="457200"/>
          </a:xfrm>
          <a:prstGeom prst="rect">
            <a:avLst/>
          </a:prstGeom>
          <a:noFill/>
          <a:ln/>
        </p:spPr>
        <p:txBody>
          <a:bodyPr wrap="square" lIns="0" tIns="0" rIns="0" bIns="0" rtlCol="0" anchor="t"/>
          <a:lstStyle/>
          <a:p>
            <a:pPr indent="0" marL="0">
              <a:buNone/>
            </a:pPr>
            <a:r>
              <a:rPr lang="en-US" sz="1250" b="1" dirty="0">
                <a:solidFill>
                  <a:srgbClr val="F5F5F1"/>
                </a:solidFill>
                <a:latin typeface="Segoe UI" pitchFamily="34" charset="0"/>
                <a:ea typeface="Segoe UI" pitchFamily="34" charset="-122"/>
                <a:cs typeface="Segoe UI" pitchFamily="34" charset="-120"/>
              </a:rPr>
              <a:t>Both signals</a:t>
            </a:r>
            <a:endParaRPr lang="en-US" sz="1250" dirty="0"/>
          </a:p>
        </p:txBody>
      </p:sp>
      <p:sp>
        <p:nvSpPr>
          <p:cNvPr id="29" name="Text 23"/>
          <p:cNvSpPr txBox="1"/>
          <p:nvPr/>
        </p:nvSpPr>
        <p:spPr>
          <a:xfrm>
            <a:off x="5257800" y="3246120"/>
            <a:ext cx="1828800" cy="685800"/>
          </a:xfrm>
          <a:prstGeom prst="rect">
            <a:avLst/>
          </a:prstGeom>
          <a:noFill/>
          <a:ln/>
        </p:spPr>
        <p:txBody>
          <a:bodyPr wrap="square" lIns="0" tIns="0" rIns="0" bIns="0" rtlCol="0" anchor="ctr"/>
          <a:lstStyle/>
          <a:p>
            <a:pPr indent="0" marL="0">
              <a:buNone/>
            </a:pPr>
            <a:r>
              <a:rPr lang="en-US" sz="3400" b="1" dirty="0">
                <a:solidFill>
                  <a:srgbClr val="FF4D57"/>
                </a:solidFill>
                <a:latin typeface="Segoe UI" pitchFamily="34" charset="0"/>
                <a:ea typeface="Segoe UI" pitchFamily="34" charset="-122"/>
                <a:cs typeface="Segoe UI" pitchFamily="34" charset="-120"/>
              </a:rPr>
              <a:t>100%</a:t>
            </a:r>
            <a:endParaRPr lang="en-US" sz="3400" dirty="0"/>
          </a:p>
        </p:txBody>
      </p:sp>
      <p:sp>
        <p:nvSpPr>
          <p:cNvPr id="30" name="Text 24"/>
          <p:cNvSpPr txBox="1"/>
          <p:nvPr/>
        </p:nvSpPr>
        <p:spPr>
          <a:xfrm>
            <a:off x="5257800" y="3931920"/>
            <a:ext cx="1828800" cy="228600"/>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churn rate</a:t>
            </a:r>
            <a:endParaRPr lang="en-US" sz="1000" dirty="0"/>
          </a:p>
        </p:txBody>
      </p:sp>
      <p:sp>
        <p:nvSpPr>
          <p:cNvPr id="31" name="Text 25"/>
          <p:cNvSpPr txBox="1"/>
          <p:nvPr/>
        </p:nvSpPr>
        <p:spPr>
          <a:xfrm>
            <a:off x="5257800" y="4279392"/>
            <a:ext cx="1828800" cy="320040"/>
          </a:xfrm>
          <a:prstGeom prst="rect">
            <a:avLst/>
          </a:prstGeom>
          <a:noFill/>
          <a:ln/>
        </p:spPr>
        <p:txBody>
          <a:bodyPr wrap="square" lIns="0" tIns="0" rIns="0" bIns="0" rtlCol="0" anchor="ctr"/>
          <a:lstStyle/>
          <a:p>
            <a:pPr indent="0" marL="0">
              <a:buNone/>
            </a:pPr>
            <a:r>
              <a:rPr lang="en-US" sz="1500" b="1" dirty="0">
                <a:solidFill>
                  <a:srgbClr val="F5F5F1"/>
                </a:solidFill>
                <a:latin typeface="Segoe UI" pitchFamily="34" charset="0"/>
                <a:ea typeface="Segoe UI" pitchFamily="34" charset="-122"/>
                <a:cs typeface="Segoe UI" pitchFamily="34" charset="-120"/>
              </a:rPr>
              <a:t>583</a:t>
            </a:r>
            <a:endParaRPr lang="en-US" sz="1500" dirty="0"/>
          </a:p>
        </p:txBody>
      </p:sp>
      <p:sp>
        <p:nvSpPr>
          <p:cNvPr id="32" name="Text 26"/>
          <p:cNvSpPr txBox="1"/>
          <p:nvPr/>
        </p:nvSpPr>
        <p:spPr>
          <a:xfrm>
            <a:off x="5257800" y="4590288"/>
            <a:ext cx="1828800" cy="384048"/>
          </a:xfrm>
          <a:prstGeom prst="rect">
            <a:avLst/>
          </a:prstGeom>
          <a:noFill/>
          <a:ln/>
        </p:spPr>
        <p:txBody>
          <a:bodyPr wrap="square" lIns="0" tIns="0" rIns="0" bIns="0" rtlCol="0" anchor="t"/>
          <a:lstStyle/>
          <a:p>
            <a:pPr indent="0" marL="0">
              <a:buNone/>
            </a:pPr>
            <a:r>
              <a:rPr lang="en-US" sz="950" dirty="0">
                <a:solidFill>
                  <a:srgbClr val="A6A6A6"/>
                </a:solidFill>
                <a:latin typeface="Segoe UI" pitchFamily="34" charset="0"/>
                <a:ea typeface="Segoe UI" pitchFamily="34" charset="-122"/>
                <a:cs typeface="Segoe UI" pitchFamily="34" charset="-120"/>
              </a:rPr>
              <a:t>customers with both signals: all churned</a:t>
            </a:r>
            <a:endParaRPr lang="en-US" sz="950" dirty="0"/>
          </a:p>
        </p:txBody>
      </p:sp>
      <p:sp>
        <p:nvSpPr>
          <p:cNvPr id="33" name="Shape 27"/>
          <p:cNvSpPr/>
          <p:nvPr/>
        </p:nvSpPr>
        <p:spPr>
          <a:xfrm>
            <a:off x="7589520" y="1691640"/>
            <a:ext cx="4050792" cy="3410712"/>
          </a:xfrm>
          <a:prstGeom prst="roundRect">
            <a:avLst>
              <a:gd name="adj" fmla="val 1609"/>
            </a:avLst>
          </a:prstGeom>
          <a:solidFill>
            <a:srgbClr val="0E0E0E"/>
          </a:solidFill>
          <a:ln w="9525">
            <a:solidFill>
              <a:srgbClr val="2A2A2A"/>
            </a:solidFill>
            <a:prstDash val="solid"/>
          </a:ln>
        </p:spPr>
      </p:sp>
      <p:sp>
        <p:nvSpPr>
          <p:cNvPr id="34" name="Shape 28"/>
          <p:cNvSpPr/>
          <p:nvPr/>
        </p:nvSpPr>
        <p:spPr>
          <a:xfrm>
            <a:off x="7772400" y="1847088"/>
            <a:ext cx="91440" cy="91440"/>
          </a:xfrm>
          <a:prstGeom prst="ellipse">
            <a:avLst/>
          </a:prstGeom>
          <a:solidFill>
            <a:srgbClr val="FF5F57"/>
          </a:solidFill>
          <a:ln w="12700">
            <a:solidFill>
              <a:srgbClr val="FF5F57"/>
            </a:solidFill>
            <a:prstDash val="solid"/>
          </a:ln>
        </p:spPr>
      </p:sp>
      <p:sp>
        <p:nvSpPr>
          <p:cNvPr id="35" name="Shape 29"/>
          <p:cNvSpPr/>
          <p:nvPr/>
        </p:nvSpPr>
        <p:spPr>
          <a:xfrm>
            <a:off x="7936992" y="1847088"/>
            <a:ext cx="91440" cy="91440"/>
          </a:xfrm>
          <a:prstGeom prst="ellipse">
            <a:avLst/>
          </a:prstGeom>
          <a:solidFill>
            <a:srgbClr val="FEBC2E"/>
          </a:solidFill>
          <a:ln w="12700">
            <a:solidFill>
              <a:srgbClr val="FEBC2E"/>
            </a:solidFill>
            <a:prstDash val="solid"/>
          </a:ln>
        </p:spPr>
      </p:sp>
      <p:sp>
        <p:nvSpPr>
          <p:cNvPr id="36" name="Shape 30"/>
          <p:cNvSpPr/>
          <p:nvPr/>
        </p:nvSpPr>
        <p:spPr>
          <a:xfrm>
            <a:off x="8101584" y="1847088"/>
            <a:ext cx="91440" cy="91440"/>
          </a:xfrm>
          <a:prstGeom prst="ellipse">
            <a:avLst/>
          </a:prstGeom>
          <a:solidFill>
            <a:srgbClr val="28C840"/>
          </a:solidFill>
          <a:ln w="12700">
            <a:solidFill>
              <a:srgbClr val="28C840"/>
            </a:solidFill>
            <a:prstDash val="solid"/>
          </a:ln>
        </p:spPr>
      </p:sp>
      <p:sp>
        <p:nvSpPr>
          <p:cNvPr id="37" name="Text 31"/>
          <p:cNvSpPr txBox="1"/>
          <p:nvPr/>
        </p:nvSpPr>
        <p:spPr>
          <a:xfrm>
            <a:off x="8321040" y="17830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8" name="Text 32"/>
          <p:cNvSpPr txBox="1"/>
          <p:nvPr/>
        </p:nvSpPr>
        <p:spPr>
          <a:xfrm>
            <a:off x="7772400" y="2103120"/>
            <a:ext cx="3776472" cy="2907792"/>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1. Inactive for more than 30 days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last_login_days = dataset[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dataset["last_login_days"] &gt; 30]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2. Low-viewing customers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viewing_level = dataset[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dataset["viewing_level"] == "Low"]</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3. Customers showing BOTH signals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both_signals = dataset[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(dataset["last_login_days"] &gt; 30)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(dataset["viewing_level"] == "Low")]</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both_signals_left = both_signals[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both_signals["churn_status"] ==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both_churn_rate = (len(both_signals_left)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len(both_signals)) * 100   # 100.0</a:t>
            </a:r>
            <a:endParaRPr lang="en-US" sz="950" dirty="0"/>
          </a:p>
        </p:txBody>
      </p:sp>
      <p:sp>
        <p:nvSpPr>
          <p:cNvPr id="39" name="Shape 33"/>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40" name="Shape 34"/>
          <p:cNvSpPr/>
          <p:nvPr/>
        </p:nvSpPr>
        <p:spPr>
          <a:xfrm>
            <a:off x="548640" y="5358384"/>
            <a:ext cx="54864" cy="704088"/>
          </a:xfrm>
          <a:prstGeom prst="rect">
            <a:avLst/>
          </a:prstGeom>
          <a:solidFill>
            <a:srgbClr val="E50914"/>
          </a:solidFill>
          <a:ln w="12700">
            <a:solidFill>
              <a:srgbClr val="E50914"/>
            </a:solidFill>
            <a:prstDash val="solid"/>
          </a:ln>
        </p:spPr>
      </p:sp>
      <p:pic>
        <p:nvPicPr>
          <p:cNvPr id="41" name="Image 4" descr="/tmp/claude-0/-home-claude/0afb8f05-6c65-583f-af33-ecd94b11a885/scratchpad/eda/assets/bulb.png">    </p:cNvPr>
          <p:cNvPicPr>
            <a:picLocks noChangeAspect="1"/>
          </p:cNvPicPr>
          <p:nvPr/>
        </p:nvPicPr>
        <p:blipFill>
          <a:blip r:embed="rId6"/>
          <a:stretch>
            <a:fillRect/>
          </a:stretch>
        </p:blipFill>
        <p:spPr>
          <a:xfrm>
            <a:off x="804672" y="5513832"/>
            <a:ext cx="384048" cy="384048"/>
          </a:xfrm>
          <a:prstGeom prst="rect">
            <a:avLst/>
          </a:prstGeom>
        </p:spPr>
      </p:pic>
      <p:sp>
        <p:nvSpPr>
          <p:cNvPr id="42" name="Text 35"/>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43" name="Text 36"/>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Each signal is strong on its own: </a:t>
            </a:r>
            <a:pPr indent="0" marL="0">
              <a:buNone/>
            </a:pPr>
            <a:r>
              <a:rPr lang="en-US" sz="1200" b="1" dirty="0">
                <a:solidFill>
                  <a:srgbClr val="F5F5F1"/>
                </a:solidFill>
                <a:latin typeface="Segoe UI" pitchFamily="34" charset="0"/>
                <a:ea typeface="Segoe UI" pitchFamily="34" charset="-122"/>
                <a:cs typeface="Segoe UI" pitchFamily="34" charset="-120"/>
              </a:rPr>
              <a:t>75.39%</a:t>
            </a:r>
            <a:pPr indent="0" marL="0">
              <a:buNone/>
            </a:pPr>
            <a:r>
              <a:rPr lang="en-US" sz="1200" dirty="0">
                <a:solidFill>
                  <a:srgbClr val="F5F5F1"/>
                </a:solidFill>
                <a:latin typeface="Segoe UI" pitchFamily="34" charset="0"/>
                <a:ea typeface="Segoe UI" pitchFamily="34" charset="-122"/>
                <a:cs typeface="Segoe UI" pitchFamily="34" charset="-120"/>
              </a:rPr>
              <a:t> of long-inactive customers and </a:t>
            </a:r>
            <a:pPr indent="0" marL="0">
              <a:buNone/>
            </a:pPr>
            <a:r>
              <a:rPr lang="en-US" sz="1200" b="1" dirty="0">
                <a:solidFill>
                  <a:srgbClr val="F5F5F1"/>
                </a:solidFill>
                <a:latin typeface="Segoe UI" pitchFamily="34" charset="0"/>
                <a:ea typeface="Segoe UI" pitchFamily="34" charset="-122"/>
                <a:cs typeface="Segoe UI" pitchFamily="34" charset="-120"/>
              </a:rPr>
              <a:t>85.58%</a:t>
            </a:r>
            <a:pPr indent="0" marL="0">
              <a:buNone/>
            </a:pPr>
            <a:r>
              <a:rPr lang="en-US" sz="1200" dirty="0">
                <a:solidFill>
                  <a:srgbClr val="F5F5F1"/>
                </a:solidFill>
                <a:latin typeface="Segoe UI" pitchFamily="34" charset="0"/>
                <a:ea typeface="Segoe UI" pitchFamily="34" charset="-122"/>
                <a:cs typeface="Segoe UI" pitchFamily="34" charset="-120"/>
              </a:rPr>
              <a:t> of low-viewing customers churned, making low viewing the stronger single signal. When </a:t>
            </a:r>
            <a:pPr indent="0" marL="0">
              <a:buNone/>
            </a:pPr>
            <a:r>
              <a:rPr lang="en-US" sz="1200" b="1" dirty="0">
                <a:solidFill>
                  <a:srgbClr val="FF4D57"/>
                </a:solidFill>
                <a:latin typeface="Segoe UI" pitchFamily="34" charset="0"/>
                <a:ea typeface="Segoe UI" pitchFamily="34" charset="-122"/>
                <a:cs typeface="Segoe UI" pitchFamily="34" charset="-120"/>
              </a:rPr>
              <a:t>both signals appear together, churn reaches 100%</a:t>
            </a:r>
            <a:pPr indent="0" marL="0">
              <a:buNone/>
            </a:pPr>
            <a:r>
              <a:rPr lang="en-US" sz="1200" dirty="0">
                <a:solidFill>
                  <a:srgbClr val="F5F5F1"/>
                </a:solidFill>
                <a:latin typeface="Segoe UI" pitchFamily="34" charset="0"/>
                <a:ea typeface="Segoe UI" pitchFamily="34" charset="-122"/>
                <a:cs typeface="Segoe UI" pitchFamily="34" charset="-120"/>
              </a:rPr>
              <a:t>: every one of the 583 customers in this group left.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09  ·  PLAN TYPE</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Is the Basic plan inherently higher risk, or does it simply contain less-engaged customers?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Churn compared across plans within the same (low) viewing level.</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16 / 27</a:t>
            </a:r>
            <a:endParaRPr lang="en-US" sz="900" dirty="0"/>
          </a:p>
        </p:txBody>
      </p:sp>
      <p:sp>
        <p:nvSpPr>
          <p:cNvPr id="10" name="Shape 7"/>
          <p:cNvSpPr/>
          <p:nvPr/>
        </p:nvSpPr>
        <p:spPr>
          <a:xfrm>
            <a:off x="548640" y="1783080"/>
            <a:ext cx="2148840" cy="3291840"/>
          </a:xfrm>
          <a:prstGeom prst="roundRect">
            <a:avLst>
              <a:gd name="adj" fmla="val 3404"/>
            </a:avLst>
          </a:prstGeom>
          <a:solidFill>
            <a:srgbClr val="1E0B0D"/>
          </a:solidFill>
          <a:ln w="12700">
            <a:solidFill>
              <a:srgbClr val="E50914"/>
            </a:solidFill>
            <a:prstDash val="solid"/>
          </a:ln>
        </p:spPr>
      </p:sp>
      <p:sp>
        <p:nvSpPr>
          <p:cNvPr id="11" name="Shape 8"/>
          <p:cNvSpPr/>
          <p:nvPr/>
        </p:nvSpPr>
        <p:spPr>
          <a:xfrm>
            <a:off x="749808" y="178308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plan_Basic.png">    </p:cNvPr>
          <p:cNvPicPr>
            <a:picLocks noChangeAspect="1"/>
          </p:cNvPicPr>
          <p:nvPr/>
        </p:nvPicPr>
        <p:blipFill>
          <a:blip r:embed="rId3"/>
          <a:stretch>
            <a:fillRect/>
          </a:stretch>
        </p:blipFill>
        <p:spPr>
          <a:xfrm>
            <a:off x="777240" y="2103120"/>
            <a:ext cx="548640" cy="548640"/>
          </a:xfrm>
          <a:prstGeom prst="rect">
            <a:avLst/>
          </a:prstGeom>
        </p:spPr>
      </p:pic>
      <p:sp>
        <p:nvSpPr>
          <p:cNvPr id="13" name="Text 9"/>
          <p:cNvSpPr txBox="1"/>
          <p:nvPr/>
        </p:nvSpPr>
        <p:spPr>
          <a:xfrm>
            <a:off x="1463040" y="2103120"/>
            <a:ext cx="1188720" cy="548640"/>
          </a:xfrm>
          <a:prstGeom prst="rect">
            <a:avLst/>
          </a:prstGeom>
          <a:noFill/>
          <a:ln/>
        </p:spPr>
        <p:txBody>
          <a:bodyPr wrap="square" lIns="0" tIns="0" rIns="0" bIns="0" rtlCol="0" anchor="ctr"/>
          <a:lstStyle/>
          <a:p>
            <a:pPr indent="0" marL="0">
              <a:buNone/>
            </a:pPr>
            <a:r>
              <a:rPr lang="en-US" sz="1600" b="1" dirty="0">
                <a:solidFill>
                  <a:srgbClr val="F5F5F1"/>
                </a:solidFill>
                <a:latin typeface="Segoe UI" pitchFamily="34" charset="0"/>
                <a:ea typeface="Segoe UI" pitchFamily="34" charset="-122"/>
                <a:cs typeface="Segoe UI" pitchFamily="34" charset="-120"/>
              </a:rPr>
              <a:t>Basic</a:t>
            </a:r>
            <a:endParaRPr lang="en-US" sz="1600" dirty="0"/>
          </a:p>
        </p:txBody>
      </p:sp>
      <p:sp>
        <p:nvSpPr>
          <p:cNvPr id="14" name="Text 10"/>
          <p:cNvSpPr txBox="1"/>
          <p:nvPr/>
        </p:nvSpPr>
        <p:spPr>
          <a:xfrm>
            <a:off x="777240" y="2834640"/>
            <a:ext cx="1828800" cy="685800"/>
          </a:xfrm>
          <a:prstGeom prst="rect">
            <a:avLst/>
          </a:prstGeom>
          <a:noFill/>
          <a:ln/>
        </p:spPr>
        <p:txBody>
          <a:bodyPr wrap="square" lIns="0" tIns="0" rIns="0" bIns="0" rtlCol="0" anchor="ctr"/>
          <a:lstStyle/>
          <a:p>
            <a:pPr indent="0" marL="0">
              <a:buNone/>
            </a:pPr>
            <a:r>
              <a:rPr lang="en-US" sz="3200" b="1" dirty="0">
                <a:solidFill>
                  <a:srgbClr val="FF4D57"/>
                </a:solidFill>
                <a:latin typeface="Segoe UI" pitchFamily="34" charset="0"/>
                <a:ea typeface="Segoe UI" pitchFamily="34" charset="-122"/>
                <a:cs typeface="Segoe UI" pitchFamily="34" charset="-120"/>
              </a:rPr>
              <a:t>97.58%</a:t>
            </a:r>
            <a:endParaRPr lang="en-US" sz="3200" dirty="0"/>
          </a:p>
        </p:txBody>
      </p:sp>
      <p:sp>
        <p:nvSpPr>
          <p:cNvPr id="15" name="Text 11"/>
          <p:cNvSpPr txBox="1"/>
          <p:nvPr/>
        </p:nvSpPr>
        <p:spPr>
          <a:xfrm>
            <a:off x="777240" y="3520440"/>
            <a:ext cx="1828800" cy="228600"/>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churn rate (low viewers)</a:t>
            </a:r>
            <a:endParaRPr lang="en-US" sz="1000" dirty="0"/>
          </a:p>
        </p:txBody>
      </p:sp>
      <p:sp>
        <p:nvSpPr>
          <p:cNvPr id="16" name="Text 12"/>
          <p:cNvSpPr txBox="1"/>
          <p:nvPr/>
        </p:nvSpPr>
        <p:spPr>
          <a:xfrm>
            <a:off x="777240" y="3931920"/>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Left</a:t>
            </a:r>
            <a:endParaRPr lang="en-US" sz="1100" dirty="0"/>
          </a:p>
        </p:txBody>
      </p:sp>
      <p:sp>
        <p:nvSpPr>
          <p:cNvPr id="17" name="Text 13"/>
          <p:cNvSpPr txBox="1"/>
          <p:nvPr/>
        </p:nvSpPr>
        <p:spPr>
          <a:xfrm>
            <a:off x="1645920" y="3931920"/>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404</a:t>
            </a:r>
            <a:endParaRPr lang="en-US" sz="1200" dirty="0"/>
          </a:p>
        </p:txBody>
      </p:sp>
      <p:sp>
        <p:nvSpPr>
          <p:cNvPr id="18" name="Text 14"/>
          <p:cNvSpPr txBox="1"/>
          <p:nvPr/>
        </p:nvSpPr>
        <p:spPr>
          <a:xfrm>
            <a:off x="777240" y="4261104"/>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Stayed</a:t>
            </a:r>
            <a:endParaRPr lang="en-US" sz="1100" dirty="0"/>
          </a:p>
        </p:txBody>
      </p:sp>
      <p:sp>
        <p:nvSpPr>
          <p:cNvPr id="19" name="Text 15"/>
          <p:cNvSpPr txBox="1"/>
          <p:nvPr/>
        </p:nvSpPr>
        <p:spPr>
          <a:xfrm>
            <a:off x="1645920" y="4261104"/>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10</a:t>
            </a:r>
            <a:endParaRPr lang="en-US" sz="1200" dirty="0"/>
          </a:p>
        </p:txBody>
      </p:sp>
      <p:sp>
        <p:nvSpPr>
          <p:cNvPr id="20" name="Text 16"/>
          <p:cNvSpPr txBox="1"/>
          <p:nvPr/>
        </p:nvSpPr>
        <p:spPr>
          <a:xfrm>
            <a:off x="777240" y="4590288"/>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Total</a:t>
            </a:r>
            <a:endParaRPr lang="en-US" sz="1100" dirty="0"/>
          </a:p>
        </p:txBody>
      </p:sp>
      <p:sp>
        <p:nvSpPr>
          <p:cNvPr id="21" name="Text 17"/>
          <p:cNvSpPr txBox="1"/>
          <p:nvPr/>
        </p:nvSpPr>
        <p:spPr>
          <a:xfrm>
            <a:off x="1645920" y="4590288"/>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414</a:t>
            </a:r>
            <a:endParaRPr lang="en-US" sz="1200" dirty="0"/>
          </a:p>
        </p:txBody>
      </p:sp>
      <p:sp>
        <p:nvSpPr>
          <p:cNvPr id="22" name="Shape 18"/>
          <p:cNvSpPr/>
          <p:nvPr/>
        </p:nvSpPr>
        <p:spPr>
          <a:xfrm>
            <a:off x="2788920" y="1783080"/>
            <a:ext cx="2148840" cy="3291840"/>
          </a:xfrm>
          <a:prstGeom prst="roundRect">
            <a:avLst>
              <a:gd name="adj" fmla="val 3404"/>
            </a:avLst>
          </a:prstGeom>
          <a:solidFill>
            <a:srgbClr val="151515"/>
          </a:solidFill>
          <a:ln w="9525">
            <a:solidFill>
              <a:srgbClr val="2A2A2A"/>
            </a:solidFill>
            <a:prstDash val="solid"/>
          </a:ln>
        </p:spPr>
      </p:sp>
      <p:sp>
        <p:nvSpPr>
          <p:cNvPr id="23" name="Shape 19"/>
          <p:cNvSpPr/>
          <p:nvPr/>
        </p:nvSpPr>
        <p:spPr>
          <a:xfrm>
            <a:off x="2990088" y="1783080"/>
            <a:ext cx="548640" cy="36576"/>
          </a:xfrm>
          <a:prstGeom prst="rect">
            <a:avLst/>
          </a:prstGeom>
          <a:solidFill>
            <a:srgbClr val="E50914"/>
          </a:solidFill>
          <a:ln w="12700">
            <a:solidFill>
              <a:srgbClr val="E50914"/>
            </a:solidFill>
            <a:prstDash val="solid"/>
          </a:ln>
        </p:spPr>
      </p:sp>
      <p:pic>
        <p:nvPicPr>
          <p:cNvPr id="24" name="Image 2" descr="/tmp/claude-0/-home-claude/0afb8f05-6c65-583f-af33-ecd94b11a885/scratchpad/eda/assets/plan_Standard.png">    </p:cNvPr>
          <p:cNvPicPr>
            <a:picLocks noChangeAspect="1"/>
          </p:cNvPicPr>
          <p:nvPr/>
        </p:nvPicPr>
        <p:blipFill>
          <a:blip r:embed="rId4"/>
          <a:stretch>
            <a:fillRect/>
          </a:stretch>
        </p:blipFill>
        <p:spPr>
          <a:xfrm>
            <a:off x="3017520" y="2103120"/>
            <a:ext cx="548640" cy="548640"/>
          </a:xfrm>
          <a:prstGeom prst="rect">
            <a:avLst/>
          </a:prstGeom>
        </p:spPr>
      </p:pic>
      <p:sp>
        <p:nvSpPr>
          <p:cNvPr id="25" name="Text 20"/>
          <p:cNvSpPr txBox="1"/>
          <p:nvPr/>
        </p:nvSpPr>
        <p:spPr>
          <a:xfrm>
            <a:off x="3703320" y="2103120"/>
            <a:ext cx="1188720" cy="548640"/>
          </a:xfrm>
          <a:prstGeom prst="rect">
            <a:avLst/>
          </a:prstGeom>
          <a:noFill/>
          <a:ln/>
        </p:spPr>
        <p:txBody>
          <a:bodyPr wrap="square" lIns="0" tIns="0" rIns="0" bIns="0" rtlCol="0" anchor="ctr"/>
          <a:lstStyle/>
          <a:p>
            <a:pPr indent="0" marL="0">
              <a:buNone/>
            </a:pPr>
            <a:r>
              <a:rPr lang="en-US" sz="1600" b="1" dirty="0">
                <a:solidFill>
                  <a:srgbClr val="F5F5F1"/>
                </a:solidFill>
                <a:latin typeface="Segoe UI" pitchFamily="34" charset="0"/>
                <a:ea typeface="Segoe UI" pitchFamily="34" charset="-122"/>
                <a:cs typeface="Segoe UI" pitchFamily="34" charset="-120"/>
              </a:rPr>
              <a:t>Standard</a:t>
            </a:r>
            <a:endParaRPr lang="en-US" sz="1600" dirty="0"/>
          </a:p>
        </p:txBody>
      </p:sp>
      <p:sp>
        <p:nvSpPr>
          <p:cNvPr id="26" name="Text 21"/>
          <p:cNvSpPr txBox="1"/>
          <p:nvPr/>
        </p:nvSpPr>
        <p:spPr>
          <a:xfrm>
            <a:off x="3017520" y="2834640"/>
            <a:ext cx="1828800" cy="685800"/>
          </a:xfrm>
          <a:prstGeom prst="rect">
            <a:avLst/>
          </a:prstGeom>
          <a:noFill/>
          <a:ln/>
        </p:spPr>
        <p:txBody>
          <a:bodyPr wrap="square" lIns="0" tIns="0" rIns="0" bIns="0" rtlCol="0" anchor="ctr"/>
          <a:lstStyle/>
          <a:p>
            <a:pPr indent="0" marL="0">
              <a:buNone/>
            </a:pPr>
            <a:r>
              <a:rPr lang="en-US" sz="3200" b="1" dirty="0">
                <a:solidFill>
                  <a:srgbClr val="F5F5F1"/>
                </a:solidFill>
                <a:latin typeface="Segoe UI" pitchFamily="34" charset="0"/>
                <a:ea typeface="Segoe UI" pitchFamily="34" charset="-122"/>
                <a:cs typeface="Segoe UI" pitchFamily="34" charset="-120"/>
              </a:rPr>
              <a:t>79.67%</a:t>
            </a:r>
            <a:endParaRPr lang="en-US" sz="3200" dirty="0"/>
          </a:p>
        </p:txBody>
      </p:sp>
      <p:sp>
        <p:nvSpPr>
          <p:cNvPr id="27" name="Text 22"/>
          <p:cNvSpPr txBox="1"/>
          <p:nvPr/>
        </p:nvSpPr>
        <p:spPr>
          <a:xfrm>
            <a:off x="3017520" y="3520440"/>
            <a:ext cx="1828800" cy="228600"/>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churn rate (low viewers)</a:t>
            </a:r>
            <a:endParaRPr lang="en-US" sz="1000" dirty="0"/>
          </a:p>
        </p:txBody>
      </p:sp>
      <p:sp>
        <p:nvSpPr>
          <p:cNvPr id="28" name="Text 23"/>
          <p:cNvSpPr txBox="1"/>
          <p:nvPr/>
        </p:nvSpPr>
        <p:spPr>
          <a:xfrm>
            <a:off x="3017520" y="3931920"/>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Left</a:t>
            </a:r>
            <a:endParaRPr lang="en-US" sz="1100" dirty="0"/>
          </a:p>
        </p:txBody>
      </p:sp>
      <p:sp>
        <p:nvSpPr>
          <p:cNvPr id="29" name="Text 24"/>
          <p:cNvSpPr txBox="1"/>
          <p:nvPr/>
        </p:nvSpPr>
        <p:spPr>
          <a:xfrm>
            <a:off x="3886200" y="3931920"/>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337</a:t>
            </a:r>
            <a:endParaRPr lang="en-US" sz="1200" dirty="0"/>
          </a:p>
        </p:txBody>
      </p:sp>
      <p:sp>
        <p:nvSpPr>
          <p:cNvPr id="30" name="Text 25"/>
          <p:cNvSpPr txBox="1"/>
          <p:nvPr/>
        </p:nvSpPr>
        <p:spPr>
          <a:xfrm>
            <a:off x="3017520" y="4261104"/>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Stayed</a:t>
            </a:r>
            <a:endParaRPr lang="en-US" sz="1100" dirty="0"/>
          </a:p>
        </p:txBody>
      </p:sp>
      <p:sp>
        <p:nvSpPr>
          <p:cNvPr id="31" name="Text 26"/>
          <p:cNvSpPr txBox="1"/>
          <p:nvPr/>
        </p:nvSpPr>
        <p:spPr>
          <a:xfrm>
            <a:off x="3886200" y="4261104"/>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86</a:t>
            </a:r>
            <a:endParaRPr lang="en-US" sz="1200" dirty="0"/>
          </a:p>
        </p:txBody>
      </p:sp>
      <p:sp>
        <p:nvSpPr>
          <p:cNvPr id="32" name="Shape 27"/>
          <p:cNvSpPr/>
          <p:nvPr/>
        </p:nvSpPr>
        <p:spPr>
          <a:xfrm>
            <a:off x="5029200" y="1783080"/>
            <a:ext cx="2148840" cy="3291840"/>
          </a:xfrm>
          <a:prstGeom prst="roundRect">
            <a:avLst>
              <a:gd name="adj" fmla="val 3404"/>
            </a:avLst>
          </a:prstGeom>
          <a:solidFill>
            <a:srgbClr val="151515"/>
          </a:solidFill>
          <a:ln w="9525">
            <a:solidFill>
              <a:srgbClr val="2A2A2A"/>
            </a:solidFill>
            <a:prstDash val="solid"/>
          </a:ln>
        </p:spPr>
      </p:sp>
      <p:sp>
        <p:nvSpPr>
          <p:cNvPr id="33" name="Shape 28"/>
          <p:cNvSpPr/>
          <p:nvPr/>
        </p:nvSpPr>
        <p:spPr>
          <a:xfrm>
            <a:off x="5230368" y="1783080"/>
            <a:ext cx="548640" cy="36576"/>
          </a:xfrm>
          <a:prstGeom prst="rect">
            <a:avLst/>
          </a:prstGeom>
          <a:solidFill>
            <a:srgbClr val="E50914"/>
          </a:solidFill>
          <a:ln w="12700">
            <a:solidFill>
              <a:srgbClr val="E50914"/>
            </a:solidFill>
            <a:prstDash val="solid"/>
          </a:ln>
        </p:spPr>
      </p:sp>
      <p:pic>
        <p:nvPicPr>
          <p:cNvPr id="34" name="Image 3" descr="/tmp/claude-0/-home-claude/0afb8f05-6c65-583f-af33-ecd94b11a885/scratchpad/eda/assets/plan_Premium.png">    </p:cNvPr>
          <p:cNvPicPr>
            <a:picLocks noChangeAspect="1"/>
          </p:cNvPicPr>
          <p:nvPr/>
        </p:nvPicPr>
        <p:blipFill>
          <a:blip r:embed="rId5"/>
          <a:stretch>
            <a:fillRect/>
          </a:stretch>
        </p:blipFill>
        <p:spPr>
          <a:xfrm>
            <a:off x="5257800" y="2103120"/>
            <a:ext cx="548640" cy="548640"/>
          </a:xfrm>
          <a:prstGeom prst="rect">
            <a:avLst/>
          </a:prstGeom>
        </p:spPr>
      </p:pic>
      <p:sp>
        <p:nvSpPr>
          <p:cNvPr id="35" name="Text 29"/>
          <p:cNvSpPr txBox="1"/>
          <p:nvPr/>
        </p:nvSpPr>
        <p:spPr>
          <a:xfrm>
            <a:off x="5943600" y="2103120"/>
            <a:ext cx="1188720" cy="548640"/>
          </a:xfrm>
          <a:prstGeom prst="rect">
            <a:avLst/>
          </a:prstGeom>
          <a:noFill/>
          <a:ln/>
        </p:spPr>
        <p:txBody>
          <a:bodyPr wrap="square" lIns="0" tIns="0" rIns="0" bIns="0" rtlCol="0" anchor="ctr"/>
          <a:lstStyle/>
          <a:p>
            <a:pPr indent="0" marL="0">
              <a:buNone/>
            </a:pPr>
            <a:r>
              <a:rPr lang="en-US" sz="1600" b="1" dirty="0">
                <a:solidFill>
                  <a:srgbClr val="F5F5F1"/>
                </a:solidFill>
                <a:latin typeface="Segoe UI" pitchFamily="34" charset="0"/>
                <a:ea typeface="Segoe UI" pitchFamily="34" charset="-122"/>
                <a:cs typeface="Segoe UI" pitchFamily="34" charset="-120"/>
              </a:rPr>
              <a:t>Premium</a:t>
            </a:r>
            <a:endParaRPr lang="en-US" sz="1600" dirty="0"/>
          </a:p>
        </p:txBody>
      </p:sp>
      <p:sp>
        <p:nvSpPr>
          <p:cNvPr id="36" name="Text 30"/>
          <p:cNvSpPr txBox="1"/>
          <p:nvPr/>
        </p:nvSpPr>
        <p:spPr>
          <a:xfrm>
            <a:off x="5257800" y="2834640"/>
            <a:ext cx="1828800" cy="685800"/>
          </a:xfrm>
          <a:prstGeom prst="rect">
            <a:avLst/>
          </a:prstGeom>
          <a:noFill/>
          <a:ln/>
        </p:spPr>
        <p:txBody>
          <a:bodyPr wrap="square" lIns="0" tIns="0" rIns="0" bIns="0" rtlCol="0" anchor="ctr"/>
          <a:lstStyle/>
          <a:p>
            <a:pPr indent="0" marL="0">
              <a:buNone/>
            </a:pPr>
            <a:r>
              <a:rPr lang="en-US" sz="3200" b="1" dirty="0">
                <a:solidFill>
                  <a:srgbClr val="F5F5F1"/>
                </a:solidFill>
                <a:latin typeface="Segoe UI" pitchFamily="34" charset="0"/>
                <a:ea typeface="Segoe UI" pitchFamily="34" charset="-122"/>
                <a:cs typeface="Segoe UI" pitchFamily="34" charset="-120"/>
              </a:rPr>
              <a:t>79.56%</a:t>
            </a:r>
            <a:endParaRPr lang="en-US" sz="3200" dirty="0"/>
          </a:p>
        </p:txBody>
      </p:sp>
      <p:sp>
        <p:nvSpPr>
          <p:cNvPr id="37" name="Text 31"/>
          <p:cNvSpPr txBox="1"/>
          <p:nvPr/>
        </p:nvSpPr>
        <p:spPr>
          <a:xfrm>
            <a:off x="5257800" y="3520440"/>
            <a:ext cx="1828800" cy="228600"/>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churn rate (low viewers)</a:t>
            </a:r>
            <a:endParaRPr lang="en-US" sz="1000" dirty="0"/>
          </a:p>
        </p:txBody>
      </p:sp>
      <p:sp>
        <p:nvSpPr>
          <p:cNvPr id="38" name="Text 32"/>
          <p:cNvSpPr txBox="1"/>
          <p:nvPr/>
        </p:nvSpPr>
        <p:spPr>
          <a:xfrm>
            <a:off x="5257800" y="3931920"/>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Left</a:t>
            </a:r>
            <a:endParaRPr lang="en-US" sz="1100" dirty="0"/>
          </a:p>
        </p:txBody>
      </p:sp>
      <p:sp>
        <p:nvSpPr>
          <p:cNvPr id="39" name="Text 33"/>
          <p:cNvSpPr txBox="1"/>
          <p:nvPr/>
        </p:nvSpPr>
        <p:spPr>
          <a:xfrm>
            <a:off x="6126480" y="3931920"/>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327</a:t>
            </a:r>
            <a:endParaRPr lang="en-US" sz="1200" dirty="0"/>
          </a:p>
        </p:txBody>
      </p:sp>
      <p:sp>
        <p:nvSpPr>
          <p:cNvPr id="40" name="Text 34"/>
          <p:cNvSpPr txBox="1"/>
          <p:nvPr/>
        </p:nvSpPr>
        <p:spPr>
          <a:xfrm>
            <a:off x="5257800" y="4261104"/>
            <a:ext cx="914400" cy="2743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Stayed</a:t>
            </a:r>
            <a:endParaRPr lang="en-US" sz="1100" dirty="0"/>
          </a:p>
        </p:txBody>
      </p:sp>
      <p:sp>
        <p:nvSpPr>
          <p:cNvPr id="41" name="Text 35"/>
          <p:cNvSpPr txBox="1"/>
          <p:nvPr/>
        </p:nvSpPr>
        <p:spPr>
          <a:xfrm>
            <a:off x="6126480" y="4261104"/>
            <a:ext cx="822960" cy="274320"/>
          </a:xfrm>
          <a:prstGeom prst="rect">
            <a:avLst/>
          </a:prstGeom>
          <a:noFill/>
          <a:ln/>
        </p:spPr>
        <p:txBody>
          <a:bodyPr wrap="square" lIns="0" tIns="0" rIns="0" bIns="0" rtlCol="0" anchor="ctr"/>
          <a:lstStyle/>
          <a:p>
            <a:pPr algn="r" indent="0" marL="0">
              <a:buNone/>
            </a:pPr>
            <a:r>
              <a:rPr lang="en-US" sz="1200" b="1" dirty="0">
                <a:solidFill>
                  <a:srgbClr val="F5F5F1"/>
                </a:solidFill>
                <a:latin typeface="Segoe UI" pitchFamily="34" charset="0"/>
                <a:ea typeface="Segoe UI" pitchFamily="34" charset="-122"/>
                <a:cs typeface="Segoe UI" pitchFamily="34" charset="-120"/>
              </a:rPr>
              <a:t>84</a:t>
            </a:r>
            <a:endParaRPr lang="en-US" sz="1200" dirty="0"/>
          </a:p>
        </p:txBody>
      </p:sp>
      <p:sp>
        <p:nvSpPr>
          <p:cNvPr id="42" name="Shape 36"/>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43" name="Shape 37"/>
          <p:cNvSpPr/>
          <p:nvPr/>
        </p:nvSpPr>
        <p:spPr>
          <a:xfrm>
            <a:off x="7589520" y="1938528"/>
            <a:ext cx="91440" cy="91440"/>
          </a:xfrm>
          <a:prstGeom prst="ellipse">
            <a:avLst/>
          </a:prstGeom>
          <a:solidFill>
            <a:srgbClr val="FF5F57"/>
          </a:solidFill>
          <a:ln w="12700">
            <a:solidFill>
              <a:srgbClr val="FF5F57"/>
            </a:solidFill>
            <a:prstDash val="solid"/>
          </a:ln>
        </p:spPr>
      </p:sp>
      <p:sp>
        <p:nvSpPr>
          <p:cNvPr id="44" name="Shape 38"/>
          <p:cNvSpPr/>
          <p:nvPr/>
        </p:nvSpPr>
        <p:spPr>
          <a:xfrm>
            <a:off x="7754112" y="1938528"/>
            <a:ext cx="91440" cy="91440"/>
          </a:xfrm>
          <a:prstGeom prst="ellipse">
            <a:avLst/>
          </a:prstGeom>
          <a:solidFill>
            <a:srgbClr val="FEBC2E"/>
          </a:solidFill>
          <a:ln w="12700">
            <a:solidFill>
              <a:srgbClr val="FEBC2E"/>
            </a:solidFill>
            <a:prstDash val="solid"/>
          </a:ln>
        </p:spPr>
      </p:sp>
      <p:sp>
        <p:nvSpPr>
          <p:cNvPr id="45" name="Shape 39"/>
          <p:cNvSpPr/>
          <p:nvPr/>
        </p:nvSpPr>
        <p:spPr>
          <a:xfrm>
            <a:off x="7918704" y="1938528"/>
            <a:ext cx="91440" cy="91440"/>
          </a:xfrm>
          <a:prstGeom prst="ellipse">
            <a:avLst/>
          </a:prstGeom>
          <a:solidFill>
            <a:srgbClr val="28C840"/>
          </a:solidFill>
          <a:ln w="12700">
            <a:solidFill>
              <a:srgbClr val="28C840"/>
            </a:solidFill>
            <a:prstDash val="solid"/>
          </a:ln>
        </p:spPr>
      </p:sp>
      <p:sp>
        <p:nvSpPr>
          <p:cNvPr id="46" name="Text 40"/>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47" name="Text 41"/>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Basic_left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(dataset["subscription_type"] == "Basic")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(dataset["viewing_level"] == "Low")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Basic_left_count = len(Basic_left)    # 404</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same filter with "Stayed"            # 10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repeated for Standard and Premium</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total_basic = (Basic_left_count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Basic_stayed_count) # 414</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churn_rate_basic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Basic_left_count / total_basic) * 100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Basic 97.58 | Standard 79.67</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Premium 79.56</a:t>
            </a:r>
            <a:endParaRPr lang="en-US" sz="950" dirty="0"/>
          </a:p>
        </p:txBody>
      </p:sp>
      <p:sp>
        <p:nvSpPr>
          <p:cNvPr id="48" name="Shape 42"/>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49" name="Shape 43"/>
          <p:cNvSpPr/>
          <p:nvPr/>
        </p:nvSpPr>
        <p:spPr>
          <a:xfrm>
            <a:off x="548640" y="5358384"/>
            <a:ext cx="54864" cy="704088"/>
          </a:xfrm>
          <a:prstGeom prst="rect">
            <a:avLst/>
          </a:prstGeom>
          <a:solidFill>
            <a:srgbClr val="E50914"/>
          </a:solidFill>
          <a:ln w="12700">
            <a:solidFill>
              <a:srgbClr val="E50914"/>
            </a:solidFill>
            <a:prstDash val="solid"/>
          </a:ln>
        </p:spPr>
      </p:sp>
      <p:pic>
        <p:nvPicPr>
          <p:cNvPr id="50" name="Image 4" descr="/tmp/claude-0/-home-claude/0afb8f05-6c65-583f-af33-ecd94b11a885/scratchpad/eda/assets/bulb.png">    </p:cNvPr>
          <p:cNvPicPr>
            <a:picLocks noChangeAspect="1"/>
          </p:cNvPicPr>
          <p:nvPr/>
        </p:nvPicPr>
        <p:blipFill>
          <a:blip r:embed="rId6"/>
          <a:stretch>
            <a:fillRect/>
          </a:stretch>
        </p:blipFill>
        <p:spPr>
          <a:xfrm>
            <a:off x="804672" y="5513832"/>
            <a:ext cx="384048" cy="384048"/>
          </a:xfrm>
          <a:prstGeom prst="rect">
            <a:avLst/>
          </a:prstGeom>
        </p:spPr>
      </p:pic>
      <p:sp>
        <p:nvSpPr>
          <p:cNvPr id="51" name="Text 44"/>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52" name="Text 45"/>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Even when engagement is held equal, </a:t>
            </a:r>
            <a:pPr indent="0" marL="0">
              <a:buNone/>
            </a:pPr>
            <a:r>
              <a:rPr lang="en-US" sz="1200" b="1" dirty="0">
                <a:solidFill>
                  <a:srgbClr val="F5F5F1"/>
                </a:solidFill>
                <a:latin typeface="Segoe UI" pitchFamily="34" charset="0"/>
                <a:ea typeface="Segoe UI" pitchFamily="34" charset="-122"/>
                <a:cs typeface="Segoe UI" pitchFamily="34" charset="-120"/>
              </a:rPr>
              <a:t>Basic remains the riskiest plan</a:t>
            </a:r>
            <a:pPr indent="0" marL="0">
              <a:buNone/>
            </a:pPr>
            <a:r>
              <a:rPr lang="en-US" sz="1200" dirty="0">
                <a:solidFill>
                  <a:srgbClr val="F5F5F1"/>
                </a:solidFill>
                <a:latin typeface="Segoe UI" pitchFamily="34" charset="0"/>
                <a:ea typeface="Segoe UI" pitchFamily="34" charset="-122"/>
                <a:cs typeface="Segoe UI" pitchFamily="34" charset="-120"/>
              </a:rPr>
              <a:t>: </a:t>
            </a:r>
            <a:pPr indent="0" marL="0">
              <a:buNone/>
            </a:pPr>
            <a:r>
              <a:rPr lang="en-US" sz="1200" b="1" dirty="0">
                <a:solidFill>
                  <a:srgbClr val="FF4D57"/>
                </a:solidFill>
                <a:latin typeface="Segoe UI" pitchFamily="34" charset="0"/>
                <a:ea typeface="Segoe UI" pitchFamily="34" charset="-122"/>
                <a:cs typeface="Segoe UI" pitchFamily="34" charset="-120"/>
              </a:rPr>
              <a:t>97.58%</a:t>
            </a:r>
            <a:pPr indent="0" marL="0">
              <a:buNone/>
            </a:pPr>
            <a:r>
              <a:rPr lang="en-US" sz="1200" dirty="0">
                <a:solidFill>
                  <a:srgbClr val="F5F5F1"/>
                </a:solidFill>
                <a:latin typeface="Segoe UI" pitchFamily="34" charset="0"/>
                <a:ea typeface="Segoe UI" pitchFamily="34" charset="-122"/>
                <a:cs typeface="Segoe UI" pitchFamily="34" charset="-120"/>
              </a:rPr>
              <a:t> of low-viewing Basic customers left (404 of 414), compared with </a:t>
            </a:r>
            <a:pPr indent="0" marL="0">
              <a:buNone/>
            </a:pPr>
            <a:r>
              <a:rPr lang="en-US" sz="1200" b="1" dirty="0">
                <a:solidFill>
                  <a:srgbClr val="F5F5F1"/>
                </a:solidFill>
                <a:latin typeface="Segoe UI" pitchFamily="34" charset="0"/>
                <a:ea typeface="Segoe UI" pitchFamily="34" charset="-122"/>
                <a:cs typeface="Segoe UI" pitchFamily="34" charset="-120"/>
              </a:rPr>
              <a:t>79.67%</a:t>
            </a:r>
            <a:pPr indent="0" marL="0">
              <a:buNone/>
            </a:pPr>
            <a:r>
              <a:rPr lang="en-US" sz="1200" dirty="0">
                <a:solidFill>
                  <a:srgbClr val="F5F5F1"/>
                </a:solidFill>
                <a:latin typeface="Segoe UI" pitchFamily="34" charset="0"/>
                <a:ea typeface="Segoe UI" pitchFamily="34" charset="-122"/>
                <a:cs typeface="Segoe UI" pitchFamily="34" charset="-120"/>
              </a:rPr>
              <a:t> for Standard and </a:t>
            </a:r>
            <a:pPr indent="0" marL="0">
              <a:buNone/>
            </a:pPr>
            <a:r>
              <a:rPr lang="en-US" sz="1200" b="1" dirty="0">
                <a:solidFill>
                  <a:srgbClr val="F5F5F1"/>
                </a:solidFill>
                <a:latin typeface="Segoe UI" pitchFamily="34" charset="0"/>
                <a:ea typeface="Segoe UI" pitchFamily="34" charset="-122"/>
                <a:cs typeface="Segoe UI" pitchFamily="34" charset="-120"/>
              </a:rPr>
              <a:t>79.56%</a:t>
            </a:r>
            <a:pPr indent="0" marL="0">
              <a:buNone/>
            </a:pPr>
            <a:r>
              <a:rPr lang="en-US" sz="1200" dirty="0">
                <a:solidFill>
                  <a:srgbClr val="F5F5F1"/>
                </a:solidFill>
                <a:latin typeface="Segoe UI" pitchFamily="34" charset="0"/>
                <a:ea typeface="Segoe UI" pitchFamily="34" charset="-122"/>
                <a:cs typeface="Segoe UI" pitchFamily="34" charset="-120"/>
              </a:rPr>
              <a:t> for Premium. Basic's higher churn is therefore not explained by low viewing alone.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10  ·  PAYMENT METHOD</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Within similar viewing levels, do manual payers churn more than automatic payers?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Manual (Gift Card, Crypto) vs automatic payers, compared at low, medium and high viewing.</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17 / 27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464808" cy="914400"/>
        </p:xfrm>
        <a:graphic>
          <a:graphicData uri="http://schemas.openxmlformats.org/drawingml/2006/table">
            <a:tbl>
              <a:tblPr/>
              <a:tblGrid>
                <a:gridCol w="960120"/>
                <a:gridCol w="749808"/>
                <a:gridCol w="786384"/>
                <a:gridCol w="749808"/>
                <a:gridCol w="841248"/>
                <a:gridCol w="749808"/>
                <a:gridCol w="786384"/>
                <a:gridCol w="841248"/>
              </a:tblGrid>
              <a:tr h="457200">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Viewing</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Man. left</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Man. stayed</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Man. total</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Manual churn</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Auto left</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Auto stayed</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Auto churn</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457200">
                <a:tc>
                  <a:txBody>
                    <a:bodyPr/>
                    <a:lstStyle/>
                    <a:p>
                      <a:pPr algn="l" indent="0" marL="0">
                        <a:buNone/>
                      </a:pPr>
                      <a:r>
                        <a:rPr lang="en-US" sz="1050" b="1" dirty="0">
                          <a:solidFill>
                            <a:srgbClr val="F5F5F1"/>
                          </a:solidFill>
                          <a:latin typeface="Segoe UI" pitchFamily="34" charset="0"/>
                          <a:ea typeface="Segoe UI" pitchFamily="34" charset="-122"/>
                          <a:cs typeface="Segoe UI" pitchFamily="34" charset="-120"/>
                        </a:rPr>
                        <a:t>Low</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445</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24</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469</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94.88%</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623</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156</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79.97%</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algn="l" indent="0" marL="0">
                        <a:buNone/>
                      </a:pPr>
                      <a:r>
                        <a:rPr lang="en-US" sz="1050" b="1" dirty="0">
                          <a:solidFill>
                            <a:srgbClr val="F5F5F1"/>
                          </a:solidFill>
                          <a:latin typeface="Segoe UI" pitchFamily="34" charset="0"/>
                          <a:ea typeface="Segoe UI" pitchFamily="34" charset="-122"/>
                          <a:cs typeface="Segoe UI" pitchFamily="34" charset="-120"/>
                        </a:rPr>
                        <a:t>Medium</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575</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376</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951</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60.46%</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687</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864</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44.29%</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algn="l" indent="0" marL="0">
                        <a:buNone/>
                      </a:pPr>
                      <a:r>
                        <a:rPr lang="en-US" sz="1050" b="1" dirty="0">
                          <a:solidFill>
                            <a:srgbClr val="F5F5F1"/>
                          </a:solidFill>
                          <a:latin typeface="Segoe UI" pitchFamily="34" charset="0"/>
                          <a:ea typeface="Segoe UI" pitchFamily="34" charset="-122"/>
                          <a:cs typeface="Segoe UI" pitchFamily="34" charset="-120"/>
                        </a:rPr>
                        <a:t>High</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96</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389</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485</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19.79%</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89</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676</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50" dirty="0">
                          <a:solidFill>
                            <a:srgbClr val="F5F5F1"/>
                          </a:solidFill>
                          <a:latin typeface="Segoe UI" pitchFamily="34" charset="0"/>
                          <a:ea typeface="Segoe UI" pitchFamily="34" charset="-122"/>
                          <a:cs typeface="Segoe UI" pitchFamily="34" charset="-120"/>
                        </a:rPr>
                        <a:t>11.63%</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bl>
          </a:graphicData>
        </a:graphic>
      </p:graphicFrame>
      <p:sp>
        <p:nvSpPr>
          <p:cNvPr id="11" name="Shape 7"/>
          <p:cNvSpPr/>
          <p:nvPr/>
        </p:nvSpPr>
        <p:spPr>
          <a:xfrm>
            <a:off x="548640" y="3794760"/>
            <a:ext cx="2148840" cy="1280160"/>
          </a:xfrm>
          <a:prstGeom prst="roundRect">
            <a:avLst>
              <a:gd name="adj" fmla="val 5714"/>
            </a:avLst>
          </a:prstGeom>
          <a:solidFill>
            <a:srgbClr val="151515"/>
          </a:solidFill>
          <a:ln w="9525">
            <a:solidFill>
              <a:srgbClr val="2A2A2A"/>
            </a:solidFill>
            <a:prstDash val="solid"/>
          </a:ln>
        </p:spPr>
      </p:sp>
      <p:sp>
        <p:nvSpPr>
          <p:cNvPr id="12" name="Shape 8"/>
          <p:cNvSpPr/>
          <p:nvPr/>
        </p:nvSpPr>
        <p:spPr>
          <a:xfrm>
            <a:off x="749808" y="3794760"/>
            <a:ext cx="548640" cy="36576"/>
          </a:xfrm>
          <a:prstGeom prst="rect">
            <a:avLst/>
          </a:prstGeom>
          <a:solidFill>
            <a:srgbClr val="E50914"/>
          </a:solidFill>
          <a:ln w="12700">
            <a:solidFill>
              <a:srgbClr val="E50914"/>
            </a:solidFill>
            <a:prstDash val="solid"/>
          </a:ln>
        </p:spPr>
      </p:sp>
      <p:sp>
        <p:nvSpPr>
          <p:cNvPr id="13" name="Text 9"/>
          <p:cNvSpPr txBox="1"/>
          <p:nvPr/>
        </p:nvSpPr>
        <p:spPr>
          <a:xfrm>
            <a:off x="749808" y="3913632"/>
            <a:ext cx="1828800" cy="256032"/>
          </a:xfrm>
          <a:prstGeom prst="rect">
            <a:avLst/>
          </a:prstGeom>
          <a:noFill/>
          <a:ln/>
        </p:spPr>
        <p:txBody>
          <a:bodyPr wrap="square" lIns="0" tIns="0" rIns="0" bIns="0" rtlCol="0" anchor="ctr"/>
          <a:lstStyle/>
          <a:p>
            <a:pPr indent="0" marL="0">
              <a:buNone/>
            </a:pPr>
            <a:r>
              <a:rPr lang="en-US" sz="1100" b="1" dirty="0">
                <a:solidFill>
                  <a:srgbClr val="A6A6A6"/>
                </a:solidFill>
                <a:latin typeface="Segoe UI" pitchFamily="34" charset="0"/>
                <a:ea typeface="Segoe UI" pitchFamily="34" charset="-122"/>
                <a:cs typeface="Segoe UI" pitchFamily="34" charset="-120"/>
              </a:rPr>
              <a:t>Low viewing</a:t>
            </a:r>
            <a:endParaRPr lang="en-US" sz="1100" dirty="0"/>
          </a:p>
        </p:txBody>
      </p:sp>
      <p:sp>
        <p:nvSpPr>
          <p:cNvPr id="14" name="Text 10"/>
          <p:cNvSpPr txBox="1"/>
          <p:nvPr/>
        </p:nvSpPr>
        <p:spPr>
          <a:xfrm>
            <a:off x="749808" y="4187952"/>
            <a:ext cx="1828800" cy="457200"/>
          </a:xfrm>
          <a:prstGeom prst="rect">
            <a:avLst/>
          </a:prstGeom>
          <a:noFill/>
          <a:ln/>
        </p:spPr>
        <p:txBody>
          <a:bodyPr wrap="square" lIns="0" tIns="0" rIns="0" bIns="0" rtlCol="0" anchor="ctr"/>
          <a:lstStyle/>
          <a:p>
            <a:pPr indent="0" marL="0">
              <a:buNone/>
            </a:pPr>
            <a:r>
              <a:rPr lang="en-US" sz="2400" b="1" dirty="0">
                <a:solidFill>
                  <a:srgbClr val="FF4D57"/>
                </a:solidFill>
                <a:latin typeface="Segoe UI" pitchFamily="34" charset="0"/>
                <a:ea typeface="Segoe UI" pitchFamily="34" charset="-122"/>
                <a:cs typeface="Segoe UI" pitchFamily="34" charset="-120"/>
              </a:rPr>
              <a:t>94.88%</a:t>
            </a:r>
            <a:endParaRPr lang="en-US" sz="2400" dirty="0"/>
          </a:p>
        </p:txBody>
      </p:sp>
      <p:sp>
        <p:nvSpPr>
          <p:cNvPr id="15" name="Text 11"/>
          <p:cNvSpPr txBox="1"/>
          <p:nvPr/>
        </p:nvSpPr>
        <p:spPr>
          <a:xfrm>
            <a:off x="749808" y="4663440"/>
            <a:ext cx="1874520" cy="347472"/>
          </a:xfrm>
          <a:prstGeom prst="rect">
            <a:avLst/>
          </a:prstGeom>
          <a:noFill/>
          <a:ln/>
        </p:spPr>
        <p:txBody>
          <a:bodyPr wrap="square" lIns="0" tIns="0" rIns="0" bIns="0" rtlCol="0" anchor="t"/>
          <a:lstStyle/>
          <a:p>
            <a:pPr indent="0" marL="0">
              <a:buNone/>
            </a:pPr>
            <a:r>
              <a:rPr lang="en-US" sz="950" dirty="0">
                <a:solidFill>
                  <a:srgbClr val="A6A6A6"/>
                </a:solidFill>
                <a:latin typeface="Segoe UI" pitchFamily="34" charset="0"/>
                <a:ea typeface="Segoe UI" pitchFamily="34" charset="-122"/>
                <a:cs typeface="Segoe UI" pitchFamily="34" charset="-120"/>
              </a:rPr>
              <a:t>manual churn vs 79.97% automatic</a:t>
            </a:r>
            <a:endParaRPr lang="en-US" sz="950" dirty="0"/>
          </a:p>
        </p:txBody>
      </p:sp>
      <p:sp>
        <p:nvSpPr>
          <p:cNvPr id="16" name="Shape 12"/>
          <p:cNvSpPr/>
          <p:nvPr/>
        </p:nvSpPr>
        <p:spPr>
          <a:xfrm>
            <a:off x="2788920" y="3794760"/>
            <a:ext cx="2148840" cy="1280160"/>
          </a:xfrm>
          <a:prstGeom prst="roundRect">
            <a:avLst>
              <a:gd name="adj" fmla="val 5714"/>
            </a:avLst>
          </a:prstGeom>
          <a:solidFill>
            <a:srgbClr val="151515"/>
          </a:solidFill>
          <a:ln w="9525">
            <a:solidFill>
              <a:srgbClr val="2A2A2A"/>
            </a:solidFill>
            <a:prstDash val="solid"/>
          </a:ln>
        </p:spPr>
      </p:sp>
      <p:sp>
        <p:nvSpPr>
          <p:cNvPr id="17" name="Shape 13"/>
          <p:cNvSpPr/>
          <p:nvPr/>
        </p:nvSpPr>
        <p:spPr>
          <a:xfrm>
            <a:off x="2990088" y="3794760"/>
            <a:ext cx="548640" cy="36576"/>
          </a:xfrm>
          <a:prstGeom prst="rect">
            <a:avLst/>
          </a:prstGeom>
          <a:solidFill>
            <a:srgbClr val="E50914"/>
          </a:solidFill>
          <a:ln w="12700">
            <a:solidFill>
              <a:srgbClr val="E50914"/>
            </a:solidFill>
            <a:prstDash val="solid"/>
          </a:ln>
        </p:spPr>
      </p:sp>
      <p:sp>
        <p:nvSpPr>
          <p:cNvPr id="18" name="Text 14"/>
          <p:cNvSpPr txBox="1"/>
          <p:nvPr/>
        </p:nvSpPr>
        <p:spPr>
          <a:xfrm>
            <a:off x="2990088" y="3913632"/>
            <a:ext cx="1828800" cy="256032"/>
          </a:xfrm>
          <a:prstGeom prst="rect">
            <a:avLst/>
          </a:prstGeom>
          <a:noFill/>
          <a:ln/>
        </p:spPr>
        <p:txBody>
          <a:bodyPr wrap="square" lIns="0" tIns="0" rIns="0" bIns="0" rtlCol="0" anchor="ctr"/>
          <a:lstStyle/>
          <a:p>
            <a:pPr indent="0" marL="0">
              <a:buNone/>
            </a:pPr>
            <a:r>
              <a:rPr lang="en-US" sz="1100" b="1" dirty="0">
                <a:solidFill>
                  <a:srgbClr val="A6A6A6"/>
                </a:solidFill>
                <a:latin typeface="Segoe UI" pitchFamily="34" charset="0"/>
                <a:ea typeface="Segoe UI" pitchFamily="34" charset="-122"/>
                <a:cs typeface="Segoe UI" pitchFamily="34" charset="-120"/>
              </a:rPr>
              <a:t>Medium viewing</a:t>
            </a:r>
            <a:endParaRPr lang="en-US" sz="1100" dirty="0"/>
          </a:p>
        </p:txBody>
      </p:sp>
      <p:sp>
        <p:nvSpPr>
          <p:cNvPr id="19" name="Text 15"/>
          <p:cNvSpPr txBox="1"/>
          <p:nvPr/>
        </p:nvSpPr>
        <p:spPr>
          <a:xfrm>
            <a:off x="2990088" y="4187952"/>
            <a:ext cx="1828800" cy="457200"/>
          </a:xfrm>
          <a:prstGeom prst="rect">
            <a:avLst/>
          </a:prstGeom>
          <a:noFill/>
          <a:ln/>
        </p:spPr>
        <p:txBody>
          <a:bodyPr wrap="square" lIns="0" tIns="0" rIns="0" bIns="0" rtlCol="0" anchor="ctr"/>
          <a:lstStyle/>
          <a:p>
            <a:pPr indent="0" marL="0">
              <a:buNone/>
            </a:pPr>
            <a:r>
              <a:rPr lang="en-US" sz="2400" b="1" dirty="0">
                <a:solidFill>
                  <a:srgbClr val="FF4D57"/>
                </a:solidFill>
                <a:latin typeface="Segoe UI" pitchFamily="34" charset="0"/>
                <a:ea typeface="Segoe UI" pitchFamily="34" charset="-122"/>
                <a:cs typeface="Segoe UI" pitchFamily="34" charset="-120"/>
              </a:rPr>
              <a:t>60.46%</a:t>
            </a:r>
            <a:endParaRPr lang="en-US" sz="2400" dirty="0"/>
          </a:p>
        </p:txBody>
      </p:sp>
      <p:sp>
        <p:nvSpPr>
          <p:cNvPr id="20" name="Text 16"/>
          <p:cNvSpPr txBox="1"/>
          <p:nvPr/>
        </p:nvSpPr>
        <p:spPr>
          <a:xfrm>
            <a:off x="2990088" y="4663440"/>
            <a:ext cx="1874520" cy="347472"/>
          </a:xfrm>
          <a:prstGeom prst="rect">
            <a:avLst/>
          </a:prstGeom>
          <a:noFill/>
          <a:ln/>
        </p:spPr>
        <p:txBody>
          <a:bodyPr wrap="square" lIns="0" tIns="0" rIns="0" bIns="0" rtlCol="0" anchor="t"/>
          <a:lstStyle/>
          <a:p>
            <a:pPr indent="0" marL="0">
              <a:buNone/>
            </a:pPr>
            <a:r>
              <a:rPr lang="en-US" sz="950" dirty="0">
                <a:solidFill>
                  <a:srgbClr val="A6A6A6"/>
                </a:solidFill>
                <a:latin typeface="Segoe UI" pitchFamily="34" charset="0"/>
                <a:ea typeface="Segoe UI" pitchFamily="34" charset="-122"/>
                <a:cs typeface="Segoe UI" pitchFamily="34" charset="-120"/>
              </a:rPr>
              <a:t>manual churn vs 44.29% automatic</a:t>
            </a:r>
            <a:endParaRPr lang="en-US" sz="950" dirty="0"/>
          </a:p>
        </p:txBody>
      </p:sp>
      <p:sp>
        <p:nvSpPr>
          <p:cNvPr id="21" name="Shape 17"/>
          <p:cNvSpPr/>
          <p:nvPr/>
        </p:nvSpPr>
        <p:spPr>
          <a:xfrm>
            <a:off x="5029200" y="3794760"/>
            <a:ext cx="2148840" cy="1280160"/>
          </a:xfrm>
          <a:prstGeom prst="roundRect">
            <a:avLst>
              <a:gd name="adj" fmla="val 5714"/>
            </a:avLst>
          </a:prstGeom>
          <a:solidFill>
            <a:srgbClr val="151515"/>
          </a:solidFill>
          <a:ln w="9525">
            <a:solidFill>
              <a:srgbClr val="2A2A2A"/>
            </a:solidFill>
            <a:prstDash val="solid"/>
          </a:ln>
        </p:spPr>
      </p:sp>
      <p:sp>
        <p:nvSpPr>
          <p:cNvPr id="22" name="Shape 18"/>
          <p:cNvSpPr/>
          <p:nvPr/>
        </p:nvSpPr>
        <p:spPr>
          <a:xfrm>
            <a:off x="5230368" y="3794760"/>
            <a:ext cx="548640" cy="36576"/>
          </a:xfrm>
          <a:prstGeom prst="rect">
            <a:avLst/>
          </a:prstGeom>
          <a:solidFill>
            <a:srgbClr val="E50914"/>
          </a:solidFill>
          <a:ln w="12700">
            <a:solidFill>
              <a:srgbClr val="E50914"/>
            </a:solidFill>
            <a:prstDash val="solid"/>
          </a:ln>
        </p:spPr>
      </p:sp>
      <p:sp>
        <p:nvSpPr>
          <p:cNvPr id="23" name="Text 19"/>
          <p:cNvSpPr txBox="1"/>
          <p:nvPr/>
        </p:nvSpPr>
        <p:spPr>
          <a:xfrm>
            <a:off x="5230368" y="3913632"/>
            <a:ext cx="1828800" cy="256032"/>
          </a:xfrm>
          <a:prstGeom prst="rect">
            <a:avLst/>
          </a:prstGeom>
          <a:noFill/>
          <a:ln/>
        </p:spPr>
        <p:txBody>
          <a:bodyPr wrap="square" lIns="0" tIns="0" rIns="0" bIns="0" rtlCol="0" anchor="ctr"/>
          <a:lstStyle/>
          <a:p>
            <a:pPr indent="0" marL="0">
              <a:buNone/>
            </a:pPr>
            <a:r>
              <a:rPr lang="en-US" sz="1100" b="1" dirty="0">
                <a:solidFill>
                  <a:srgbClr val="A6A6A6"/>
                </a:solidFill>
                <a:latin typeface="Segoe UI" pitchFamily="34" charset="0"/>
                <a:ea typeface="Segoe UI" pitchFamily="34" charset="-122"/>
                <a:cs typeface="Segoe UI" pitchFamily="34" charset="-120"/>
              </a:rPr>
              <a:t>High viewing</a:t>
            </a:r>
            <a:endParaRPr lang="en-US" sz="1100" dirty="0"/>
          </a:p>
        </p:txBody>
      </p:sp>
      <p:sp>
        <p:nvSpPr>
          <p:cNvPr id="24" name="Text 20"/>
          <p:cNvSpPr txBox="1"/>
          <p:nvPr/>
        </p:nvSpPr>
        <p:spPr>
          <a:xfrm>
            <a:off x="5230368" y="4187952"/>
            <a:ext cx="1828800" cy="457200"/>
          </a:xfrm>
          <a:prstGeom prst="rect">
            <a:avLst/>
          </a:prstGeom>
          <a:noFill/>
          <a:ln/>
        </p:spPr>
        <p:txBody>
          <a:bodyPr wrap="square" lIns="0" tIns="0" rIns="0" bIns="0" rtlCol="0" anchor="ctr"/>
          <a:lstStyle/>
          <a:p>
            <a:pPr indent="0" marL="0">
              <a:buNone/>
            </a:pPr>
            <a:r>
              <a:rPr lang="en-US" sz="2400" b="1" dirty="0">
                <a:solidFill>
                  <a:srgbClr val="FF4D57"/>
                </a:solidFill>
                <a:latin typeface="Segoe UI" pitchFamily="34" charset="0"/>
                <a:ea typeface="Segoe UI" pitchFamily="34" charset="-122"/>
                <a:cs typeface="Segoe UI" pitchFamily="34" charset="-120"/>
              </a:rPr>
              <a:t>19.79%</a:t>
            </a:r>
            <a:endParaRPr lang="en-US" sz="2400" dirty="0"/>
          </a:p>
        </p:txBody>
      </p:sp>
      <p:sp>
        <p:nvSpPr>
          <p:cNvPr id="25" name="Text 21"/>
          <p:cNvSpPr txBox="1"/>
          <p:nvPr/>
        </p:nvSpPr>
        <p:spPr>
          <a:xfrm>
            <a:off x="5230368" y="4663440"/>
            <a:ext cx="1874520" cy="347472"/>
          </a:xfrm>
          <a:prstGeom prst="rect">
            <a:avLst/>
          </a:prstGeom>
          <a:noFill/>
          <a:ln/>
        </p:spPr>
        <p:txBody>
          <a:bodyPr wrap="square" lIns="0" tIns="0" rIns="0" bIns="0" rtlCol="0" anchor="t"/>
          <a:lstStyle/>
          <a:p>
            <a:pPr indent="0" marL="0">
              <a:buNone/>
            </a:pPr>
            <a:r>
              <a:rPr lang="en-US" sz="950" dirty="0">
                <a:solidFill>
                  <a:srgbClr val="A6A6A6"/>
                </a:solidFill>
                <a:latin typeface="Segoe UI" pitchFamily="34" charset="0"/>
                <a:ea typeface="Segoe UI" pitchFamily="34" charset="-122"/>
                <a:cs typeface="Segoe UI" pitchFamily="34" charset="-120"/>
              </a:rPr>
              <a:t>manual churn vs 11.63% automatic</a:t>
            </a:r>
            <a:endParaRPr lang="en-US" sz="950" dirty="0"/>
          </a:p>
        </p:txBody>
      </p:sp>
      <p:sp>
        <p:nvSpPr>
          <p:cNvPr id="26" name="Shape 22"/>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27" name="Shape 23"/>
          <p:cNvSpPr/>
          <p:nvPr/>
        </p:nvSpPr>
        <p:spPr>
          <a:xfrm>
            <a:off x="7589520" y="1938528"/>
            <a:ext cx="91440" cy="91440"/>
          </a:xfrm>
          <a:prstGeom prst="ellipse">
            <a:avLst/>
          </a:prstGeom>
          <a:solidFill>
            <a:srgbClr val="FF5F57"/>
          </a:solidFill>
          <a:ln w="12700">
            <a:solidFill>
              <a:srgbClr val="FF5F57"/>
            </a:solidFill>
            <a:prstDash val="solid"/>
          </a:ln>
        </p:spPr>
      </p:sp>
      <p:sp>
        <p:nvSpPr>
          <p:cNvPr id="28" name="Shape 24"/>
          <p:cNvSpPr/>
          <p:nvPr/>
        </p:nvSpPr>
        <p:spPr>
          <a:xfrm>
            <a:off x="7754112" y="1938528"/>
            <a:ext cx="91440" cy="91440"/>
          </a:xfrm>
          <a:prstGeom prst="ellipse">
            <a:avLst/>
          </a:prstGeom>
          <a:solidFill>
            <a:srgbClr val="FEBC2E"/>
          </a:solidFill>
          <a:ln w="12700">
            <a:solidFill>
              <a:srgbClr val="FEBC2E"/>
            </a:solidFill>
            <a:prstDash val="solid"/>
          </a:ln>
        </p:spPr>
      </p:sp>
      <p:sp>
        <p:nvSpPr>
          <p:cNvPr id="29" name="Shape 25"/>
          <p:cNvSpPr/>
          <p:nvPr/>
        </p:nvSpPr>
        <p:spPr>
          <a:xfrm>
            <a:off x="7918704" y="1938528"/>
            <a:ext cx="91440" cy="91440"/>
          </a:xfrm>
          <a:prstGeom prst="ellipse">
            <a:avLst/>
          </a:prstGeom>
          <a:solidFill>
            <a:srgbClr val="28C840"/>
          </a:solidFill>
          <a:ln w="12700">
            <a:solidFill>
              <a:srgbClr val="28C840"/>
            </a:solidFill>
            <a:prstDash val="solid"/>
          </a:ln>
        </p:spPr>
      </p:sp>
      <p:sp>
        <p:nvSpPr>
          <p:cNvPr id="30" name="Text 26"/>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1" name="Text 27"/>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LOW VIEWING: manual payers who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Manual_left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(dataset["payment_type"] == "Manual")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(dataset["viewing_level"] == "Low")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"Left")]</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same for "Stayed" and for "Automatic"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total_Manual = (Manual_left_count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Manual_Stayed_count)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churn_rate_Manual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Manual_left_count / total_Manual) * 100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Low:    Manual 94.88 | Automatic 79.97</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Medium: Manual 60.46 | Automatic 44.29</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High:   Manual 19.79 | Automatic 11.63</a:t>
            </a:r>
            <a:endParaRPr lang="en-US" sz="950" dirty="0"/>
          </a:p>
        </p:txBody>
      </p:sp>
      <p:sp>
        <p:nvSpPr>
          <p:cNvPr id="32" name="Shape 28"/>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3" name="Shape 29"/>
          <p:cNvSpPr/>
          <p:nvPr/>
        </p:nvSpPr>
        <p:spPr>
          <a:xfrm>
            <a:off x="548640" y="5358384"/>
            <a:ext cx="54864" cy="704088"/>
          </a:xfrm>
          <a:prstGeom prst="rect">
            <a:avLst/>
          </a:prstGeom>
          <a:solidFill>
            <a:srgbClr val="E50914"/>
          </a:solidFill>
          <a:ln w="12700">
            <a:solidFill>
              <a:srgbClr val="E50914"/>
            </a:solidFill>
            <a:prstDash val="solid"/>
          </a:ln>
        </p:spPr>
      </p:sp>
      <p:pic>
        <p:nvPicPr>
          <p:cNvPr id="34" name="Image 1" descr="/tmp/claude-0/-home-claude/0afb8f05-6c65-583f-af33-ecd94b11a885/scratchpad/eda/assets/bulb.png">    </p:cNvPr>
          <p:cNvPicPr>
            <a:picLocks noChangeAspect="1"/>
          </p:cNvPicPr>
          <p:nvPr/>
        </p:nvPicPr>
        <p:blipFill>
          <a:blip r:embed="rId3"/>
          <a:stretch>
            <a:fillRect/>
          </a:stretch>
        </p:blipFill>
        <p:spPr>
          <a:xfrm>
            <a:off x="804672" y="5513832"/>
            <a:ext cx="384048" cy="384048"/>
          </a:xfrm>
          <a:prstGeom prst="rect">
            <a:avLst/>
          </a:prstGeom>
        </p:spPr>
      </p:pic>
      <p:sp>
        <p:nvSpPr>
          <p:cNvPr id="35" name="Text 30"/>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6" name="Text 31"/>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b="1" dirty="0">
                <a:solidFill>
                  <a:srgbClr val="F5F5F1"/>
                </a:solidFill>
                <a:latin typeface="Segoe UI" pitchFamily="34" charset="0"/>
                <a:ea typeface="Segoe UI" pitchFamily="34" charset="-122"/>
                <a:cs typeface="Segoe UI" pitchFamily="34" charset="-120"/>
              </a:rPr>
              <a:t>Manual payers churn more at every viewing level</a:t>
            </a:r>
            <a:pPr indent="0" marL="0">
              <a:buNone/>
            </a:pPr>
            <a:r>
              <a:rPr lang="en-US" sz="1200" dirty="0">
                <a:solidFill>
                  <a:srgbClr val="F5F5F1"/>
                </a:solidFill>
                <a:latin typeface="Segoe UI" pitchFamily="34" charset="0"/>
                <a:ea typeface="Segoe UI" pitchFamily="34" charset="-122"/>
                <a:cs typeface="Segoe UI" pitchFamily="34" charset="-120"/>
              </a:rPr>
              <a:t>: </a:t>
            </a:r>
            <a:pPr indent="0" marL="0">
              <a:buNone/>
            </a:pPr>
            <a:r>
              <a:rPr lang="en-US" sz="1200" b="1" dirty="0">
                <a:solidFill>
                  <a:srgbClr val="F5F5F1"/>
                </a:solidFill>
                <a:latin typeface="Segoe UI" pitchFamily="34" charset="0"/>
                <a:ea typeface="Segoe UI" pitchFamily="34" charset="-122"/>
                <a:cs typeface="Segoe UI" pitchFamily="34" charset="-120"/>
              </a:rPr>
              <a:t>94.88% vs 79.97%</a:t>
            </a:r>
            <a:pPr indent="0" marL="0">
              <a:buNone/>
            </a:pPr>
            <a:r>
              <a:rPr lang="en-US" sz="1200" dirty="0">
                <a:solidFill>
                  <a:srgbClr val="F5F5F1"/>
                </a:solidFill>
                <a:latin typeface="Segoe UI" pitchFamily="34" charset="0"/>
                <a:ea typeface="Segoe UI" pitchFamily="34" charset="-122"/>
                <a:cs typeface="Segoe UI" pitchFamily="34" charset="-120"/>
              </a:rPr>
              <a:t> among low viewers, </a:t>
            </a:r>
            <a:pPr indent="0" marL="0">
              <a:buNone/>
            </a:pPr>
            <a:r>
              <a:rPr lang="en-US" sz="1200" b="1" dirty="0">
                <a:solidFill>
                  <a:srgbClr val="F5F5F1"/>
                </a:solidFill>
                <a:latin typeface="Segoe UI" pitchFamily="34" charset="0"/>
                <a:ea typeface="Segoe UI" pitchFamily="34" charset="-122"/>
                <a:cs typeface="Segoe UI" pitchFamily="34" charset="-120"/>
              </a:rPr>
              <a:t>60.46% vs 44.29%</a:t>
            </a:r>
            <a:pPr indent="0" marL="0">
              <a:buNone/>
            </a:pPr>
            <a:r>
              <a:rPr lang="en-US" sz="1200" dirty="0">
                <a:solidFill>
                  <a:srgbClr val="F5F5F1"/>
                </a:solidFill>
                <a:latin typeface="Segoe UI" pitchFamily="34" charset="0"/>
                <a:ea typeface="Segoe UI" pitchFamily="34" charset="-122"/>
                <a:cs typeface="Segoe UI" pitchFamily="34" charset="-120"/>
              </a:rPr>
              <a:t> among medium viewers and </a:t>
            </a:r>
            <a:pPr indent="0" marL="0">
              <a:buNone/>
            </a:pPr>
            <a:r>
              <a:rPr lang="en-US" sz="1200" b="1" dirty="0">
                <a:solidFill>
                  <a:srgbClr val="F5F5F1"/>
                </a:solidFill>
                <a:latin typeface="Segoe UI" pitchFamily="34" charset="0"/>
                <a:ea typeface="Segoe UI" pitchFamily="34" charset="-122"/>
                <a:cs typeface="Segoe UI" pitchFamily="34" charset="-120"/>
              </a:rPr>
              <a:t>19.79% vs 11.63%</a:t>
            </a:r>
            <a:pPr indent="0" marL="0">
              <a:buNone/>
            </a:pPr>
            <a:r>
              <a:rPr lang="en-US" sz="1200" dirty="0">
                <a:solidFill>
                  <a:srgbClr val="F5F5F1"/>
                </a:solidFill>
                <a:latin typeface="Segoe UI" pitchFamily="34" charset="0"/>
                <a:ea typeface="Segoe UI" pitchFamily="34" charset="-122"/>
                <a:cs typeface="Segoe UI" pitchFamily="34" charset="-120"/>
              </a:rPr>
              <a:t> among high viewers. Because the gap holds even for engaged customers, the renewal method itself adds risk, consistent with the idea that customers leave when a prepaid period runs out.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11  ·  ACCOUNT SHARING</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How does churn vary with the number of profiles, and at what point do additional profiles stop improving retention?</a:t>
            </a:r>
            <a:endParaRPr lang="en-US" sz="2200" dirty="0"/>
          </a:p>
        </p:txBody>
      </p:sp>
      <p:sp>
        <p:nvSpPr>
          <p:cNvPr id="6" name="Shape 3"/>
          <p:cNvSpPr/>
          <p:nvPr/>
        </p:nvSpPr>
        <p:spPr>
          <a:xfrm>
            <a:off x="548640" y="6355080"/>
            <a:ext cx="11091672" cy="0"/>
          </a:xfrm>
          <a:prstGeom prst="line">
            <a:avLst/>
          </a:prstGeom>
          <a:noFill/>
          <a:ln w="9525">
            <a:solidFill>
              <a:srgbClr val="2A2A2A"/>
            </a:solidFill>
            <a:prstDash val="solid"/>
          </a:ln>
        </p:spPr>
      </p:sp>
      <p:sp>
        <p:nvSpPr>
          <p:cNvPr id="7" name="Text 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8" name="Text 5"/>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18 / 27</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29400" cy="914400"/>
        </p:xfrm>
        <a:graphic>
          <a:graphicData uri="http://schemas.openxmlformats.org/drawingml/2006/table">
            <a:tbl>
              <a:tblPr/>
              <a:tblGrid>
                <a:gridCol w="1188720"/>
                <a:gridCol w="960120"/>
                <a:gridCol w="960120"/>
                <a:gridCol w="960120"/>
                <a:gridCol w="1280160"/>
                <a:gridCol w="1280160"/>
              </a:tblGrid>
              <a:tr h="36576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Profiles</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Left</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Stayed</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Total</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Churn rate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Retention</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365760">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1</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570</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402</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972</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b="1" dirty="0">
                          <a:solidFill>
                            <a:srgbClr val="F5F5F1"/>
                          </a:solidFill>
                          <a:latin typeface="Segoe UI" pitchFamily="34" charset="0"/>
                          <a:ea typeface="Segoe UI" pitchFamily="34" charset="-122"/>
                          <a:cs typeface="Segoe UI" pitchFamily="34" charset="-120"/>
                        </a:rPr>
                        <a:t>58.64%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41.36%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365760">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2</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575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426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1,001</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b="1" dirty="0">
                          <a:solidFill>
                            <a:srgbClr val="F5F5F1"/>
                          </a:solidFill>
                          <a:latin typeface="Segoe UI" pitchFamily="34" charset="0"/>
                          <a:ea typeface="Segoe UI" pitchFamily="34" charset="-122"/>
                          <a:cs typeface="Segoe UI" pitchFamily="34" charset="-120"/>
                        </a:rPr>
                        <a:t>57.44%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42.56%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365760">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3</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575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419</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994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b="1" dirty="0">
                          <a:solidFill>
                            <a:srgbClr val="F5F5F1"/>
                          </a:solidFill>
                          <a:latin typeface="Segoe UI" pitchFamily="34" charset="0"/>
                          <a:ea typeface="Segoe UI" pitchFamily="34" charset="-122"/>
                          <a:cs typeface="Segoe UI" pitchFamily="34" charset="-120"/>
                        </a:rPr>
                        <a:t>57.85%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42.15%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365760">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375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624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999</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b="1" dirty="0">
                          <a:solidFill>
                            <a:srgbClr val="FF4D57"/>
                          </a:solidFill>
                          <a:latin typeface="Segoe UI" pitchFamily="34" charset="0"/>
                          <a:ea typeface="Segoe UI" pitchFamily="34" charset="-122"/>
                          <a:cs typeface="Segoe UI" pitchFamily="34" charset="-120"/>
                        </a:rPr>
                        <a:t>37.54%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62.46%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r h="365760">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420</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614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1,034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b="1" dirty="0">
                          <a:solidFill>
                            <a:srgbClr val="FF4D57"/>
                          </a:solidFill>
                          <a:latin typeface="Segoe UI" pitchFamily="34" charset="0"/>
                          <a:ea typeface="Segoe UI" pitchFamily="34" charset="-122"/>
                          <a:cs typeface="Segoe UI" pitchFamily="34" charset="-120"/>
                        </a:rPr>
                        <a:t>40.62%</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59.38%</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bl>
          </a:graphicData>
        </a:graphic>
      </p:graphicFrame>
      <p:sp>
        <p:nvSpPr>
          <p:cNvPr id="10" name="Shape 6"/>
          <p:cNvSpPr/>
          <p:nvPr/>
        </p:nvSpPr>
        <p:spPr>
          <a:xfrm>
            <a:off x="548640" y="4114800"/>
            <a:ext cx="6629400" cy="960120"/>
          </a:xfrm>
          <a:prstGeom prst="roundRect">
            <a:avLst>
              <a:gd name="adj" fmla="val 7619"/>
            </a:avLst>
          </a:prstGeom>
          <a:solidFill>
            <a:srgbClr val="151515"/>
          </a:solidFill>
          <a:ln w="9525">
            <a:solidFill>
              <a:srgbClr val="2A2A2A"/>
            </a:solidFill>
            <a:prstDash val="solid"/>
          </a:ln>
        </p:spPr>
      </p:sp>
      <p:sp>
        <p:nvSpPr>
          <p:cNvPr id="11" name="Shape 7"/>
          <p:cNvSpPr/>
          <p:nvPr/>
        </p:nvSpPr>
        <p:spPr>
          <a:xfrm>
            <a:off x="749808" y="4114800"/>
            <a:ext cx="548640" cy="36576"/>
          </a:xfrm>
          <a:prstGeom prst="rect">
            <a:avLst/>
          </a:prstGeom>
          <a:solidFill>
            <a:srgbClr val="E50914"/>
          </a:solidFill>
          <a:ln w="12700">
            <a:solidFill>
              <a:srgbClr val="E50914"/>
            </a:solidFill>
            <a:prstDash val="solid"/>
          </a:ln>
        </p:spPr>
      </p:sp>
      <p:sp>
        <p:nvSpPr>
          <p:cNvPr id="12" name="Text 8"/>
          <p:cNvSpPr txBox="1"/>
          <p:nvPr/>
        </p:nvSpPr>
        <p:spPr>
          <a:xfrm>
            <a:off x="749808" y="4224528"/>
            <a:ext cx="2377440" cy="731520"/>
          </a:xfrm>
          <a:prstGeom prst="rect">
            <a:avLst/>
          </a:prstGeom>
          <a:noFill/>
          <a:ln/>
        </p:spPr>
        <p:txBody>
          <a:bodyPr wrap="square" lIns="0" tIns="0" rIns="0" bIns="0" rtlCol="0" anchor="ctr"/>
          <a:lstStyle/>
          <a:p>
            <a:pPr indent="0" marL="0">
              <a:buNone/>
            </a:pPr>
            <a:r>
              <a:rPr lang="en-US" sz="2800" b="1" dirty="0">
                <a:solidFill>
                  <a:srgbClr val="FF4D57"/>
                </a:solidFill>
                <a:latin typeface="Segoe UI" pitchFamily="34" charset="0"/>
                <a:ea typeface="Segoe UI" pitchFamily="34" charset="-122"/>
                <a:cs typeface="Segoe UI" pitchFamily="34" charset="-120"/>
              </a:rPr>
              <a:t>37.54%</a:t>
            </a:r>
            <a:endParaRPr lang="en-US" sz="2800" dirty="0"/>
          </a:p>
        </p:txBody>
      </p:sp>
      <p:sp>
        <p:nvSpPr>
          <p:cNvPr id="13" name="Text 9"/>
          <p:cNvSpPr txBox="1"/>
          <p:nvPr/>
        </p:nvSpPr>
        <p:spPr>
          <a:xfrm>
            <a:off x="3108960" y="4224528"/>
            <a:ext cx="3931920" cy="731520"/>
          </a:xfrm>
          <a:prstGeom prst="rect">
            <a:avLst/>
          </a:prstGeom>
          <a:noFill/>
          <a:ln/>
        </p:spPr>
        <p:txBody>
          <a:bodyPr wrap="square" lIns="0" tIns="0" rIns="0" bIns="0" rtlCol="0" anchor="ctr"/>
          <a:lstStyle/>
          <a:p>
            <a:pPr indent="0" marL="0">
              <a:buNone/>
            </a:pPr>
            <a:r>
              <a:rPr lang="en-US" sz="1100" dirty="0">
                <a:solidFill>
                  <a:srgbClr val="A6A6A6"/>
                </a:solidFill>
                <a:latin typeface="Segoe UI" pitchFamily="34" charset="0"/>
                <a:ea typeface="Segoe UI" pitchFamily="34" charset="-122"/>
                <a:cs typeface="Segoe UI" pitchFamily="34" charset="-120"/>
              </a:rPr>
              <a:t>lowest churn rate, at 4 profiles (down from 57.85% at 3 profiles); 5 profiles: 40.62%.</a:t>
            </a:r>
            <a:endParaRPr lang="en-US" sz="1100" dirty="0"/>
          </a:p>
        </p:txBody>
      </p:sp>
      <p:sp>
        <p:nvSpPr>
          <p:cNvPr id="14" name="Shape 10"/>
          <p:cNvSpPr/>
          <p:nvPr/>
        </p:nvSpPr>
        <p:spPr>
          <a:xfrm>
            <a:off x="7406640" y="1691640"/>
            <a:ext cx="4233672" cy="3383280"/>
          </a:xfrm>
          <a:prstGeom prst="roundRect">
            <a:avLst>
              <a:gd name="adj" fmla="val 1622"/>
            </a:avLst>
          </a:prstGeom>
          <a:solidFill>
            <a:srgbClr val="0E0E0E"/>
          </a:solidFill>
          <a:ln w="9525">
            <a:solidFill>
              <a:srgbClr val="2A2A2A"/>
            </a:solidFill>
            <a:prstDash val="solid"/>
          </a:ln>
        </p:spPr>
      </p:sp>
      <p:sp>
        <p:nvSpPr>
          <p:cNvPr id="15" name="Shape 11"/>
          <p:cNvSpPr/>
          <p:nvPr/>
        </p:nvSpPr>
        <p:spPr>
          <a:xfrm>
            <a:off x="7589520" y="1847088"/>
            <a:ext cx="91440" cy="91440"/>
          </a:xfrm>
          <a:prstGeom prst="ellipse">
            <a:avLst/>
          </a:prstGeom>
          <a:solidFill>
            <a:srgbClr val="FF5F57"/>
          </a:solidFill>
          <a:ln w="12700">
            <a:solidFill>
              <a:srgbClr val="FF5F57"/>
            </a:solidFill>
            <a:prstDash val="solid"/>
          </a:ln>
        </p:spPr>
      </p:sp>
      <p:sp>
        <p:nvSpPr>
          <p:cNvPr id="16" name="Shape 12"/>
          <p:cNvSpPr/>
          <p:nvPr/>
        </p:nvSpPr>
        <p:spPr>
          <a:xfrm>
            <a:off x="7754112" y="1847088"/>
            <a:ext cx="91440" cy="91440"/>
          </a:xfrm>
          <a:prstGeom prst="ellipse">
            <a:avLst/>
          </a:prstGeom>
          <a:solidFill>
            <a:srgbClr val="FEBC2E"/>
          </a:solidFill>
          <a:ln w="12700">
            <a:solidFill>
              <a:srgbClr val="FEBC2E"/>
            </a:solidFill>
            <a:prstDash val="solid"/>
          </a:ln>
        </p:spPr>
      </p:sp>
      <p:sp>
        <p:nvSpPr>
          <p:cNvPr id="17" name="Shape 13"/>
          <p:cNvSpPr/>
          <p:nvPr/>
        </p:nvSpPr>
        <p:spPr>
          <a:xfrm>
            <a:off x="7918704" y="1847088"/>
            <a:ext cx="91440" cy="91440"/>
          </a:xfrm>
          <a:prstGeom prst="ellipse">
            <a:avLst/>
          </a:prstGeom>
          <a:solidFill>
            <a:srgbClr val="28C840"/>
          </a:solidFill>
          <a:ln w="12700">
            <a:solidFill>
              <a:srgbClr val="28C840"/>
            </a:solidFill>
            <a:prstDash val="solid"/>
          </a:ln>
        </p:spPr>
      </p:sp>
      <p:sp>
        <p:nvSpPr>
          <p:cNvPr id="18" name="Text 14"/>
          <p:cNvSpPr txBox="1"/>
          <p:nvPr/>
        </p:nvSpPr>
        <p:spPr>
          <a:xfrm>
            <a:off x="8138160" y="17830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19" name="Text 15"/>
          <p:cNvSpPr txBox="1"/>
          <p:nvPr/>
        </p:nvSpPr>
        <p:spPr>
          <a:xfrm>
            <a:off x="7589520" y="2103120"/>
            <a:ext cx="3959352" cy="288036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dataset["number_of_profiles"].unique()</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[1 5 2 3 4]</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Customers with 1 profile who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profile_1_left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(dataset["number_of_profiles"] == 1)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"Left")]</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same filter with "Stayed"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total_profile_1 = (profile_1_left_count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profile_1_Stayed_count)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churn_rate_profile_1_left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profile_1_left_count / total_profile_1) * 100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repeated for 2 to 5 profiles</a:t>
            </a:r>
            <a:endParaRPr lang="en-US" sz="950" dirty="0"/>
          </a:p>
        </p:txBody>
      </p:sp>
      <p:sp>
        <p:nvSpPr>
          <p:cNvPr id="20" name="Shape 16"/>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21" name="Shape 17"/>
          <p:cNvSpPr/>
          <p:nvPr/>
        </p:nvSpPr>
        <p:spPr>
          <a:xfrm>
            <a:off x="548640" y="5358384"/>
            <a:ext cx="54864" cy="704088"/>
          </a:xfrm>
          <a:prstGeom prst="rect">
            <a:avLst/>
          </a:prstGeom>
          <a:solidFill>
            <a:srgbClr val="E50914"/>
          </a:solidFill>
          <a:ln w="12700">
            <a:solidFill>
              <a:srgbClr val="E50914"/>
            </a:solidFill>
            <a:prstDash val="solid"/>
          </a:ln>
        </p:spPr>
      </p:sp>
      <p:pic>
        <p:nvPicPr>
          <p:cNvPr id="22" name="Image 1" descr="/tmp/claude-0/-home-claude/0afb8f05-6c65-583f-af33-ecd94b11a885/scratchpad/eda/assets/bulb.png">    </p:cNvPr>
          <p:cNvPicPr>
            <a:picLocks noChangeAspect="1"/>
          </p:cNvPicPr>
          <p:nvPr/>
        </p:nvPicPr>
        <p:blipFill>
          <a:blip r:embed="rId3"/>
          <a:stretch>
            <a:fillRect/>
          </a:stretch>
        </p:blipFill>
        <p:spPr>
          <a:xfrm>
            <a:off x="804672" y="5513832"/>
            <a:ext cx="384048" cy="384048"/>
          </a:xfrm>
          <a:prstGeom prst="rect">
            <a:avLst/>
          </a:prstGeom>
        </p:spPr>
      </p:pic>
      <p:sp>
        <p:nvSpPr>
          <p:cNvPr id="23" name="Text 18"/>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24" name="Text 19"/>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Churn stays between </a:t>
            </a:r>
            <a:pPr indent="0" marL="0">
              <a:buNone/>
            </a:pPr>
            <a:r>
              <a:rPr lang="en-US" sz="1200" b="1" dirty="0">
                <a:solidFill>
                  <a:srgbClr val="F5F5F1"/>
                </a:solidFill>
                <a:latin typeface="Segoe UI" pitchFamily="34" charset="0"/>
                <a:ea typeface="Segoe UI" pitchFamily="34" charset="-122"/>
                <a:cs typeface="Segoe UI" pitchFamily="34" charset="-120"/>
              </a:rPr>
              <a:t>57% and 59%</a:t>
            </a:r>
            <a:pPr indent="0" marL="0">
              <a:buNone/>
            </a:pPr>
            <a:r>
              <a:rPr lang="en-US" sz="1200" dirty="0">
                <a:solidFill>
                  <a:srgbClr val="F5F5F1"/>
                </a:solidFill>
                <a:latin typeface="Segoe UI" pitchFamily="34" charset="0"/>
                <a:ea typeface="Segoe UI" pitchFamily="34" charset="-122"/>
                <a:cs typeface="Segoe UI" pitchFamily="34" charset="-120"/>
              </a:rPr>
              <a:t> for accounts with one to three profiles, then </a:t>
            </a:r>
            <a:pPr indent="0" marL="0">
              <a:buNone/>
            </a:pPr>
            <a:r>
              <a:rPr lang="en-US" sz="1200" b="1" dirty="0">
                <a:solidFill>
                  <a:srgbClr val="FF4D57"/>
                </a:solidFill>
                <a:latin typeface="Segoe UI" pitchFamily="34" charset="0"/>
                <a:ea typeface="Segoe UI" pitchFamily="34" charset="-122"/>
                <a:cs typeface="Segoe UI" pitchFamily="34" charset="-120"/>
              </a:rPr>
              <a:t>falls sharply to 37.54% at four profiles</a:t>
            </a:r>
            <a:pPr indent="0" marL="0">
              <a:buNone/>
            </a:pPr>
            <a:r>
              <a:rPr lang="en-US" sz="1200" dirty="0">
                <a:solidFill>
                  <a:srgbClr val="F5F5F1"/>
                </a:solidFill>
                <a:latin typeface="Segoe UI" pitchFamily="34" charset="0"/>
                <a:ea typeface="Segoe UI" pitchFamily="34" charset="-122"/>
                <a:cs typeface="Segoe UI" pitchFamily="34" charset="-120"/>
              </a:rPr>
              <a:t>, where retention reaches 62.46%. A fifth profile does not improve retention further (40.62% churn), so </a:t>
            </a:r>
            <a:pPr indent="0" marL="0">
              <a:buNone/>
            </a:pPr>
            <a:r>
              <a:rPr lang="en-US" sz="1200" b="1" dirty="0">
                <a:solidFill>
                  <a:srgbClr val="F5F5F1"/>
                </a:solidFill>
                <a:latin typeface="Segoe UI" pitchFamily="34" charset="0"/>
                <a:ea typeface="Segoe UI" pitchFamily="34" charset="-122"/>
                <a:cs typeface="Segoe UI" pitchFamily="34" charset="-120"/>
              </a:rPr>
              <a:t>the benefit of sharing peaks at four profiles</a:t>
            </a:r>
            <a:pPr indent="0" marL="0">
              <a:buNone/>
            </a:pPr>
            <a:r>
              <a:rPr lang="en-US" sz="1200" dirty="0">
                <a:solidFill>
                  <a:srgbClr val="F5F5F1"/>
                </a:solidFill>
                <a:latin typeface="Segoe UI" pitchFamily="34" charset="0"/>
                <a:ea typeface="Segoe UI" pitchFamily="34" charset="-122"/>
                <a:cs typeface="Segoe UI" pitchFamily="34" charset="-120"/>
              </a:rPr>
              <a: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12  ·  NON-INFLUENTIAL FACTORS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Is gender associated with churn?</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Chi-square test of independence between gender and churn status.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19 / 27</a:t>
            </a:r>
            <a:endParaRPr lang="en-US" sz="900" dirty="0"/>
          </a:p>
        </p:txBody>
      </p:sp>
      <p:sp>
        <p:nvSpPr>
          <p:cNvPr id="10" name="Shape 7"/>
          <p:cNvSpPr/>
          <p:nvPr/>
        </p:nvSpPr>
        <p:spPr>
          <a:xfrm>
            <a:off x="548640" y="1783080"/>
            <a:ext cx="2148840" cy="914400"/>
          </a:xfrm>
          <a:prstGeom prst="roundRect">
            <a:avLst>
              <a:gd name="adj" fmla="val 8000"/>
            </a:avLst>
          </a:prstGeom>
          <a:solidFill>
            <a:srgbClr val="151515"/>
          </a:solidFill>
          <a:ln w="9525">
            <a:solidFill>
              <a:srgbClr val="2A2A2A"/>
            </a:solidFill>
            <a:prstDash val="solid"/>
          </a:ln>
        </p:spPr>
      </p:sp>
      <p:sp>
        <p:nvSpPr>
          <p:cNvPr id="11" name="Text 8"/>
          <p:cNvSpPr txBox="1"/>
          <p:nvPr/>
        </p:nvSpPr>
        <p:spPr>
          <a:xfrm>
            <a:off x="731520" y="1874520"/>
            <a:ext cx="1828800" cy="457200"/>
          </a:xfrm>
          <a:prstGeom prst="rect">
            <a:avLst/>
          </a:prstGeom>
          <a:noFill/>
          <a:ln/>
        </p:spPr>
        <p:txBody>
          <a:bodyPr wrap="square" lIns="0" tIns="0" rIns="0" bIns="0" rtlCol="0" anchor="b"/>
          <a:lstStyle/>
          <a:p>
            <a:pPr indent="0" marL="0">
              <a:buNone/>
            </a:pPr>
            <a:r>
              <a:rPr lang="en-US" sz="2000" b="1" dirty="0">
                <a:solidFill>
                  <a:srgbClr val="FF4D57"/>
                </a:solidFill>
                <a:latin typeface="Segoe UI" pitchFamily="34" charset="0"/>
                <a:ea typeface="Segoe UI" pitchFamily="34" charset="-122"/>
                <a:cs typeface="Segoe UI" pitchFamily="34" charset="-120"/>
              </a:rPr>
              <a:t>0.7225</a:t>
            </a:r>
            <a:endParaRPr lang="en-US" sz="2000" dirty="0"/>
          </a:p>
        </p:txBody>
      </p:sp>
      <p:sp>
        <p:nvSpPr>
          <p:cNvPr id="12" name="Text 9"/>
          <p:cNvSpPr txBox="1"/>
          <p:nvPr/>
        </p:nvSpPr>
        <p:spPr>
          <a:xfrm>
            <a:off x="73152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P-value</a:t>
            </a:r>
            <a:endParaRPr lang="en-US" sz="1000" dirty="0"/>
          </a:p>
        </p:txBody>
      </p:sp>
      <p:sp>
        <p:nvSpPr>
          <p:cNvPr id="13" name="Shape 10"/>
          <p:cNvSpPr/>
          <p:nvPr/>
        </p:nvSpPr>
        <p:spPr>
          <a:xfrm>
            <a:off x="2788920" y="1783080"/>
            <a:ext cx="2148840" cy="914400"/>
          </a:xfrm>
          <a:prstGeom prst="roundRect">
            <a:avLst>
              <a:gd name="adj" fmla="val 8000"/>
            </a:avLst>
          </a:prstGeom>
          <a:solidFill>
            <a:srgbClr val="151515"/>
          </a:solidFill>
          <a:ln w="9525">
            <a:solidFill>
              <a:srgbClr val="2A2A2A"/>
            </a:solidFill>
            <a:prstDash val="solid"/>
          </a:ln>
        </p:spPr>
      </p:sp>
      <p:sp>
        <p:nvSpPr>
          <p:cNvPr id="14" name="Text 11"/>
          <p:cNvSpPr txBox="1"/>
          <p:nvPr/>
        </p:nvSpPr>
        <p:spPr>
          <a:xfrm>
            <a:off x="2971800" y="1874520"/>
            <a:ext cx="1828800"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0.05</a:t>
            </a:r>
            <a:endParaRPr lang="en-US" sz="2000" dirty="0"/>
          </a:p>
        </p:txBody>
      </p:sp>
      <p:sp>
        <p:nvSpPr>
          <p:cNvPr id="15" name="Text 12"/>
          <p:cNvSpPr txBox="1"/>
          <p:nvPr/>
        </p:nvSpPr>
        <p:spPr>
          <a:xfrm>
            <a:off x="297180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Threshold</a:t>
            </a:r>
            <a:endParaRPr lang="en-US" sz="1000" dirty="0"/>
          </a:p>
        </p:txBody>
      </p:sp>
      <p:sp>
        <p:nvSpPr>
          <p:cNvPr id="16" name="Shape 13"/>
          <p:cNvSpPr/>
          <p:nvPr/>
        </p:nvSpPr>
        <p:spPr>
          <a:xfrm>
            <a:off x="5029200" y="1783080"/>
            <a:ext cx="2148840" cy="914400"/>
          </a:xfrm>
          <a:prstGeom prst="roundRect">
            <a:avLst>
              <a:gd name="adj" fmla="val 8000"/>
            </a:avLst>
          </a:prstGeom>
          <a:solidFill>
            <a:srgbClr val="151515"/>
          </a:solidFill>
          <a:ln w="9525">
            <a:solidFill>
              <a:srgbClr val="2A2A2A"/>
            </a:solidFill>
            <a:prstDash val="solid"/>
          </a:ln>
        </p:spPr>
      </p:sp>
      <p:sp>
        <p:nvSpPr>
          <p:cNvPr id="17" name="Text 14"/>
          <p:cNvSpPr txBox="1"/>
          <p:nvPr/>
        </p:nvSpPr>
        <p:spPr>
          <a:xfrm>
            <a:off x="5212080" y="1874520"/>
            <a:ext cx="1828800"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p &gt; 0.05</a:t>
            </a:r>
            <a:endParaRPr lang="en-US" sz="2000" dirty="0"/>
          </a:p>
        </p:txBody>
      </p:sp>
      <p:sp>
        <p:nvSpPr>
          <p:cNvPr id="18" name="Text 15"/>
          <p:cNvSpPr txBox="1"/>
          <p:nvPr/>
        </p:nvSpPr>
        <p:spPr>
          <a:xfrm>
            <a:off x="521208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Decision</a:t>
            </a:r>
            <a:endParaRPr lang="en-US" sz="1000" dirty="0"/>
          </a:p>
        </p:txBody>
      </p:sp>
      <p:pic>
        <p:nvPicPr>
          <p:cNvPr id="19" name="Image 1" descr="/tmp/claude-0/-home-claude/0afb8f05-6c65-583f-af33-ecd94b11a885/scratchpad/eda/assets/gender.png">    </p:cNvPr>
          <p:cNvPicPr>
            <a:picLocks noChangeAspect="1"/>
          </p:cNvPicPr>
          <p:nvPr/>
        </p:nvPicPr>
        <p:blipFill>
          <a:blip r:embed="rId3"/>
          <a:stretch>
            <a:fillRect/>
          </a:stretch>
        </p:blipFill>
        <p:spPr>
          <a:xfrm>
            <a:off x="548640" y="2852928"/>
            <a:ext cx="384048" cy="384048"/>
          </a:xfrm>
          <a:prstGeom prst="rect">
            <a:avLst/>
          </a:prstGeom>
        </p:spPr>
      </p:pic>
      <p:sp>
        <p:nvSpPr>
          <p:cNvPr id="20" name="Text 16"/>
          <p:cNvSpPr txBox="1"/>
          <p:nvPr/>
        </p:nvSpPr>
        <p:spPr>
          <a:xfrm>
            <a:off x="1051560" y="2852928"/>
            <a:ext cx="6035040" cy="384048"/>
          </a:xfrm>
          <a:prstGeom prst="rect">
            <a:avLst/>
          </a:prstGeom>
          <a:noFill/>
          <a:ln/>
        </p:spPr>
        <p:txBody>
          <a:bodyPr wrap="square" lIns="0" tIns="0" rIns="0" bIns="0" rtlCol="0" anchor="ctr"/>
          <a:lstStyle/>
          <a:p>
            <a:pPr indent="0" marL="0">
              <a:buNone/>
            </a:pPr>
            <a:r>
              <a:rPr lang="en-US" sz="1350" b="1" dirty="0">
                <a:solidFill>
                  <a:srgbClr val="F5F5F1"/>
                </a:solidFill>
                <a:latin typeface="Segoe UI" pitchFamily="34" charset="0"/>
                <a:ea typeface="Segoe UI" pitchFamily="34" charset="-122"/>
                <a:cs typeface="Segoe UI" pitchFamily="34" charset="-120"/>
              </a:rPr>
              <a:t>Gender is not associated with churn</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6629400" cy="914400"/>
        </p:xfrm>
        <a:graphic>
          <a:graphicData uri="http://schemas.openxmlformats.org/drawingml/2006/table">
            <a:tbl>
              <a:tblPr/>
              <a:tblGrid>
                <a:gridCol w="1143000"/>
                <a:gridCol w="822960"/>
                <a:gridCol w="822960"/>
                <a:gridCol w="822960"/>
                <a:gridCol w="1005840"/>
                <a:gridCol w="1005840"/>
                <a:gridCol w="1005840"/>
              </a:tblGrid>
              <a:tr h="329184">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Gender</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Left</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Stayed</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Total</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Churn rate</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Exp. left</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Exp. stayed</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32918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Female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874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837</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1,711</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51.08%</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860.63</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850.37</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32918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Male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827</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827</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1,654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50.00%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831.96</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822.04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32918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Other</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814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821</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1,635</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49.79%</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822.40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812.60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bl>
          </a:graphicData>
        </a:graphic>
      </p:graphicFrame>
      <p:sp>
        <p:nvSpPr>
          <p:cNvPr id="22" name="Shape 17"/>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23" name="Shape 18"/>
          <p:cNvSpPr/>
          <p:nvPr/>
        </p:nvSpPr>
        <p:spPr>
          <a:xfrm>
            <a:off x="7589520" y="1938528"/>
            <a:ext cx="91440" cy="91440"/>
          </a:xfrm>
          <a:prstGeom prst="ellipse">
            <a:avLst/>
          </a:prstGeom>
          <a:solidFill>
            <a:srgbClr val="FF5F57"/>
          </a:solidFill>
          <a:ln w="12700">
            <a:solidFill>
              <a:srgbClr val="FF5F57"/>
            </a:solidFill>
            <a:prstDash val="solid"/>
          </a:ln>
        </p:spPr>
      </p:sp>
      <p:sp>
        <p:nvSpPr>
          <p:cNvPr id="24" name="Shape 19"/>
          <p:cNvSpPr/>
          <p:nvPr/>
        </p:nvSpPr>
        <p:spPr>
          <a:xfrm>
            <a:off x="7754112" y="1938528"/>
            <a:ext cx="91440" cy="91440"/>
          </a:xfrm>
          <a:prstGeom prst="ellipse">
            <a:avLst/>
          </a:prstGeom>
          <a:solidFill>
            <a:srgbClr val="FEBC2E"/>
          </a:solidFill>
          <a:ln w="12700">
            <a:solidFill>
              <a:srgbClr val="FEBC2E"/>
            </a:solidFill>
            <a:prstDash val="solid"/>
          </a:ln>
        </p:spPr>
      </p:sp>
      <p:sp>
        <p:nvSpPr>
          <p:cNvPr id="25" name="Shape 20"/>
          <p:cNvSpPr/>
          <p:nvPr/>
        </p:nvSpPr>
        <p:spPr>
          <a:xfrm>
            <a:off x="7918704" y="1938528"/>
            <a:ext cx="91440" cy="91440"/>
          </a:xfrm>
          <a:prstGeom prst="ellipse">
            <a:avLst/>
          </a:prstGeom>
          <a:solidFill>
            <a:srgbClr val="28C840"/>
          </a:solidFill>
          <a:ln w="12700">
            <a:solidFill>
              <a:srgbClr val="28C840"/>
            </a:solidFill>
            <a:prstDash val="solid"/>
          </a:ln>
        </p:spPr>
      </p:sp>
      <p:sp>
        <p:nvSpPr>
          <p:cNvPr id="26" name="Text 21"/>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7" name="Text 22"/>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gender_table = pd.crosstab(</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dataset["gender"], dataset["churn_status"])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from scipy.stats import chi2_contingency</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chi2, p_value, dof, expected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chi2_contingency(gender_table))</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p_value = 0.7225</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expected_table = pd.DataFrame(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expected,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index=gender_table.index,</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columns=gender_table.columns)</a:t>
            </a:r>
            <a:endParaRPr lang="en-US" sz="950" dirty="0"/>
          </a:p>
        </p:txBody>
      </p:sp>
      <p:sp>
        <p:nvSpPr>
          <p:cNvPr id="28" name="Shape 23"/>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29" name="Shape 24"/>
          <p:cNvSpPr/>
          <p:nvPr/>
        </p:nvSpPr>
        <p:spPr>
          <a:xfrm>
            <a:off x="548640" y="5358384"/>
            <a:ext cx="54864" cy="704088"/>
          </a:xfrm>
          <a:prstGeom prst="rect">
            <a:avLst/>
          </a:prstGeom>
          <a:solidFill>
            <a:srgbClr val="E50914"/>
          </a:solidFill>
          <a:ln w="12700">
            <a:solidFill>
              <a:srgbClr val="E50914"/>
            </a:solidFill>
            <a:prstDash val="solid"/>
          </a:ln>
        </p:spPr>
      </p:sp>
      <p:pic>
        <p:nvPicPr>
          <p:cNvPr id="30" name="Image 2" descr="/tmp/claude-0/-home-claude/0afb8f05-6c65-583f-af33-ecd94b11a885/scratchpad/eda/assets/bulb.png">    </p:cNvPr>
          <p:cNvPicPr>
            <a:picLocks noChangeAspect="1"/>
          </p:cNvPicPr>
          <p:nvPr/>
        </p:nvPicPr>
        <p:blipFill>
          <a:blip r:embed="rId4"/>
          <a:stretch>
            <a:fillRect/>
          </a:stretch>
        </p:blipFill>
        <p:spPr>
          <a:xfrm>
            <a:off x="804672" y="5513832"/>
            <a:ext cx="384048" cy="384048"/>
          </a:xfrm>
          <a:prstGeom prst="rect">
            <a:avLst/>
          </a:prstGeom>
        </p:spPr>
      </p:pic>
      <p:sp>
        <p:nvSpPr>
          <p:cNvPr id="31" name="Text 25"/>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2" name="Text 26"/>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Churn is almost identical across genders: </a:t>
            </a:r>
            <a:pPr indent="0" marL="0">
              <a:buNone/>
            </a:pPr>
            <a:r>
              <a:rPr lang="en-US" sz="1200" b="1" dirty="0">
                <a:solidFill>
                  <a:srgbClr val="F5F5F1"/>
                </a:solidFill>
                <a:latin typeface="Segoe UI" pitchFamily="34" charset="0"/>
                <a:ea typeface="Segoe UI" pitchFamily="34" charset="-122"/>
                <a:cs typeface="Segoe UI" pitchFamily="34" charset="-120"/>
              </a:rPr>
              <a:t>51.08%</a:t>
            </a:r>
            <a:pPr indent="0" marL="0">
              <a:buNone/>
            </a:pPr>
            <a:r>
              <a:rPr lang="en-US" sz="1200" dirty="0">
                <a:solidFill>
                  <a:srgbClr val="F5F5F1"/>
                </a:solidFill>
                <a:latin typeface="Segoe UI" pitchFamily="34" charset="0"/>
                <a:ea typeface="Segoe UI" pitchFamily="34" charset="-122"/>
                <a:cs typeface="Segoe UI" pitchFamily="34" charset="-120"/>
              </a:rPr>
              <a:t> for Female, </a:t>
            </a:r>
            <a:pPr indent="0" marL="0">
              <a:buNone/>
            </a:pPr>
            <a:r>
              <a:rPr lang="en-US" sz="1200" b="1" dirty="0">
                <a:solidFill>
                  <a:srgbClr val="F5F5F1"/>
                </a:solidFill>
                <a:latin typeface="Segoe UI" pitchFamily="34" charset="0"/>
                <a:ea typeface="Segoe UI" pitchFamily="34" charset="-122"/>
                <a:cs typeface="Segoe UI" pitchFamily="34" charset="-120"/>
              </a:rPr>
              <a:t>50.00%</a:t>
            </a:r>
            <a:pPr indent="0" marL="0">
              <a:buNone/>
            </a:pPr>
            <a:r>
              <a:rPr lang="en-US" sz="1200" dirty="0">
                <a:solidFill>
                  <a:srgbClr val="F5F5F1"/>
                </a:solidFill>
                <a:latin typeface="Segoe UI" pitchFamily="34" charset="0"/>
                <a:ea typeface="Segoe UI" pitchFamily="34" charset="-122"/>
                <a:cs typeface="Segoe UI" pitchFamily="34" charset="-120"/>
              </a:rPr>
              <a:t> for Male and </a:t>
            </a:r>
            <a:pPr indent="0" marL="0">
              <a:buNone/>
            </a:pPr>
            <a:r>
              <a:rPr lang="en-US" sz="1200" b="1" dirty="0">
                <a:solidFill>
                  <a:srgbClr val="F5F5F1"/>
                </a:solidFill>
                <a:latin typeface="Segoe UI" pitchFamily="34" charset="0"/>
                <a:ea typeface="Segoe UI" pitchFamily="34" charset="-122"/>
                <a:cs typeface="Segoe UI" pitchFamily="34" charset="-120"/>
              </a:rPr>
              <a:t>49.79%</a:t>
            </a:r>
            <a:pPr indent="0" marL="0">
              <a:buNone/>
            </a:pPr>
            <a:r>
              <a:rPr lang="en-US" sz="1200" dirty="0">
                <a:solidFill>
                  <a:srgbClr val="F5F5F1"/>
                </a:solidFill>
                <a:latin typeface="Segoe UI" pitchFamily="34" charset="0"/>
                <a:ea typeface="Segoe UI" pitchFamily="34" charset="-122"/>
                <a:cs typeface="Segoe UI" pitchFamily="34" charset="-120"/>
              </a:rPr>
              <a:t> for Other. The observed counts sit close to the counts expected under independence, and with </a:t>
            </a:r>
            <a:pPr indent="0" marL="0">
              <a:buNone/>
            </a:pPr>
            <a:r>
              <a:rPr lang="en-US" sz="1200" b="1" dirty="0">
                <a:solidFill>
                  <a:srgbClr val="F5F5F1"/>
                </a:solidFill>
                <a:latin typeface="Segoe UI" pitchFamily="34" charset="0"/>
                <a:ea typeface="Segoe UI" pitchFamily="34" charset="-122"/>
                <a:cs typeface="Segoe UI" pitchFamily="34" charset="-120"/>
              </a:rPr>
              <a:t>p = 0.7225</a:t>
            </a:r>
            <a:pPr indent="0" marL="0">
              <a:buNone/>
            </a:pPr>
            <a:r>
              <a:rPr lang="en-US" sz="1200" dirty="0">
                <a:solidFill>
                  <a:srgbClr val="F5F5F1"/>
                </a:solidFill>
                <a:latin typeface="Segoe UI" pitchFamily="34" charset="0"/>
                <a:ea typeface="Segoe UI" pitchFamily="34" charset="-122"/>
                <a:cs typeface="Segoe UI" pitchFamily="34" charset="-120"/>
              </a:rPr>
              <a:t>, well above 0.05, </a:t>
            </a:r>
            <a:pPr indent="0" marL="0">
              <a:buNone/>
            </a:pPr>
            <a:r>
              <a:rPr lang="en-US" sz="1200" b="1" dirty="0">
                <a:solidFill>
                  <a:srgbClr val="FF4D57"/>
                </a:solidFill>
                <a:latin typeface="Segoe UI" pitchFamily="34" charset="0"/>
                <a:ea typeface="Segoe UI" pitchFamily="34" charset="-122"/>
                <a:cs typeface="Segoe UI" pitchFamily="34" charset="-120"/>
              </a:rPr>
              <a:t>gender has no significant association with churn</a:t>
            </a:r>
            <a:pPr indent="0" marL="0">
              <a:buNone/>
            </a:pPr>
            <a:r>
              <a:rPr lang="en-US" sz="1200" dirty="0">
                <a:solidFill>
                  <a:srgbClr val="F5F5F1"/>
                </a:solidFill>
                <a:latin typeface="Segoe UI" pitchFamily="34" charset="0"/>
                <a:ea typeface="Segoe UI" pitchFamily="34" charset="-122"/>
                <a:cs typeface="Segoe UI" pitchFamily="34" charset="-120"/>
              </a:rPr>
              <a: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12  ·  NON-INFLUENTIAL FACTORS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Is region associated with churn?</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Chi-square test of independence between region and churn status.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20 / 27</a:t>
            </a:r>
            <a:endParaRPr lang="en-US" sz="900" dirty="0"/>
          </a:p>
        </p:txBody>
      </p:sp>
      <p:sp>
        <p:nvSpPr>
          <p:cNvPr id="10" name="Shape 7"/>
          <p:cNvSpPr/>
          <p:nvPr/>
        </p:nvSpPr>
        <p:spPr>
          <a:xfrm>
            <a:off x="548640" y="1783080"/>
            <a:ext cx="2148840" cy="914400"/>
          </a:xfrm>
          <a:prstGeom prst="roundRect">
            <a:avLst>
              <a:gd name="adj" fmla="val 8000"/>
            </a:avLst>
          </a:prstGeom>
          <a:solidFill>
            <a:srgbClr val="151515"/>
          </a:solidFill>
          <a:ln w="9525">
            <a:solidFill>
              <a:srgbClr val="2A2A2A"/>
            </a:solidFill>
            <a:prstDash val="solid"/>
          </a:ln>
        </p:spPr>
      </p:sp>
      <p:sp>
        <p:nvSpPr>
          <p:cNvPr id="11" name="Text 8"/>
          <p:cNvSpPr txBox="1"/>
          <p:nvPr/>
        </p:nvSpPr>
        <p:spPr>
          <a:xfrm>
            <a:off x="731520" y="1874520"/>
            <a:ext cx="1828800"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3.98</a:t>
            </a:r>
            <a:endParaRPr lang="en-US" sz="2000" dirty="0"/>
          </a:p>
        </p:txBody>
      </p:sp>
      <p:sp>
        <p:nvSpPr>
          <p:cNvPr id="12" name="Text 9"/>
          <p:cNvSpPr txBox="1"/>
          <p:nvPr/>
        </p:nvSpPr>
        <p:spPr>
          <a:xfrm>
            <a:off x="73152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Chi-square</a:t>
            </a:r>
            <a:endParaRPr lang="en-US" sz="1000" dirty="0"/>
          </a:p>
        </p:txBody>
      </p:sp>
      <p:sp>
        <p:nvSpPr>
          <p:cNvPr id="13" name="Shape 10"/>
          <p:cNvSpPr/>
          <p:nvPr/>
        </p:nvSpPr>
        <p:spPr>
          <a:xfrm>
            <a:off x="2788920" y="1783080"/>
            <a:ext cx="2148840" cy="914400"/>
          </a:xfrm>
          <a:prstGeom prst="roundRect">
            <a:avLst>
              <a:gd name="adj" fmla="val 8000"/>
            </a:avLst>
          </a:prstGeom>
          <a:solidFill>
            <a:srgbClr val="151515"/>
          </a:solidFill>
          <a:ln w="9525">
            <a:solidFill>
              <a:srgbClr val="2A2A2A"/>
            </a:solidFill>
            <a:prstDash val="solid"/>
          </a:ln>
        </p:spPr>
      </p:sp>
      <p:sp>
        <p:nvSpPr>
          <p:cNvPr id="14" name="Text 11"/>
          <p:cNvSpPr txBox="1"/>
          <p:nvPr/>
        </p:nvSpPr>
        <p:spPr>
          <a:xfrm>
            <a:off x="2971800" y="1874520"/>
            <a:ext cx="1828800" cy="457200"/>
          </a:xfrm>
          <a:prstGeom prst="rect">
            <a:avLst/>
          </a:prstGeom>
          <a:noFill/>
          <a:ln/>
        </p:spPr>
        <p:txBody>
          <a:bodyPr wrap="square" lIns="0" tIns="0" rIns="0" bIns="0" rtlCol="0" anchor="b"/>
          <a:lstStyle/>
          <a:p>
            <a:pPr indent="0" marL="0">
              <a:buNone/>
            </a:pPr>
            <a:r>
              <a:rPr lang="en-US" sz="2000" b="1" dirty="0">
                <a:solidFill>
                  <a:srgbClr val="FF4D57"/>
                </a:solidFill>
                <a:latin typeface="Segoe UI" pitchFamily="34" charset="0"/>
                <a:ea typeface="Segoe UI" pitchFamily="34" charset="-122"/>
                <a:cs typeface="Segoe UI" pitchFamily="34" charset="-120"/>
              </a:rPr>
              <a:t>0.5517</a:t>
            </a:r>
            <a:endParaRPr lang="en-US" sz="2000" dirty="0"/>
          </a:p>
        </p:txBody>
      </p:sp>
      <p:sp>
        <p:nvSpPr>
          <p:cNvPr id="15" name="Text 12"/>
          <p:cNvSpPr txBox="1"/>
          <p:nvPr/>
        </p:nvSpPr>
        <p:spPr>
          <a:xfrm>
            <a:off x="297180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P-value</a:t>
            </a:r>
            <a:endParaRPr lang="en-US" sz="1000" dirty="0"/>
          </a:p>
        </p:txBody>
      </p:sp>
      <p:sp>
        <p:nvSpPr>
          <p:cNvPr id="16" name="Shape 13"/>
          <p:cNvSpPr/>
          <p:nvPr/>
        </p:nvSpPr>
        <p:spPr>
          <a:xfrm>
            <a:off x="5029200" y="1783080"/>
            <a:ext cx="2148840" cy="914400"/>
          </a:xfrm>
          <a:prstGeom prst="roundRect">
            <a:avLst>
              <a:gd name="adj" fmla="val 8000"/>
            </a:avLst>
          </a:prstGeom>
          <a:solidFill>
            <a:srgbClr val="151515"/>
          </a:solidFill>
          <a:ln w="9525">
            <a:solidFill>
              <a:srgbClr val="2A2A2A"/>
            </a:solidFill>
            <a:prstDash val="solid"/>
          </a:ln>
        </p:spPr>
      </p:sp>
      <p:sp>
        <p:nvSpPr>
          <p:cNvPr id="17" name="Text 14"/>
          <p:cNvSpPr txBox="1"/>
          <p:nvPr/>
        </p:nvSpPr>
        <p:spPr>
          <a:xfrm>
            <a:off x="5212080" y="1874520"/>
            <a:ext cx="1828800"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p &gt; 0.05</a:t>
            </a:r>
            <a:endParaRPr lang="en-US" sz="2000" dirty="0"/>
          </a:p>
        </p:txBody>
      </p:sp>
      <p:sp>
        <p:nvSpPr>
          <p:cNvPr id="18" name="Text 15"/>
          <p:cNvSpPr txBox="1"/>
          <p:nvPr/>
        </p:nvSpPr>
        <p:spPr>
          <a:xfrm>
            <a:off x="521208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Decision</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6629400" cy="914400"/>
        </p:xfrm>
        <a:graphic>
          <a:graphicData uri="http://schemas.openxmlformats.org/drawingml/2006/table">
            <a:tbl>
              <a:tblPr/>
              <a:tblGrid>
                <a:gridCol w="2971800"/>
                <a:gridCol w="1828800"/>
                <a:gridCol w="1828800"/>
              </a:tblGrid>
              <a:tr h="246888">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Region</a:t>
                      </a:r>
                      <a:endParaRPr lang="en-US" sz="9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Left</a:t>
                      </a:r>
                      <a:endParaRPr lang="en-US" sz="9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Stayed</a:t>
                      </a:r>
                      <a:endParaRPr lang="en-US" sz="9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246888">
                <a:tc>
                  <a:txBody>
                    <a:bodyPr/>
                    <a:lstStyle/>
                    <a:p>
                      <a:pPr algn="l" indent="0" marL="0">
                        <a:buNone/>
                      </a:pPr>
                      <a:r>
                        <a:rPr lang="en-US" sz="1000" b="1" dirty="0">
                          <a:solidFill>
                            <a:srgbClr val="F5F5F1"/>
                          </a:solidFill>
                          <a:latin typeface="Segoe UI" pitchFamily="34" charset="0"/>
                          <a:ea typeface="Segoe UI" pitchFamily="34" charset="-122"/>
                          <a:cs typeface="Segoe UI" pitchFamily="34" charset="-120"/>
                        </a:rPr>
                        <a:t>Africa</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373</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403</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246888">
                <a:tc>
                  <a:txBody>
                    <a:bodyPr/>
                    <a:lstStyle/>
                    <a:p>
                      <a:pPr algn="l" indent="0" marL="0">
                        <a:buNone/>
                      </a:pPr>
                      <a:r>
                        <a:rPr lang="en-US" sz="1000" b="1" dirty="0">
                          <a:solidFill>
                            <a:srgbClr val="F5F5F1"/>
                          </a:solidFill>
                          <a:latin typeface="Segoe UI" pitchFamily="34" charset="0"/>
                          <a:ea typeface="Segoe UI" pitchFamily="34" charset="-122"/>
                          <a:cs typeface="Segoe UI" pitchFamily="34" charset="-120"/>
                        </a:rPr>
                        <a:t>Asia</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413</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405</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246888">
                <a:tc>
                  <a:txBody>
                    <a:bodyPr/>
                    <a:lstStyle/>
                    <a:p>
                      <a:pPr algn="l" indent="0" marL="0">
                        <a:buNone/>
                      </a:pPr>
                      <a:r>
                        <a:rPr lang="en-US" sz="1000" b="1" dirty="0">
                          <a:solidFill>
                            <a:srgbClr val="F5F5F1"/>
                          </a:solidFill>
                          <a:latin typeface="Segoe UI" pitchFamily="34" charset="0"/>
                          <a:ea typeface="Segoe UI" pitchFamily="34" charset="-122"/>
                          <a:cs typeface="Segoe UI" pitchFamily="34" charset="-120"/>
                        </a:rPr>
                        <a:t>Europe</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430</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405</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246888">
                <a:tc>
                  <a:txBody>
                    <a:bodyPr/>
                    <a:lstStyle/>
                    <a:p>
                      <a:pPr algn="l" indent="0" marL="0">
                        <a:buNone/>
                      </a:pPr>
                      <a:r>
                        <a:rPr lang="en-US" sz="1000" b="1" dirty="0">
                          <a:solidFill>
                            <a:srgbClr val="F5F5F1"/>
                          </a:solidFill>
                          <a:latin typeface="Segoe UI" pitchFamily="34" charset="0"/>
                          <a:ea typeface="Segoe UI" pitchFamily="34" charset="-122"/>
                          <a:cs typeface="Segoe UI" pitchFamily="34" charset="-120"/>
                        </a:rPr>
                        <a:t>North America</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406</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420</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246888">
                <a:tc>
                  <a:txBody>
                    <a:bodyPr/>
                    <a:lstStyle/>
                    <a:p>
                      <a:pPr algn="l" indent="0" marL="0">
                        <a:buNone/>
                      </a:pPr>
                      <a:r>
                        <a:rPr lang="en-US" sz="1000" b="1" dirty="0">
                          <a:solidFill>
                            <a:srgbClr val="F5F5F1"/>
                          </a:solidFill>
                          <a:latin typeface="Segoe UI" pitchFamily="34" charset="0"/>
                          <a:ea typeface="Segoe UI" pitchFamily="34" charset="-122"/>
                          <a:cs typeface="Segoe UI" pitchFamily="34" charset="-120"/>
                        </a:rPr>
                        <a:t>Oceania</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369</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372</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246888">
                <a:tc>
                  <a:txBody>
                    <a:bodyPr/>
                    <a:lstStyle/>
                    <a:p>
                      <a:pPr algn="l" indent="0" marL="0">
                        <a:buNone/>
                      </a:pPr>
                      <a:r>
                        <a:rPr lang="en-US" sz="1000" b="1" dirty="0">
                          <a:solidFill>
                            <a:srgbClr val="F5F5F1"/>
                          </a:solidFill>
                          <a:latin typeface="Segoe UI" pitchFamily="34" charset="0"/>
                          <a:ea typeface="Segoe UI" pitchFamily="34" charset="-122"/>
                          <a:cs typeface="Segoe UI" pitchFamily="34" charset="-120"/>
                        </a:rPr>
                        <a:t>South America</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524</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000" dirty="0">
                          <a:solidFill>
                            <a:srgbClr val="F5F5F1"/>
                          </a:solidFill>
                          <a:latin typeface="Segoe UI" pitchFamily="34" charset="0"/>
                          <a:ea typeface="Segoe UI" pitchFamily="34" charset="-122"/>
                          <a:cs typeface="Segoe UI" pitchFamily="34" charset="-120"/>
                        </a:rPr>
                        <a:t>480</a:t>
                      </a:r>
                      <a:endParaRPr lang="en-US" sz="10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bl>
          </a:graphicData>
        </a:graphic>
      </p:graphicFrame>
      <p:sp>
        <p:nvSpPr>
          <p:cNvPr id="20" name="Shape 16"/>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21" name="Shape 17"/>
          <p:cNvSpPr/>
          <p:nvPr/>
        </p:nvSpPr>
        <p:spPr>
          <a:xfrm>
            <a:off x="7589520" y="1938528"/>
            <a:ext cx="91440" cy="91440"/>
          </a:xfrm>
          <a:prstGeom prst="ellipse">
            <a:avLst/>
          </a:prstGeom>
          <a:solidFill>
            <a:srgbClr val="FF5F57"/>
          </a:solidFill>
          <a:ln w="12700">
            <a:solidFill>
              <a:srgbClr val="FF5F57"/>
            </a:solidFill>
            <a:prstDash val="solid"/>
          </a:ln>
        </p:spPr>
      </p:sp>
      <p:sp>
        <p:nvSpPr>
          <p:cNvPr id="22" name="Shape 18"/>
          <p:cNvSpPr/>
          <p:nvPr/>
        </p:nvSpPr>
        <p:spPr>
          <a:xfrm>
            <a:off x="7754112" y="1938528"/>
            <a:ext cx="91440" cy="91440"/>
          </a:xfrm>
          <a:prstGeom prst="ellipse">
            <a:avLst/>
          </a:prstGeom>
          <a:solidFill>
            <a:srgbClr val="FEBC2E"/>
          </a:solidFill>
          <a:ln w="12700">
            <a:solidFill>
              <a:srgbClr val="FEBC2E"/>
            </a:solidFill>
            <a:prstDash val="solid"/>
          </a:ln>
        </p:spPr>
      </p:sp>
      <p:sp>
        <p:nvSpPr>
          <p:cNvPr id="23" name="Shape 19"/>
          <p:cNvSpPr/>
          <p:nvPr/>
        </p:nvSpPr>
        <p:spPr>
          <a:xfrm>
            <a:off x="7918704" y="1938528"/>
            <a:ext cx="91440" cy="91440"/>
          </a:xfrm>
          <a:prstGeom prst="ellipse">
            <a:avLst/>
          </a:prstGeom>
          <a:solidFill>
            <a:srgbClr val="28C840"/>
          </a:solidFill>
          <a:ln w="12700">
            <a:solidFill>
              <a:srgbClr val="28C840"/>
            </a:solidFill>
            <a:prstDash val="solid"/>
          </a:ln>
        </p:spPr>
      </p:sp>
      <p:sp>
        <p:nvSpPr>
          <p:cNvPr id="24" name="Text 20"/>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5" name="Text 21"/>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region_table = pd.crosstab(</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dataset["region"], dataset["churn_status"])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chi2, p_value, dof, expected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chi2_contingency(region_table))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print("Chi-square:", chi2)</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Chi-square: 3.98</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print("P-value:", p_value)</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P-value: 0.5517</a:t>
            </a:r>
            <a:endParaRPr lang="en-US" sz="950" dirty="0"/>
          </a:p>
        </p:txBody>
      </p:sp>
      <p:sp>
        <p:nvSpPr>
          <p:cNvPr id="26" name="Shape 22"/>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27" name="Shape 23"/>
          <p:cNvSpPr/>
          <p:nvPr/>
        </p:nvSpPr>
        <p:spPr>
          <a:xfrm>
            <a:off x="548640" y="5358384"/>
            <a:ext cx="54864" cy="704088"/>
          </a:xfrm>
          <a:prstGeom prst="rect">
            <a:avLst/>
          </a:prstGeom>
          <a:solidFill>
            <a:srgbClr val="E50914"/>
          </a:solidFill>
          <a:ln w="12700">
            <a:solidFill>
              <a:srgbClr val="E50914"/>
            </a:solidFill>
            <a:prstDash val="solid"/>
          </a:ln>
        </p:spPr>
      </p:sp>
      <p:pic>
        <p:nvPicPr>
          <p:cNvPr id="28" name="Image 1" descr="/tmp/claude-0/-home-claude/0afb8f05-6c65-583f-af33-ecd94b11a885/scratchpad/eda/assets/bulb.png">    </p:cNvPr>
          <p:cNvPicPr>
            <a:picLocks noChangeAspect="1"/>
          </p:cNvPicPr>
          <p:nvPr/>
        </p:nvPicPr>
        <p:blipFill>
          <a:blip r:embed="rId3"/>
          <a:stretch>
            <a:fillRect/>
          </a:stretch>
        </p:blipFill>
        <p:spPr>
          <a:xfrm>
            <a:off x="804672" y="5513832"/>
            <a:ext cx="384048" cy="384048"/>
          </a:xfrm>
          <a:prstGeom prst="rect">
            <a:avLst/>
          </a:prstGeom>
        </p:spPr>
      </p:pic>
      <p:sp>
        <p:nvSpPr>
          <p:cNvPr id="29" name="Text 24"/>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0" name="Text 25"/>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Left and stayed counts are closely balanced in every region. With a chi-square of 3.98 and </a:t>
            </a:r>
            <a:pPr indent="0" marL="0">
              <a:buNone/>
            </a:pPr>
            <a:r>
              <a:rPr lang="en-US" sz="1200" b="1" dirty="0">
                <a:solidFill>
                  <a:srgbClr val="F5F5F1"/>
                </a:solidFill>
                <a:latin typeface="Segoe UI" pitchFamily="34" charset="0"/>
                <a:ea typeface="Segoe UI" pitchFamily="34" charset="-122"/>
                <a:cs typeface="Segoe UI" pitchFamily="34" charset="-120"/>
              </a:rPr>
              <a:t>p = 0.5517</a:t>
            </a:r>
            <a:pPr indent="0" marL="0">
              <a:buNone/>
            </a:pPr>
            <a:r>
              <a:rPr lang="en-US" sz="1200" dirty="0">
                <a:solidFill>
                  <a:srgbClr val="F5F5F1"/>
                </a:solidFill>
                <a:latin typeface="Segoe UI" pitchFamily="34" charset="0"/>
                <a:ea typeface="Segoe UI" pitchFamily="34" charset="-122"/>
                <a:cs typeface="Segoe UI" pitchFamily="34" charset="-120"/>
              </a:rPr>
              <a:t>, well above 0.05, </a:t>
            </a:r>
            <a:pPr indent="0" marL="0">
              <a:buNone/>
            </a:pPr>
            <a:r>
              <a:rPr lang="en-US" sz="1200" b="1" dirty="0">
                <a:solidFill>
                  <a:srgbClr val="FF4D57"/>
                </a:solidFill>
                <a:latin typeface="Segoe UI" pitchFamily="34" charset="0"/>
                <a:ea typeface="Segoe UI" pitchFamily="34" charset="-122"/>
                <a:cs typeface="Segoe UI" pitchFamily="34" charset="-120"/>
              </a:rPr>
              <a:t>region has no significant association with churn</a:t>
            </a:r>
            <a:pPr indent="0" marL="0">
              <a:buNone/>
            </a:pPr>
            <a:r>
              <a:rPr lang="en-US" sz="1200" dirty="0">
                <a:solidFill>
                  <a:srgbClr val="F5F5F1"/>
                </a:solidFill>
                <a:latin typeface="Segoe UI" pitchFamily="34" charset="0"/>
                <a:ea typeface="Segoe UI" pitchFamily="34" charset="-122"/>
                <a:cs typeface="Segoe UI" pitchFamily="34" charset="-120"/>
              </a:rPr>
              <a:t>; customers leave at a similar rate wherever they are.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12  ·  NON-INFLUENTIAL FACTORS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Is device associated with churn?</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Chi-square test of independence between device and churn status.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21 / 27</a:t>
            </a:r>
            <a:endParaRPr lang="en-US" sz="900" dirty="0"/>
          </a:p>
        </p:txBody>
      </p:sp>
      <p:sp>
        <p:nvSpPr>
          <p:cNvPr id="10" name="Shape 7"/>
          <p:cNvSpPr/>
          <p:nvPr/>
        </p:nvSpPr>
        <p:spPr>
          <a:xfrm>
            <a:off x="548640" y="1783080"/>
            <a:ext cx="2148840" cy="914400"/>
          </a:xfrm>
          <a:prstGeom prst="roundRect">
            <a:avLst>
              <a:gd name="adj" fmla="val 8000"/>
            </a:avLst>
          </a:prstGeom>
          <a:solidFill>
            <a:srgbClr val="151515"/>
          </a:solidFill>
          <a:ln w="9525">
            <a:solidFill>
              <a:srgbClr val="2A2A2A"/>
            </a:solidFill>
            <a:prstDash val="solid"/>
          </a:ln>
        </p:spPr>
      </p:sp>
      <p:sp>
        <p:nvSpPr>
          <p:cNvPr id="11" name="Text 8"/>
          <p:cNvSpPr txBox="1"/>
          <p:nvPr/>
        </p:nvSpPr>
        <p:spPr>
          <a:xfrm>
            <a:off x="731520" y="1874520"/>
            <a:ext cx="1828800"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1.28</a:t>
            </a:r>
            <a:endParaRPr lang="en-US" sz="2000" dirty="0"/>
          </a:p>
        </p:txBody>
      </p:sp>
      <p:sp>
        <p:nvSpPr>
          <p:cNvPr id="12" name="Text 9"/>
          <p:cNvSpPr txBox="1"/>
          <p:nvPr/>
        </p:nvSpPr>
        <p:spPr>
          <a:xfrm>
            <a:off x="73152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Chi-square</a:t>
            </a:r>
            <a:endParaRPr lang="en-US" sz="1000" dirty="0"/>
          </a:p>
        </p:txBody>
      </p:sp>
      <p:sp>
        <p:nvSpPr>
          <p:cNvPr id="13" name="Shape 10"/>
          <p:cNvSpPr/>
          <p:nvPr/>
        </p:nvSpPr>
        <p:spPr>
          <a:xfrm>
            <a:off x="2788920" y="1783080"/>
            <a:ext cx="2148840" cy="914400"/>
          </a:xfrm>
          <a:prstGeom prst="roundRect">
            <a:avLst>
              <a:gd name="adj" fmla="val 8000"/>
            </a:avLst>
          </a:prstGeom>
          <a:solidFill>
            <a:srgbClr val="151515"/>
          </a:solidFill>
          <a:ln w="9525">
            <a:solidFill>
              <a:srgbClr val="2A2A2A"/>
            </a:solidFill>
            <a:prstDash val="solid"/>
          </a:ln>
        </p:spPr>
      </p:sp>
      <p:sp>
        <p:nvSpPr>
          <p:cNvPr id="14" name="Text 11"/>
          <p:cNvSpPr txBox="1"/>
          <p:nvPr/>
        </p:nvSpPr>
        <p:spPr>
          <a:xfrm>
            <a:off x="2971800" y="1874520"/>
            <a:ext cx="1828800" cy="457200"/>
          </a:xfrm>
          <a:prstGeom prst="rect">
            <a:avLst/>
          </a:prstGeom>
          <a:noFill/>
          <a:ln/>
        </p:spPr>
        <p:txBody>
          <a:bodyPr wrap="square" lIns="0" tIns="0" rIns="0" bIns="0" rtlCol="0" anchor="b"/>
          <a:lstStyle/>
          <a:p>
            <a:pPr indent="0" marL="0">
              <a:buNone/>
            </a:pPr>
            <a:r>
              <a:rPr lang="en-US" sz="2000" b="1" dirty="0">
                <a:solidFill>
                  <a:srgbClr val="FF4D57"/>
                </a:solidFill>
                <a:latin typeface="Segoe UI" pitchFamily="34" charset="0"/>
                <a:ea typeface="Segoe UI" pitchFamily="34" charset="-122"/>
                <a:cs typeface="Segoe UI" pitchFamily="34" charset="-120"/>
              </a:rPr>
              <a:t>0.8642</a:t>
            </a:r>
            <a:endParaRPr lang="en-US" sz="2000" dirty="0"/>
          </a:p>
        </p:txBody>
      </p:sp>
      <p:sp>
        <p:nvSpPr>
          <p:cNvPr id="15" name="Text 12"/>
          <p:cNvSpPr txBox="1"/>
          <p:nvPr/>
        </p:nvSpPr>
        <p:spPr>
          <a:xfrm>
            <a:off x="297180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P-value</a:t>
            </a:r>
            <a:endParaRPr lang="en-US" sz="1000" dirty="0"/>
          </a:p>
        </p:txBody>
      </p:sp>
      <p:sp>
        <p:nvSpPr>
          <p:cNvPr id="16" name="Shape 13"/>
          <p:cNvSpPr/>
          <p:nvPr/>
        </p:nvSpPr>
        <p:spPr>
          <a:xfrm>
            <a:off x="5029200" y="1783080"/>
            <a:ext cx="2148840" cy="914400"/>
          </a:xfrm>
          <a:prstGeom prst="roundRect">
            <a:avLst>
              <a:gd name="adj" fmla="val 8000"/>
            </a:avLst>
          </a:prstGeom>
          <a:solidFill>
            <a:srgbClr val="151515"/>
          </a:solidFill>
          <a:ln w="9525">
            <a:solidFill>
              <a:srgbClr val="2A2A2A"/>
            </a:solidFill>
            <a:prstDash val="solid"/>
          </a:ln>
        </p:spPr>
      </p:sp>
      <p:sp>
        <p:nvSpPr>
          <p:cNvPr id="17" name="Text 14"/>
          <p:cNvSpPr txBox="1"/>
          <p:nvPr/>
        </p:nvSpPr>
        <p:spPr>
          <a:xfrm>
            <a:off x="5212080" y="1874520"/>
            <a:ext cx="1828800" cy="457200"/>
          </a:xfrm>
          <a:prstGeom prst="rect">
            <a:avLst/>
          </a:prstGeom>
          <a:noFill/>
          <a:ln/>
        </p:spPr>
        <p:txBody>
          <a:bodyPr wrap="square" lIns="0" tIns="0" rIns="0" bIns="0" rtlCol="0" anchor="b"/>
          <a:lstStyle/>
          <a:p>
            <a:pPr indent="0" marL="0">
              <a:buNone/>
            </a:pPr>
            <a:r>
              <a:rPr lang="en-US" sz="2000" b="1" dirty="0">
                <a:solidFill>
                  <a:srgbClr val="F5F5F1"/>
                </a:solidFill>
                <a:latin typeface="Segoe UI" pitchFamily="34" charset="0"/>
                <a:ea typeface="Segoe UI" pitchFamily="34" charset="-122"/>
                <a:cs typeface="Segoe UI" pitchFamily="34" charset="-120"/>
              </a:rPr>
              <a:t>p &gt; 0.05</a:t>
            </a:r>
            <a:endParaRPr lang="en-US" sz="2000" dirty="0"/>
          </a:p>
        </p:txBody>
      </p:sp>
      <p:sp>
        <p:nvSpPr>
          <p:cNvPr id="18" name="Text 15"/>
          <p:cNvSpPr txBox="1"/>
          <p:nvPr/>
        </p:nvSpPr>
        <p:spPr>
          <a:xfrm>
            <a:off x="5212080" y="2368296"/>
            <a:ext cx="1828800" cy="274320"/>
          </a:xfrm>
          <a:prstGeom prst="rect">
            <a:avLst/>
          </a:prstGeom>
          <a:noFill/>
          <a:ln/>
        </p:spPr>
        <p:txBody>
          <a:bodyPr wrap="square" lIns="0" tIns="0" rIns="0" bIns="0" rtlCol="0" anchor="t"/>
          <a:lstStyle/>
          <a:p>
            <a:pPr indent="0" marL="0">
              <a:buNone/>
            </a:pPr>
            <a:r>
              <a:rPr lang="en-US" sz="1000" dirty="0">
                <a:solidFill>
                  <a:srgbClr val="A6A6A6"/>
                </a:solidFill>
                <a:latin typeface="Segoe UI" pitchFamily="34" charset="0"/>
                <a:ea typeface="Segoe UI" pitchFamily="34" charset="-122"/>
                <a:cs typeface="Segoe UI" pitchFamily="34" charset="-120"/>
              </a:rPr>
              <a:t>Decision</a:t>
            </a:r>
            <a:endParaRPr lang="en-US" sz="1000" dirty="0"/>
          </a:p>
        </p:txBody>
      </p:sp>
      <p:pic>
        <p:nvPicPr>
          <p:cNvPr id="19" name="Image 1" descr="/tmp/claude-0/-home-claude/0afb8f05-6c65-583f-af33-ecd94b11a885/scratchpad/eda/assets/device.png">    </p:cNvPr>
          <p:cNvPicPr>
            <a:picLocks noChangeAspect="1"/>
          </p:cNvPicPr>
          <p:nvPr/>
        </p:nvPicPr>
        <p:blipFill>
          <a:blip r:embed="rId3"/>
          <a:stretch>
            <a:fillRect/>
          </a:stretch>
        </p:blipFill>
        <p:spPr>
          <a:xfrm>
            <a:off x="548640" y="2852928"/>
            <a:ext cx="384048" cy="384048"/>
          </a:xfrm>
          <a:prstGeom prst="rect">
            <a:avLst/>
          </a:prstGeom>
        </p:spPr>
      </p:pic>
      <p:sp>
        <p:nvSpPr>
          <p:cNvPr id="20" name="Text 16"/>
          <p:cNvSpPr txBox="1"/>
          <p:nvPr/>
        </p:nvSpPr>
        <p:spPr>
          <a:xfrm>
            <a:off x="1051560" y="2852928"/>
            <a:ext cx="6035040" cy="384048"/>
          </a:xfrm>
          <a:prstGeom prst="rect">
            <a:avLst/>
          </a:prstGeom>
          <a:noFill/>
          <a:ln/>
        </p:spPr>
        <p:txBody>
          <a:bodyPr wrap="square" lIns="0" tIns="0" rIns="0" bIns="0" rtlCol="0" anchor="ctr"/>
          <a:lstStyle/>
          <a:p>
            <a:pPr indent="0" marL="0">
              <a:buNone/>
            </a:pPr>
            <a:r>
              <a:rPr lang="en-US" sz="1350" b="1" dirty="0">
                <a:solidFill>
                  <a:srgbClr val="F5F5F1"/>
                </a:solidFill>
                <a:latin typeface="Segoe UI" pitchFamily="34" charset="0"/>
                <a:ea typeface="Segoe UI" pitchFamily="34" charset="-122"/>
                <a:cs typeface="Segoe UI" pitchFamily="34" charset="-120"/>
              </a:rPr>
              <a:t>Device is not associated with churn</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6629400" cy="914400"/>
        </p:xfrm>
        <a:graphic>
          <a:graphicData uri="http://schemas.openxmlformats.org/drawingml/2006/table">
            <a:tbl>
              <a:tblPr/>
              <a:tblGrid>
                <a:gridCol w="2971800"/>
                <a:gridCol w="1828800"/>
                <a:gridCol w="1828800"/>
              </a:tblGrid>
              <a:tr h="283464">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Device</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Left</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Stayed</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28346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Desktop</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447</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462</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28346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Laptop</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494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466</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28346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Mobile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487</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483</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28346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TV</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473</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480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283464">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Tablet</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614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594</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bl>
          </a:graphicData>
        </a:graphic>
      </p:graphicFrame>
      <p:sp>
        <p:nvSpPr>
          <p:cNvPr id="22" name="Shape 17"/>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23" name="Shape 18"/>
          <p:cNvSpPr/>
          <p:nvPr/>
        </p:nvSpPr>
        <p:spPr>
          <a:xfrm>
            <a:off x="7589520" y="1938528"/>
            <a:ext cx="91440" cy="91440"/>
          </a:xfrm>
          <a:prstGeom prst="ellipse">
            <a:avLst/>
          </a:prstGeom>
          <a:solidFill>
            <a:srgbClr val="FF5F57"/>
          </a:solidFill>
          <a:ln w="12700">
            <a:solidFill>
              <a:srgbClr val="FF5F57"/>
            </a:solidFill>
            <a:prstDash val="solid"/>
          </a:ln>
        </p:spPr>
      </p:sp>
      <p:sp>
        <p:nvSpPr>
          <p:cNvPr id="24" name="Shape 19"/>
          <p:cNvSpPr/>
          <p:nvPr/>
        </p:nvSpPr>
        <p:spPr>
          <a:xfrm>
            <a:off x="7754112" y="1938528"/>
            <a:ext cx="91440" cy="91440"/>
          </a:xfrm>
          <a:prstGeom prst="ellipse">
            <a:avLst/>
          </a:prstGeom>
          <a:solidFill>
            <a:srgbClr val="FEBC2E"/>
          </a:solidFill>
          <a:ln w="12700">
            <a:solidFill>
              <a:srgbClr val="FEBC2E"/>
            </a:solidFill>
            <a:prstDash val="solid"/>
          </a:ln>
        </p:spPr>
      </p:sp>
      <p:sp>
        <p:nvSpPr>
          <p:cNvPr id="25" name="Shape 20"/>
          <p:cNvSpPr/>
          <p:nvPr/>
        </p:nvSpPr>
        <p:spPr>
          <a:xfrm>
            <a:off x="7918704" y="1938528"/>
            <a:ext cx="91440" cy="91440"/>
          </a:xfrm>
          <a:prstGeom prst="ellipse">
            <a:avLst/>
          </a:prstGeom>
          <a:solidFill>
            <a:srgbClr val="28C840"/>
          </a:solidFill>
          <a:ln w="12700">
            <a:solidFill>
              <a:srgbClr val="28C840"/>
            </a:solidFill>
            <a:prstDash val="solid"/>
          </a:ln>
        </p:spPr>
      </p:sp>
      <p:sp>
        <p:nvSpPr>
          <p:cNvPr id="26" name="Text 21"/>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7" name="Text 22"/>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device_table = pd.crosstab(</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dataset["device"], dataset["churn_status"])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chi2, p_value, dof, expected =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chi2_contingency(device_table))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print("Chi-square:", chi2)</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Chi-square: 1.28</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print("P-value:", p_value)</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P-value: 0.8642</a:t>
            </a:r>
            <a:endParaRPr lang="en-US" sz="950" dirty="0"/>
          </a:p>
        </p:txBody>
      </p:sp>
      <p:sp>
        <p:nvSpPr>
          <p:cNvPr id="28" name="Shape 23"/>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29" name="Shape 24"/>
          <p:cNvSpPr/>
          <p:nvPr/>
        </p:nvSpPr>
        <p:spPr>
          <a:xfrm>
            <a:off x="548640" y="5358384"/>
            <a:ext cx="54864" cy="704088"/>
          </a:xfrm>
          <a:prstGeom prst="rect">
            <a:avLst/>
          </a:prstGeom>
          <a:solidFill>
            <a:srgbClr val="E50914"/>
          </a:solidFill>
          <a:ln w="12700">
            <a:solidFill>
              <a:srgbClr val="E50914"/>
            </a:solidFill>
            <a:prstDash val="solid"/>
          </a:ln>
        </p:spPr>
      </p:sp>
      <p:pic>
        <p:nvPicPr>
          <p:cNvPr id="30" name="Image 2" descr="/tmp/claude-0/-home-claude/0afb8f05-6c65-583f-af33-ecd94b11a885/scratchpad/eda/assets/bulb.png">    </p:cNvPr>
          <p:cNvPicPr>
            <a:picLocks noChangeAspect="1"/>
          </p:cNvPicPr>
          <p:nvPr/>
        </p:nvPicPr>
        <p:blipFill>
          <a:blip r:embed="rId4"/>
          <a:stretch>
            <a:fillRect/>
          </a:stretch>
        </p:blipFill>
        <p:spPr>
          <a:xfrm>
            <a:off x="804672" y="5513832"/>
            <a:ext cx="384048" cy="384048"/>
          </a:xfrm>
          <a:prstGeom prst="rect">
            <a:avLst/>
          </a:prstGeom>
        </p:spPr>
      </p:pic>
      <p:sp>
        <p:nvSpPr>
          <p:cNvPr id="31" name="Text 25"/>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2" name="Text 26"/>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Left and stayed counts are closely balanced on every device. With a chi-square of 1.28 and </a:t>
            </a:r>
            <a:pPr indent="0" marL="0">
              <a:buNone/>
            </a:pPr>
            <a:r>
              <a:rPr lang="en-US" sz="1200" b="1" dirty="0">
                <a:solidFill>
                  <a:srgbClr val="F5F5F1"/>
                </a:solidFill>
                <a:latin typeface="Segoe UI" pitchFamily="34" charset="0"/>
                <a:ea typeface="Segoe UI" pitchFamily="34" charset="-122"/>
                <a:cs typeface="Segoe UI" pitchFamily="34" charset="-120"/>
              </a:rPr>
              <a:t>p = 0.8642</a:t>
            </a:r>
            <a:pPr indent="0" marL="0">
              <a:buNone/>
            </a:pPr>
            <a:r>
              <a:rPr lang="en-US" sz="1200" dirty="0">
                <a:solidFill>
                  <a:srgbClr val="F5F5F1"/>
                </a:solidFill>
                <a:latin typeface="Segoe UI" pitchFamily="34" charset="0"/>
                <a:ea typeface="Segoe UI" pitchFamily="34" charset="-122"/>
                <a:cs typeface="Segoe UI" pitchFamily="34" charset="-120"/>
              </a:rPr>
              <a:t>, </a:t>
            </a:r>
            <a:pPr indent="0" marL="0">
              <a:buNone/>
            </a:pPr>
            <a:r>
              <a:rPr lang="en-US" sz="1200" b="1" dirty="0">
                <a:solidFill>
                  <a:srgbClr val="FF4D57"/>
                </a:solidFill>
                <a:latin typeface="Segoe UI" pitchFamily="34" charset="0"/>
                <a:ea typeface="Segoe UI" pitchFamily="34" charset="-122"/>
                <a:cs typeface="Segoe UI" pitchFamily="34" charset="-120"/>
              </a:rPr>
              <a:t>device has no significant association with churn</a:t>
            </a:r>
            <a:pPr indent="0" marL="0">
              <a:buNone/>
            </a:pPr>
            <a:r>
              <a:rPr lang="en-US" sz="1200" dirty="0">
                <a:solidFill>
                  <a:srgbClr val="F5F5F1"/>
                </a:solidFill>
                <a:latin typeface="Segoe UI" pitchFamily="34" charset="0"/>
                <a:ea typeface="Segoe UI" pitchFamily="34" charset="-122"/>
                <a:cs typeface="Segoe UI" pitchFamily="34" charset="-120"/>
              </a:rPr>
              <a:t>. Together with gender and region, this shows churn is driven by behaviour, not by who customers are or how they watch.</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13  ·  ATYPICAL CUSTOMERS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What characteristics distinguish heavy viewers who churned and light viewers who stayed?</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Customers whose outcome runs against the main engagement pattern.</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22 / 27</a:t>
            </a:r>
            <a:endParaRPr lang="en-US" sz="900" dirty="0"/>
          </a:p>
        </p:txBody>
      </p:sp>
      <p:sp>
        <p:nvSpPr>
          <p:cNvPr id="10" name="Shape 7"/>
          <p:cNvSpPr/>
          <p:nvPr/>
        </p:nvSpPr>
        <p:spPr>
          <a:xfrm>
            <a:off x="548640" y="1783080"/>
            <a:ext cx="2148840" cy="1874520"/>
          </a:xfrm>
          <a:prstGeom prst="roundRect">
            <a:avLst>
              <a:gd name="adj" fmla="val 3902"/>
            </a:avLst>
          </a:prstGeom>
          <a:solidFill>
            <a:srgbClr val="1E0B0D"/>
          </a:solidFill>
          <a:ln w="12700">
            <a:solidFill>
              <a:srgbClr val="E50914"/>
            </a:solidFill>
            <a:prstDash val="solid"/>
          </a:ln>
        </p:spPr>
      </p:sp>
      <p:sp>
        <p:nvSpPr>
          <p:cNvPr id="11" name="Shape 8"/>
          <p:cNvSpPr/>
          <p:nvPr/>
        </p:nvSpPr>
        <p:spPr>
          <a:xfrm>
            <a:off x="749808" y="178308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churned.png">    </p:cNvPr>
          <p:cNvPicPr>
            <a:picLocks noChangeAspect="1"/>
          </p:cNvPicPr>
          <p:nvPr/>
        </p:nvPicPr>
        <p:blipFill>
          <a:blip r:embed="rId3"/>
          <a:stretch>
            <a:fillRect/>
          </a:stretch>
        </p:blipFill>
        <p:spPr>
          <a:xfrm>
            <a:off x="749808" y="2011680"/>
            <a:ext cx="438912" cy="438912"/>
          </a:xfrm>
          <a:prstGeom prst="rect">
            <a:avLst/>
          </a:prstGeom>
        </p:spPr>
      </p:pic>
      <p:sp>
        <p:nvSpPr>
          <p:cNvPr id="13" name="Text 9"/>
          <p:cNvSpPr txBox="1"/>
          <p:nvPr/>
        </p:nvSpPr>
        <p:spPr>
          <a:xfrm>
            <a:off x="749808" y="2560320"/>
            <a:ext cx="1874520" cy="502920"/>
          </a:xfrm>
          <a:prstGeom prst="rect">
            <a:avLst/>
          </a:prstGeom>
          <a:noFill/>
          <a:ln/>
        </p:spPr>
        <p:txBody>
          <a:bodyPr wrap="square" lIns="0" tIns="0" rIns="0" bIns="0" rtlCol="0" anchor="ctr"/>
          <a:lstStyle/>
          <a:p>
            <a:pPr indent="0" marL="0">
              <a:buNone/>
            </a:pPr>
            <a:r>
              <a:rPr lang="en-US" sz="2800" b="1" dirty="0">
                <a:solidFill>
                  <a:srgbClr val="FF4D57"/>
                </a:solidFill>
                <a:latin typeface="Segoe UI" pitchFamily="34" charset="0"/>
                <a:ea typeface="Segoe UI" pitchFamily="34" charset="-122"/>
                <a:cs typeface="Segoe UI" pitchFamily="34" charset="-120"/>
              </a:rPr>
              <a:t>185</a:t>
            </a:r>
            <a:endParaRPr lang="en-US" sz="2800" dirty="0"/>
          </a:p>
        </p:txBody>
      </p:sp>
      <p:sp>
        <p:nvSpPr>
          <p:cNvPr id="14" name="Text 10"/>
          <p:cNvSpPr txBox="1"/>
          <p:nvPr/>
        </p:nvSpPr>
        <p:spPr>
          <a:xfrm>
            <a:off x="749808" y="3063240"/>
            <a:ext cx="1874520" cy="256032"/>
          </a:xfrm>
          <a:prstGeom prst="rect">
            <a:avLst/>
          </a:prstGeom>
          <a:noFill/>
          <a:ln/>
        </p:spPr>
        <p:txBody>
          <a:bodyPr wrap="square" lIns="0" tIns="0" rIns="0" bIns="0" rtlCol="0" anchor="ctr"/>
          <a:lstStyle/>
          <a:p>
            <a:pPr indent="0" marL="0">
              <a:buNone/>
            </a:pPr>
            <a:r>
              <a:rPr lang="en-US" sz="1150" b="1" dirty="0">
                <a:solidFill>
                  <a:srgbClr val="F5F5F1"/>
                </a:solidFill>
                <a:latin typeface="Segoe UI" pitchFamily="34" charset="0"/>
                <a:ea typeface="Segoe UI" pitchFamily="34" charset="-122"/>
                <a:cs typeface="Segoe UI" pitchFamily="34" charset="-120"/>
              </a:rPr>
              <a:t>Heavy viewers who left</a:t>
            </a:r>
            <a:endParaRPr lang="en-US" sz="1150" dirty="0"/>
          </a:p>
        </p:txBody>
      </p:sp>
      <p:sp>
        <p:nvSpPr>
          <p:cNvPr id="15" name="Text 11"/>
          <p:cNvSpPr txBox="1"/>
          <p:nvPr/>
        </p:nvSpPr>
        <p:spPr>
          <a:xfrm>
            <a:off x="749808" y="3310128"/>
            <a:ext cx="1874520" cy="320040"/>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Match the 185 high-viewing customers who churned</a:t>
            </a:r>
            <a:endParaRPr lang="en-US" sz="900" dirty="0"/>
          </a:p>
        </p:txBody>
      </p:sp>
      <p:sp>
        <p:nvSpPr>
          <p:cNvPr id="16" name="Shape 12"/>
          <p:cNvSpPr/>
          <p:nvPr/>
        </p:nvSpPr>
        <p:spPr>
          <a:xfrm>
            <a:off x="2788920" y="1783080"/>
            <a:ext cx="2148840" cy="1874520"/>
          </a:xfrm>
          <a:prstGeom prst="roundRect">
            <a:avLst>
              <a:gd name="adj" fmla="val 3902"/>
            </a:avLst>
          </a:prstGeom>
          <a:solidFill>
            <a:srgbClr val="1E0B0D"/>
          </a:solidFill>
          <a:ln w="12700">
            <a:solidFill>
              <a:srgbClr val="E50914"/>
            </a:solidFill>
            <a:prstDash val="solid"/>
          </a:ln>
        </p:spPr>
      </p:sp>
      <p:sp>
        <p:nvSpPr>
          <p:cNvPr id="17" name="Shape 13"/>
          <p:cNvSpPr/>
          <p:nvPr/>
        </p:nvSpPr>
        <p:spPr>
          <a:xfrm>
            <a:off x="2990088" y="1783080"/>
            <a:ext cx="548640" cy="36576"/>
          </a:xfrm>
          <a:prstGeom prst="rect">
            <a:avLst/>
          </a:prstGeom>
          <a:solidFill>
            <a:srgbClr val="E50914"/>
          </a:solidFill>
          <a:ln w="12700">
            <a:solidFill>
              <a:srgbClr val="E50914"/>
            </a:solidFill>
            <a:prstDash val="solid"/>
          </a:ln>
        </p:spPr>
      </p:sp>
      <p:pic>
        <p:nvPicPr>
          <p:cNvPr id="18" name="Image 2" descr="/tmp/claude-0/-home-claude/0afb8f05-6c65-583f-af33-ecd94b11a885/scratchpad/eda/assets/stayed.png">    </p:cNvPr>
          <p:cNvPicPr>
            <a:picLocks noChangeAspect="1"/>
          </p:cNvPicPr>
          <p:nvPr/>
        </p:nvPicPr>
        <p:blipFill>
          <a:blip r:embed="rId4"/>
          <a:stretch>
            <a:fillRect/>
          </a:stretch>
        </p:blipFill>
        <p:spPr>
          <a:xfrm>
            <a:off x="2990088" y="2011680"/>
            <a:ext cx="438912" cy="438912"/>
          </a:xfrm>
          <a:prstGeom prst="rect">
            <a:avLst/>
          </a:prstGeom>
        </p:spPr>
      </p:pic>
      <p:sp>
        <p:nvSpPr>
          <p:cNvPr id="19" name="Text 14"/>
          <p:cNvSpPr txBox="1"/>
          <p:nvPr/>
        </p:nvSpPr>
        <p:spPr>
          <a:xfrm>
            <a:off x="2990088" y="2560320"/>
            <a:ext cx="1874520" cy="502920"/>
          </a:xfrm>
          <a:prstGeom prst="rect">
            <a:avLst/>
          </a:prstGeom>
          <a:noFill/>
          <a:ln/>
        </p:spPr>
        <p:txBody>
          <a:bodyPr wrap="square" lIns="0" tIns="0" rIns="0" bIns="0" rtlCol="0" anchor="ctr"/>
          <a:lstStyle/>
          <a:p>
            <a:pPr indent="0" marL="0">
              <a:buNone/>
            </a:pPr>
            <a:r>
              <a:rPr lang="en-US" sz="2800" b="1" dirty="0">
                <a:solidFill>
                  <a:srgbClr val="FF4D57"/>
                </a:solidFill>
                <a:latin typeface="Segoe UI" pitchFamily="34" charset="0"/>
                <a:ea typeface="Segoe UI" pitchFamily="34" charset="-122"/>
                <a:cs typeface="Segoe UI" pitchFamily="34" charset="-120"/>
              </a:rPr>
              <a:t>180</a:t>
            </a:r>
            <a:endParaRPr lang="en-US" sz="2800" dirty="0"/>
          </a:p>
        </p:txBody>
      </p:sp>
      <p:sp>
        <p:nvSpPr>
          <p:cNvPr id="20" name="Text 15"/>
          <p:cNvSpPr txBox="1"/>
          <p:nvPr/>
        </p:nvSpPr>
        <p:spPr>
          <a:xfrm>
            <a:off x="2990088" y="3063240"/>
            <a:ext cx="1874520" cy="256032"/>
          </a:xfrm>
          <a:prstGeom prst="rect">
            <a:avLst/>
          </a:prstGeom>
          <a:noFill/>
          <a:ln/>
        </p:spPr>
        <p:txBody>
          <a:bodyPr wrap="square" lIns="0" tIns="0" rIns="0" bIns="0" rtlCol="0" anchor="ctr"/>
          <a:lstStyle/>
          <a:p>
            <a:pPr indent="0" marL="0">
              <a:buNone/>
            </a:pPr>
            <a:r>
              <a:rPr lang="en-US" sz="1150" b="1" dirty="0">
                <a:solidFill>
                  <a:srgbClr val="F5F5F1"/>
                </a:solidFill>
                <a:latin typeface="Segoe UI" pitchFamily="34" charset="0"/>
                <a:ea typeface="Segoe UI" pitchFamily="34" charset="-122"/>
                <a:cs typeface="Segoe UI" pitchFamily="34" charset="-120"/>
              </a:rPr>
              <a:t>Light viewers who stayed</a:t>
            </a:r>
            <a:endParaRPr lang="en-US" sz="1150" dirty="0"/>
          </a:p>
        </p:txBody>
      </p:sp>
      <p:sp>
        <p:nvSpPr>
          <p:cNvPr id="21" name="Text 16"/>
          <p:cNvSpPr txBox="1"/>
          <p:nvPr/>
        </p:nvSpPr>
        <p:spPr>
          <a:xfrm>
            <a:off x="2990088" y="3310128"/>
            <a:ext cx="1874520" cy="320040"/>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Match the 180 low-viewing customers who stayed</a:t>
            </a:r>
            <a:endParaRPr lang="en-US" sz="900" dirty="0"/>
          </a:p>
        </p:txBody>
      </p:sp>
      <p:sp>
        <p:nvSpPr>
          <p:cNvPr id="22" name="Shape 17"/>
          <p:cNvSpPr/>
          <p:nvPr/>
        </p:nvSpPr>
        <p:spPr>
          <a:xfrm>
            <a:off x="5029200" y="1783080"/>
            <a:ext cx="2148840" cy="1874520"/>
          </a:xfrm>
          <a:prstGeom prst="roundRect">
            <a:avLst>
              <a:gd name="adj" fmla="val 3902"/>
            </a:avLst>
          </a:prstGeom>
          <a:solidFill>
            <a:srgbClr val="151515"/>
          </a:solidFill>
          <a:ln w="9525">
            <a:solidFill>
              <a:srgbClr val="2A2A2A"/>
            </a:solidFill>
            <a:prstDash val="solid"/>
          </a:ln>
        </p:spPr>
      </p:sp>
      <p:sp>
        <p:nvSpPr>
          <p:cNvPr id="23" name="Shape 18"/>
          <p:cNvSpPr/>
          <p:nvPr/>
        </p:nvSpPr>
        <p:spPr>
          <a:xfrm>
            <a:off x="5230368" y="1783080"/>
            <a:ext cx="548640" cy="36576"/>
          </a:xfrm>
          <a:prstGeom prst="rect">
            <a:avLst/>
          </a:prstGeom>
          <a:solidFill>
            <a:srgbClr val="E50914"/>
          </a:solidFill>
          <a:ln w="12700">
            <a:solidFill>
              <a:srgbClr val="E50914"/>
            </a:solidFill>
            <a:prstDash val="solid"/>
          </a:ln>
        </p:spPr>
      </p:sp>
      <p:pic>
        <p:nvPicPr>
          <p:cNvPr id="24" name="Image 3" descr="/tmp/claude-0/-home-claude/0afb8f05-6c65-583f-af33-ecd94b11a885/scratchpad/eda/assets/profiles.png">    </p:cNvPr>
          <p:cNvPicPr>
            <a:picLocks noChangeAspect="1"/>
          </p:cNvPicPr>
          <p:nvPr/>
        </p:nvPicPr>
        <p:blipFill>
          <a:blip r:embed="rId5"/>
          <a:stretch>
            <a:fillRect/>
          </a:stretch>
        </p:blipFill>
        <p:spPr>
          <a:xfrm>
            <a:off x="5230368" y="2011680"/>
            <a:ext cx="438912" cy="438912"/>
          </a:xfrm>
          <a:prstGeom prst="rect">
            <a:avLst/>
          </a:prstGeom>
        </p:spPr>
      </p:pic>
      <p:sp>
        <p:nvSpPr>
          <p:cNvPr id="25" name="Text 19"/>
          <p:cNvSpPr txBox="1"/>
          <p:nvPr/>
        </p:nvSpPr>
        <p:spPr>
          <a:xfrm>
            <a:off x="5230368" y="2560320"/>
            <a:ext cx="1874520" cy="502920"/>
          </a:xfrm>
          <a:prstGeom prst="rect">
            <a:avLst/>
          </a:prstGeom>
          <a:noFill/>
          <a:ln/>
        </p:spPr>
        <p:txBody>
          <a:bodyPr wrap="square" lIns="0" tIns="0" rIns="0" bIns="0" rtlCol="0" anchor="ctr"/>
          <a:lstStyle/>
          <a:p>
            <a:pPr indent="0" marL="0">
              <a:buNone/>
            </a:pPr>
            <a:r>
              <a:rPr lang="en-US" sz="1900" b="1" dirty="0">
                <a:solidFill>
                  <a:srgbClr val="F5F5F1"/>
                </a:solidFill>
                <a:latin typeface="Segoe UI" pitchFamily="34" charset="0"/>
                <a:ea typeface="Segoe UI" pitchFamily="34" charset="-122"/>
                <a:cs typeface="Segoe UI" pitchFamily="34" charset="-120"/>
              </a:rPr>
              <a:t>2,330 / 2,305</a:t>
            </a:r>
            <a:endParaRPr lang="en-US" sz="1900" dirty="0"/>
          </a:p>
        </p:txBody>
      </p:sp>
      <p:sp>
        <p:nvSpPr>
          <p:cNvPr id="26" name="Text 20"/>
          <p:cNvSpPr txBox="1"/>
          <p:nvPr/>
        </p:nvSpPr>
        <p:spPr>
          <a:xfrm>
            <a:off x="5230368" y="3063240"/>
            <a:ext cx="1874520" cy="256032"/>
          </a:xfrm>
          <a:prstGeom prst="rect">
            <a:avLst/>
          </a:prstGeom>
          <a:noFill/>
          <a:ln/>
        </p:spPr>
        <p:txBody>
          <a:bodyPr wrap="square" lIns="0" tIns="0" rIns="0" bIns="0" rtlCol="0" anchor="ctr"/>
          <a:lstStyle/>
          <a:p>
            <a:pPr indent="0" marL="0">
              <a:buNone/>
            </a:pPr>
            <a:r>
              <a:rPr lang="en-US" sz="1150" b="1" dirty="0">
                <a:solidFill>
                  <a:srgbClr val="F5F5F1"/>
                </a:solidFill>
                <a:latin typeface="Segoe UI" pitchFamily="34" charset="0"/>
                <a:ea typeface="Segoe UI" pitchFamily="34" charset="-122"/>
                <a:cs typeface="Segoe UI" pitchFamily="34" charset="-120"/>
              </a:rPr>
              <a:t>Typical customers</a:t>
            </a:r>
            <a:endParaRPr lang="en-US" sz="1150" dirty="0"/>
          </a:p>
        </p:txBody>
      </p:sp>
      <p:sp>
        <p:nvSpPr>
          <p:cNvPr id="27" name="Text 21"/>
          <p:cNvSpPr txBox="1"/>
          <p:nvPr/>
        </p:nvSpPr>
        <p:spPr>
          <a:xfrm>
            <a:off x="5230368" y="3310128"/>
            <a:ext cx="1874520" cy="320040"/>
          </a:xfrm>
          <a:prstGeom prst="rect">
            <a:avLst/>
          </a:prstGeom>
          <a:noFill/>
          <a:ln/>
        </p:spPr>
        <p:txBody>
          <a:bodyPr wrap="square" lIns="0" tIns="0" rIns="0" bIns="0" rtlCol="0" anchor="t"/>
          <a:lstStyle/>
          <a:p>
            <a:pPr indent="0" marL="0">
              <a:buNone/>
            </a:pPr>
            <a:r>
              <a:rPr lang="en-US" sz="900" dirty="0">
                <a:solidFill>
                  <a:srgbClr val="A6A6A6"/>
                </a:solidFill>
                <a:latin typeface="Segoe UI" pitchFamily="34" charset="0"/>
                <a:ea typeface="Segoe UI" pitchFamily="34" charset="-122"/>
                <a:cs typeface="Segoe UI" pitchFamily="34" charset="-120"/>
              </a:rPr>
              <a:t>left / stayed</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6629400" cy="914400"/>
        </p:xfrm>
        <a:graphic>
          <a:graphicData uri="http://schemas.openxmlformats.org/drawingml/2006/table">
            <a:tbl>
              <a:tblPr/>
              <a:tblGrid>
                <a:gridCol w="3337560"/>
                <a:gridCol w="1645920"/>
                <a:gridCol w="1645920"/>
              </a:tblGrid>
              <a:tr h="301752">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customer_segment</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Left</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050" b="1" dirty="0">
                          <a:solidFill>
                            <a:srgbClr val="FFFFFF"/>
                          </a:solidFill>
                          <a:latin typeface="Segoe UI" pitchFamily="34" charset="0"/>
                          <a:ea typeface="Segoe UI" pitchFamily="34" charset="-122"/>
                          <a:cs typeface="Segoe UI" pitchFamily="34" charset="-120"/>
                        </a:rPr>
                        <a:t>Stayed</a:t>
                      </a:r>
                      <a:endParaRPr lang="en-US" sz="10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301752">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Heavy viewer who left</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185</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r h="301752">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Light viewer who stayed</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180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r h="301752">
                <a:tc>
                  <a:txBody>
                    <a:bodyPr/>
                    <a:lstStyle/>
                    <a:p>
                      <a:pPr algn="l" indent="0" marL="0">
                        <a:buNone/>
                      </a:pPr>
                      <a:r>
                        <a:rPr lang="en-US" sz="1100" b="1" dirty="0">
                          <a:solidFill>
                            <a:srgbClr val="F5F5F1"/>
                          </a:solidFill>
                          <a:latin typeface="Segoe UI" pitchFamily="34" charset="0"/>
                          <a:ea typeface="Segoe UI" pitchFamily="34" charset="-122"/>
                          <a:cs typeface="Segoe UI" pitchFamily="34" charset="-120"/>
                        </a:rPr>
                        <a:t>Typical</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2,330</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00" dirty="0">
                          <a:solidFill>
                            <a:srgbClr val="F5F5F1"/>
                          </a:solidFill>
                          <a:latin typeface="Segoe UI" pitchFamily="34" charset="0"/>
                          <a:ea typeface="Segoe UI" pitchFamily="34" charset="-122"/>
                          <a:cs typeface="Segoe UI" pitchFamily="34" charset="-120"/>
                        </a:rPr>
                        <a:t>2,305</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bl>
          </a:graphicData>
        </a:graphic>
      </p:graphicFrame>
      <p:sp>
        <p:nvSpPr>
          <p:cNvPr id="29" name="Shape 22"/>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30" name="Shape 23"/>
          <p:cNvSpPr/>
          <p:nvPr/>
        </p:nvSpPr>
        <p:spPr>
          <a:xfrm>
            <a:off x="7589520" y="1938528"/>
            <a:ext cx="91440" cy="91440"/>
          </a:xfrm>
          <a:prstGeom prst="ellipse">
            <a:avLst/>
          </a:prstGeom>
          <a:solidFill>
            <a:srgbClr val="FF5F57"/>
          </a:solidFill>
          <a:ln w="12700">
            <a:solidFill>
              <a:srgbClr val="FF5F57"/>
            </a:solidFill>
            <a:prstDash val="solid"/>
          </a:ln>
        </p:spPr>
      </p:sp>
      <p:sp>
        <p:nvSpPr>
          <p:cNvPr id="31" name="Shape 24"/>
          <p:cNvSpPr/>
          <p:nvPr/>
        </p:nvSpPr>
        <p:spPr>
          <a:xfrm>
            <a:off x="7754112" y="1938528"/>
            <a:ext cx="91440" cy="91440"/>
          </a:xfrm>
          <a:prstGeom prst="ellipse">
            <a:avLst/>
          </a:prstGeom>
          <a:solidFill>
            <a:srgbClr val="FEBC2E"/>
          </a:solidFill>
          <a:ln w="12700">
            <a:solidFill>
              <a:srgbClr val="FEBC2E"/>
            </a:solidFill>
            <a:prstDash val="solid"/>
          </a:ln>
        </p:spPr>
      </p:sp>
      <p:sp>
        <p:nvSpPr>
          <p:cNvPr id="32" name="Shape 25"/>
          <p:cNvSpPr/>
          <p:nvPr/>
        </p:nvSpPr>
        <p:spPr>
          <a:xfrm>
            <a:off x="7918704" y="1938528"/>
            <a:ext cx="91440" cy="91440"/>
          </a:xfrm>
          <a:prstGeom prst="ellipse">
            <a:avLst/>
          </a:prstGeom>
          <a:solidFill>
            <a:srgbClr val="28C840"/>
          </a:solidFill>
          <a:ln w="12700">
            <a:solidFill>
              <a:srgbClr val="28C840"/>
            </a:solidFill>
            <a:prstDash val="solid"/>
          </a:ln>
        </p:spPr>
      </p:sp>
      <p:sp>
        <p:nvSpPr>
          <p:cNvPr id="33" name="Text 26"/>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34" name="Text 27"/>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segment_table = pd.crosstab(</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dataset["customer_segment"],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segment_table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Heavy viewer who left     185      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Light viewer who stayed     0    180</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Typical                 2330   2305</a:t>
            </a:r>
            <a:endParaRPr lang="en-US" sz="950" dirty="0"/>
          </a:p>
        </p:txBody>
      </p:sp>
      <p:sp>
        <p:nvSpPr>
          <p:cNvPr id="35" name="Shape 28"/>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36" name="Shape 29"/>
          <p:cNvSpPr/>
          <p:nvPr/>
        </p:nvSpPr>
        <p:spPr>
          <a:xfrm>
            <a:off x="548640" y="5358384"/>
            <a:ext cx="54864" cy="704088"/>
          </a:xfrm>
          <a:prstGeom prst="rect">
            <a:avLst/>
          </a:prstGeom>
          <a:solidFill>
            <a:srgbClr val="E50914"/>
          </a:solidFill>
          <a:ln w="12700">
            <a:solidFill>
              <a:srgbClr val="E50914"/>
            </a:solidFill>
            <a:prstDash val="solid"/>
          </a:ln>
        </p:spPr>
      </p:sp>
      <p:pic>
        <p:nvPicPr>
          <p:cNvPr id="37" name="Image 4" descr="/tmp/claude-0/-home-claude/0afb8f05-6c65-583f-af33-ecd94b11a885/scratchpad/eda/assets/bulb.png">    </p:cNvPr>
          <p:cNvPicPr>
            <a:picLocks noChangeAspect="1"/>
          </p:cNvPicPr>
          <p:nvPr/>
        </p:nvPicPr>
        <p:blipFill>
          <a:blip r:embed="rId6"/>
          <a:stretch>
            <a:fillRect/>
          </a:stretch>
        </p:blipFill>
        <p:spPr>
          <a:xfrm>
            <a:off x="804672" y="5513832"/>
            <a:ext cx="384048" cy="384048"/>
          </a:xfrm>
          <a:prstGeom prst="rect">
            <a:avLst/>
          </a:prstGeom>
        </p:spPr>
      </p:pic>
      <p:sp>
        <p:nvSpPr>
          <p:cNvPr id="38" name="Text 30"/>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9" name="Text 31"/>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Two groups break the main pattern: </a:t>
            </a:r>
            <a:pPr indent="0" marL="0">
              <a:buNone/>
            </a:pPr>
            <a:r>
              <a:rPr lang="en-US" sz="1200" b="1" dirty="0">
                <a:solidFill>
                  <a:srgbClr val="F5F5F1"/>
                </a:solidFill>
                <a:latin typeface="Segoe UI" pitchFamily="34" charset="0"/>
                <a:ea typeface="Segoe UI" pitchFamily="34" charset="-122"/>
                <a:cs typeface="Segoe UI" pitchFamily="34" charset="-120"/>
              </a:rPr>
              <a:t>185 heavy viewers left</a:t>
            </a:r>
            <a:pPr indent="0" marL="0">
              <a:buNone/>
            </a:pPr>
            <a:r>
              <a:rPr lang="en-US" sz="1200" dirty="0">
                <a:solidFill>
                  <a:srgbClr val="F5F5F1"/>
                </a:solidFill>
                <a:latin typeface="Segoe UI" pitchFamily="34" charset="0"/>
                <a:ea typeface="Segoe UI" pitchFamily="34" charset="-122"/>
                <a:cs typeface="Segoe UI" pitchFamily="34" charset="-120"/>
              </a:rPr>
              <a:t> despite high engagement, and </a:t>
            </a:r>
            <a:pPr indent="0" marL="0">
              <a:buNone/>
            </a:pPr>
            <a:r>
              <a:rPr lang="en-US" sz="1200" b="1" dirty="0">
                <a:solidFill>
                  <a:srgbClr val="F5F5F1"/>
                </a:solidFill>
                <a:latin typeface="Segoe UI" pitchFamily="34" charset="0"/>
                <a:ea typeface="Segoe UI" pitchFamily="34" charset="-122"/>
                <a:cs typeface="Segoe UI" pitchFamily="34" charset="-120"/>
              </a:rPr>
              <a:t>180 light viewers stayed</a:t>
            </a:r>
            <a:pPr indent="0" marL="0">
              <a:buNone/>
            </a:pPr>
            <a:r>
              <a:rPr lang="en-US" sz="1200" dirty="0">
                <a:solidFill>
                  <a:srgbClr val="F5F5F1"/>
                </a:solidFill>
                <a:latin typeface="Segoe UI" pitchFamily="34" charset="0"/>
                <a:ea typeface="Segoe UI" pitchFamily="34" charset="-122"/>
                <a:cs typeface="Segoe UI" pitchFamily="34" charset="-120"/>
              </a:rPr>
              <a:t> despite low engagement. These segments correspond exactly to the high-viewing churners and low-viewing stayers, so engagement alone cannot explain every outcome; </a:t>
            </a:r>
            <a:pPr indent="0" marL="0">
              <a:buNone/>
            </a:pPr>
            <a:r>
              <a:rPr lang="en-US" sz="1200" b="1" dirty="0">
                <a:solidFill>
                  <a:srgbClr val="FF4D57"/>
                </a:solidFill>
                <a:latin typeface="Segoe UI" pitchFamily="34" charset="0"/>
                <a:ea typeface="Segoe UI" pitchFamily="34" charset="-122"/>
                <a:cs typeface="Segoe UI" pitchFamily="34" charset="-120"/>
              </a:rPr>
              <a:t>their other characteristics are a natural next step to explore</a:t>
            </a:r>
            <a:pPr indent="0" marL="0">
              <a:buNone/>
            </a:pPr>
            <a:r>
              <a:rPr lang="en-US" sz="1200" dirty="0">
                <a:solidFill>
                  <a:srgbClr val="F5F5F1"/>
                </a:solidFill>
                <a:latin typeface="Segoe UI" pitchFamily="34" charset="0"/>
                <a:ea typeface="Segoe UI" pitchFamily="34" charset="-122"/>
                <a:cs typeface="Segoe UI" pitchFamily="34" charset="-120"/>
              </a:rPr>
              <a: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14  ·  REVENUE LOSS</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Which plan accounts for the greatest revenue lost to churn, and is it the same plan with the highest churn rate?</a:t>
            </a:r>
            <a:endParaRPr lang="en-US" sz="2200" dirty="0"/>
          </a:p>
        </p:txBody>
      </p:sp>
      <p:sp>
        <p:nvSpPr>
          <p:cNvPr id="6" name="Shape 3"/>
          <p:cNvSpPr/>
          <p:nvPr/>
        </p:nvSpPr>
        <p:spPr>
          <a:xfrm>
            <a:off x="548640" y="6355080"/>
            <a:ext cx="11091672" cy="0"/>
          </a:xfrm>
          <a:prstGeom prst="line">
            <a:avLst/>
          </a:prstGeom>
          <a:noFill/>
          <a:ln w="9525">
            <a:solidFill>
              <a:srgbClr val="2A2A2A"/>
            </a:solidFill>
            <a:prstDash val="solid"/>
          </a:ln>
        </p:spPr>
      </p:sp>
      <p:sp>
        <p:nvSpPr>
          <p:cNvPr id="7" name="Text 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8" name="Text 5"/>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23 / 27</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629400" cy="914400"/>
        </p:xfrm>
        <a:graphic>
          <a:graphicData uri="http://schemas.openxmlformats.org/drawingml/2006/table">
            <a:tbl>
              <a:tblPr/>
              <a:tblGrid>
                <a:gridCol w="1280160"/>
                <a:gridCol w="960120"/>
                <a:gridCol w="960120"/>
                <a:gridCol w="960120"/>
                <a:gridCol w="1143000"/>
                <a:gridCol w="1325880"/>
              </a:tblGrid>
              <a:tr h="384048">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Plan</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Left</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Stayed</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Total</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Churn rate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Revenue lost</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384048">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Basic</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1,026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634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1,660</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61.81%</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$9,223.74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384048">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Standard</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746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897</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1,643</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45.40%</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$10,436.54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384048">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Premium</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743</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954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1,697</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43.78%</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$13,366.57</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bl>
          </a:graphicData>
        </a:graphic>
      </p:graphicFrame>
      <p:sp>
        <p:nvSpPr>
          <p:cNvPr id="10" name="Shape 6"/>
          <p:cNvSpPr/>
          <p:nvPr/>
        </p:nvSpPr>
        <p:spPr>
          <a:xfrm>
            <a:off x="548640" y="3794760"/>
            <a:ext cx="3264408" cy="1280160"/>
          </a:xfrm>
          <a:prstGeom prst="roundRect">
            <a:avLst>
              <a:gd name="adj" fmla="val 5714"/>
            </a:avLst>
          </a:prstGeom>
          <a:solidFill>
            <a:srgbClr val="1E0B0D"/>
          </a:solidFill>
          <a:ln w="12700">
            <a:solidFill>
              <a:srgbClr val="E50914"/>
            </a:solidFill>
            <a:prstDash val="solid"/>
          </a:ln>
        </p:spPr>
      </p:sp>
      <p:sp>
        <p:nvSpPr>
          <p:cNvPr id="11" name="Shape 7"/>
          <p:cNvSpPr/>
          <p:nvPr/>
        </p:nvSpPr>
        <p:spPr>
          <a:xfrm>
            <a:off x="749808" y="3794760"/>
            <a:ext cx="548640" cy="36576"/>
          </a:xfrm>
          <a:prstGeom prst="rect">
            <a:avLst/>
          </a:prstGeom>
          <a:solidFill>
            <a:srgbClr val="E50914"/>
          </a:solidFill>
          <a:ln w="12700">
            <a:solidFill>
              <a:srgbClr val="E50914"/>
            </a:solidFill>
            <a:prstDash val="solid"/>
          </a:ln>
        </p:spPr>
      </p:sp>
      <p:pic>
        <p:nvPicPr>
          <p:cNvPr id="12" name="Image 1" descr="/tmp/claude-0/-home-claude/0afb8f05-6c65-583f-af33-ecd94b11a885/scratchpad/eda/assets/plan_Premium.png">    </p:cNvPr>
          <p:cNvPicPr>
            <a:picLocks noChangeAspect="1"/>
          </p:cNvPicPr>
          <p:nvPr/>
        </p:nvPicPr>
        <p:blipFill>
          <a:blip r:embed="rId3"/>
          <a:stretch>
            <a:fillRect/>
          </a:stretch>
        </p:blipFill>
        <p:spPr>
          <a:xfrm>
            <a:off x="749808" y="3959352"/>
            <a:ext cx="457200" cy="457200"/>
          </a:xfrm>
          <a:prstGeom prst="rect">
            <a:avLst/>
          </a:prstGeom>
        </p:spPr>
      </p:pic>
      <p:sp>
        <p:nvSpPr>
          <p:cNvPr id="13" name="Text 8"/>
          <p:cNvSpPr txBox="1"/>
          <p:nvPr/>
        </p:nvSpPr>
        <p:spPr>
          <a:xfrm>
            <a:off x="1325880" y="3913632"/>
            <a:ext cx="2377440" cy="502920"/>
          </a:xfrm>
          <a:prstGeom prst="rect">
            <a:avLst/>
          </a:prstGeom>
          <a:noFill/>
          <a:ln/>
        </p:spPr>
        <p:txBody>
          <a:bodyPr wrap="square" lIns="0" tIns="0" rIns="0" bIns="0" rtlCol="0" anchor="ctr"/>
          <a:lstStyle/>
          <a:p>
            <a:pPr indent="0" marL="0">
              <a:buNone/>
            </a:pPr>
            <a:r>
              <a:rPr lang="en-US" sz="2200" b="1" dirty="0">
                <a:solidFill>
                  <a:srgbClr val="FF4D57"/>
                </a:solidFill>
                <a:latin typeface="Segoe UI" pitchFamily="34" charset="0"/>
                <a:ea typeface="Segoe UI" pitchFamily="34" charset="-122"/>
                <a:cs typeface="Segoe UI" pitchFamily="34" charset="-120"/>
              </a:rPr>
              <a:t>$13,366.57</a:t>
            </a:r>
            <a:endParaRPr lang="en-US" sz="2200" dirty="0"/>
          </a:p>
        </p:txBody>
      </p:sp>
      <p:sp>
        <p:nvSpPr>
          <p:cNvPr id="14" name="Text 9"/>
          <p:cNvSpPr txBox="1"/>
          <p:nvPr/>
        </p:nvSpPr>
        <p:spPr>
          <a:xfrm>
            <a:off x="749808" y="4480560"/>
            <a:ext cx="2926080" cy="256032"/>
          </a:xfrm>
          <a:prstGeom prst="rect">
            <a:avLst/>
          </a:prstGeom>
          <a:noFill/>
          <a:ln/>
        </p:spPr>
        <p:txBody>
          <a:bodyPr wrap="square" lIns="0" tIns="0" rIns="0" bIns="0" rtlCol="0" anchor="ctr"/>
          <a:lstStyle/>
          <a:p>
            <a:pPr indent="0" marL="0">
              <a:buNone/>
            </a:pPr>
            <a:r>
              <a:rPr lang="en-US" sz="1150" b="1" dirty="0">
                <a:solidFill>
                  <a:srgbClr val="F5F5F1"/>
                </a:solidFill>
                <a:latin typeface="Segoe UI" pitchFamily="34" charset="0"/>
                <a:ea typeface="Segoe UI" pitchFamily="34" charset="-122"/>
                <a:cs typeface="Segoe UI" pitchFamily="34" charset="-120"/>
              </a:rPr>
              <a:t>Highest revenue lost: Premium</a:t>
            </a:r>
            <a:endParaRPr lang="en-US" sz="1150" dirty="0"/>
          </a:p>
        </p:txBody>
      </p:sp>
      <p:sp>
        <p:nvSpPr>
          <p:cNvPr id="15" name="Text 10"/>
          <p:cNvSpPr txBox="1"/>
          <p:nvPr/>
        </p:nvSpPr>
        <p:spPr>
          <a:xfrm>
            <a:off x="749808" y="4727448"/>
            <a:ext cx="2926080" cy="256032"/>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at the lowest churn rate (43.78%)</a:t>
            </a:r>
            <a:endParaRPr lang="en-US" sz="1000" dirty="0"/>
          </a:p>
        </p:txBody>
      </p:sp>
      <p:sp>
        <p:nvSpPr>
          <p:cNvPr id="16" name="Shape 11"/>
          <p:cNvSpPr/>
          <p:nvPr/>
        </p:nvSpPr>
        <p:spPr>
          <a:xfrm>
            <a:off x="3913632" y="3794760"/>
            <a:ext cx="3264408" cy="1280160"/>
          </a:xfrm>
          <a:prstGeom prst="roundRect">
            <a:avLst>
              <a:gd name="adj" fmla="val 5714"/>
            </a:avLst>
          </a:prstGeom>
          <a:solidFill>
            <a:srgbClr val="1E0B0D"/>
          </a:solidFill>
          <a:ln w="12700">
            <a:solidFill>
              <a:srgbClr val="E50914"/>
            </a:solidFill>
            <a:prstDash val="solid"/>
          </a:ln>
        </p:spPr>
      </p:sp>
      <p:sp>
        <p:nvSpPr>
          <p:cNvPr id="17" name="Shape 12"/>
          <p:cNvSpPr/>
          <p:nvPr/>
        </p:nvSpPr>
        <p:spPr>
          <a:xfrm>
            <a:off x="4114800" y="3794760"/>
            <a:ext cx="548640" cy="36576"/>
          </a:xfrm>
          <a:prstGeom prst="rect">
            <a:avLst/>
          </a:prstGeom>
          <a:solidFill>
            <a:srgbClr val="E50914"/>
          </a:solidFill>
          <a:ln w="12700">
            <a:solidFill>
              <a:srgbClr val="E50914"/>
            </a:solidFill>
            <a:prstDash val="solid"/>
          </a:ln>
        </p:spPr>
      </p:sp>
      <p:pic>
        <p:nvPicPr>
          <p:cNvPr id="18" name="Image 2" descr="/tmp/claude-0/-home-claude/0afb8f05-6c65-583f-af33-ecd94b11a885/scratchpad/eda/assets/plan_Basic.png">    </p:cNvPr>
          <p:cNvPicPr>
            <a:picLocks noChangeAspect="1"/>
          </p:cNvPicPr>
          <p:nvPr/>
        </p:nvPicPr>
        <p:blipFill>
          <a:blip r:embed="rId4"/>
          <a:stretch>
            <a:fillRect/>
          </a:stretch>
        </p:blipFill>
        <p:spPr>
          <a:xfrm>
            <a:off x="4114800" y="3959352"/>
            <a:ext cx="457200" cy="457200"/>
          </a:xfrm>
          <a:prstGeom prst="rect">
            <a:avLst/>
          </a:prstGeom>
        </p:spPr>
      </p:pic>
      <p:sp>
        <p:nvSpPr>
          <p:cNvPr id="19" name="Text 13"/>
          <p:cNvSpPr txBox="1"/>
          <p:nvPr/>
        </p:nvSpPr>
        <p:spPr>
          <a:xfrm>
            <a:off x="4690872" y="3913632"/>
            <a:ext cx="2377440" cy="502920"/>
          </a:xfrm>
          <a:prstGeom prst="rect">
            <a:avLst/>
          </a:prstGeom>
          <a:noFill/>
          <a:ln/>
        </p:spPr>
        <p:txBody>
          <a:bodyPr wrap="square" lIns="0" tIns="0" rIns="0" bIns="0" rtlCol="0" anchor="ctr"/>
          <a:lstStyle/>
          <a:p>
            <a:pPr indent="0" marL="0">
              <a:buNone/>
            </a:pPr>
            <a:r>
              <a:rPr lang="en-US" sz="2200" b="1" dirty="0">
                <a:solidFill>
                  <a:srgbClr val="FF4D57"/>
                </a:solidFill>
                <a:latin typeface="Segoe UI" pitchFamily="34" charset="0"/>
                <a:ea typeface="Segoe UI" pitchFamily="34" charset="-122"/>
                <a:cs typeface="Segoe UI" pitchFamily="34" charset="-120"/>
              </a:rPr>
              <a:t>61.81%</a:t>
            </a:r>
            <a:endParaRPr lang="en-US" sz="2200" dirty="0"/>
          </a:p>
        </p:txBody>
      </p:sp>
      <p:sp>
        <p:nvSpPr>
          <p:cNvPr id="20" name="Text 14"/>
          <p:cNvSpPr txBox="1"/>
          <p:nvPr/>
        </p:nvSpPr>
        <p:spPr>
          <a:xfrm>
            <a:off x="4114800" y="4480560"/>
            <a:ext cx="2926080" cy="256032"/>
          </a:xfrm>
          <a:prstGeom prst="rect">
            <a:avLst/>
          </a:prstGeom>
          <a:noFill/>
          <a:ln/>
        </p:spPr>
        <p:txBody>
          <a:bodyPr wrap="square" lIns="0" tIns="0" rIns="0" bIns="0" rtlCol="0" anchor="ctr"/>
          <a:lstStyle/>
          <a:p>
            <a:pPr indent="0" marL="0">
              <a:buNone/>
            </a:pPr>
            <a:r>
              <a:rPr lang="en-US" sz="1150" b="1" dirty="0">
                <a:solidFill>
                  <a:srgbClr val="F5F5F1"/>
                </a:solidFill>
                <a:latin typeface="Segoe UI" pitchFamily="34" charset="0"/>
                <a:ea typeface="Segoe UI" pitchFamily="34" charset="-122"/>
                <a:cs typeface="Segoe UI" pitchFamily="34" charset="-120"/>
              </a:rPr>
              <a:t>Highest churn rate: Basic</a:t>
            </a:r>
            <a:endParaRPr lang="en-US" sz="1150" dirty="0"/>
          </a:p>
        </p:txBody>
      </p:sp>
      <p:sp>
        <p:nvSpPr>
          <p:cNvPr id="21" name="Text 15"/>
          <p:cNvSpPr txBox="1"/>
          <p:nvPr/>
        </p:nvSpPr>
        <p:spPr>
          <a:xfrm>
            <a:off x="4114800" y="4727448"/>
            <a:ext cx="2926080" cy="256032"/>
          </a:xfrm>
          <a:prstGeom prst="rect">
            <a:avLst/>
          </a:prstGeom>
          <a:noFill/>
          <a:ln/>
        </p:spPr>
        <p:txBody>
          <a:bodyPr wrap="square" lIns="0" tIns="0" rIns="0" bIns="0" rtlCol="0" anchor="ctr"/>
          <a:lstStyle/>
          <a:p>
            <a:pPr indent="0" marL="0">
              <a:buNone/>
            </a:pPr>
            <a:r>
              <a:rPr lang="en-US" sz="1000" dirty="0">
                <a:solidFill>
                  <a:srgbClr val="A6A6A6"/>
                </a:solidFill>
                <a:latin typeface="Segoe UI" pitchFamily="34" charset="0"/>
                <a:ea typeface="Segoe UI" pitchFamily="34" charset="-122"/>
                <a:cs typeface="Segoe UI" pitchFamily="34" charset="-120"/>
              </a:rPr>
              <a:t>but the lowest revenue lost ($9,223.74)</a:t>
            </a:r>
            <a:endParaRPr lang="en-US" sz="1000" dirty="0"/>
          </a:p>
        </p:txBody>
      </p:sp>
      <p:sp>
        <p:nvSpPr>
          <p:cNvPr id="22" name="Shape 16"/>
          <p:cNvSpPr/>
          <p:nvPr/>
        </p:nvSpPr>
        <p:spPr>
          <a:xfrm>
            <a:off x="7406640" y="1691640"/>
            <a:ext cx="4233672" cy="3383280"/>
          </a:xfrm>
          <a:prstGeom prst="roundRect">
            <a:avLst>
              <a:gd name="adj" fmla="val 1622"/>
            </a:avLst>
          </a:prstGeom>
          <a:solidFill>
            <a:srgbClr val="0E0E0E"/>
          </a:solidFill>
          <a:ln w="9525">
            <a:solidFill>
              <a:srgbClr val="2A2A2A"/>
            </a:solidFill>
            <a:prstDash val="solid"/>
          </a:ln>
        </p:spPr>
      </p:sp>
      <p:sp>
        <p:nvSpPr>
          <p:cNvPr id="23" name="Shape 17"/>
          <p:cNvSpPr/>
          <p:nvPr/>
        </p:nvSpPr>
        <p:spPr>
          <a:xfrm>
            <a:off x="7589520" y="1847088"/>
            <a:ext cx="91440" cy="91440"/>
          </a:xfrm>
          <a:prstGeom prst="ellipse">
            <a:avLst/>
          </a:prstGeom>
          <a:solidFill>
            <a:srgbClr val="FF5F57"/>
          </a:solidFill>
          <a:ln w="12700">
            <a:solidFill>
              <a:srgbClr val="FF5F57"/>
            </a:solidFill>
            <a:prstDash val="solid"/>
          </a:ln>
        </p:spPr>
      </p:sp>
      <p:sp>
        <p:nvSpPr>
          <p:cNvPr id="24" name="Shape 18"/>
          <p:cNvSpPr/>
          <p:nvPr/>
        </p:nvSpPr>
        <p:spPr>
          <a:xfrm>
            <a:off x="7754112" y="1847088"/>
            <a:ext cx="91440" cy="91440"/>
          </a:xfrm>
          <a:prstGeom prst="ellipse">
            <a:avLst/>
          </a:prstGeom>
          <a:solidFill>
            <a:srgbClr val="FEBC2E"/>
          </a:solidFill>
          <a:ln w="12700">
            <a:solidFill>
              <a:srgbClr val="FEBC2E"/>
            </a:solidFill>
            <a:prstDash val="solid"/>
          </a:ln>
        </p:spPr>
      </p:sp>
      <p:sp>
        <p:nvSpPr>
          <p:cNvPr id="25" name="Shape 19"/>
          <p:cNvSpPr/>
          <p:nvPr/>
        </p:nvSpPr>
        <p:spPr>
          <a:xfrm>
            <a:off x="7918704" y="1847088"/>
            <a:ext cx="91440" cy="91440"/>
          </a:xfrm>
          <a:prstGeom prst="ellipse">
            <a:avLst/>
          </a:prstGeom>
          <a:solidFill>
            <a:srgbClr val="28C840"/>
          </a:solidFill>
          <a:ln w="12700">
            <a:solidFill>
              <a:srgbClr val="28C840"/>
            </a:solidFill>
            <a:prstDash val="solid"/>
          </a:ln>
        </p:spPr>
      </p:sp>
      <p:sp>
        <p:nvSpPr>
          <p:cNvPr id="26" name="Text 20"/>
          <p:cNvSpPr txBox="1"/>
          <p:nvPr/>
        </p:nvSpPr>
        <p:spPr>
          <a:xfrm>
            <a:off x="8138160" y="178308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7" name="Text 21"/>
          <p:cNvSpPr txBox="1"/>
          <p:nvPr/>
        </p:nvSpPr>
        <p:spPr>
          <a:xfrm>
            <a:off x="7589520" y="2103120"/>
            <a:ext cx="3959352" cy="2880360"/>
          </a:xfrm>
          <a:prstGeom prst="rect">
            <a:avLst/>
          </a:prstGeom>
          <a:noFill/>
          <a:ln/>
        </p:spPr>
        <p:txBody>
          <a:bodyPr wrap="square" lIns="0" tIns="0" rIns="0" bIns="0" rtlCol="0" anchor="t"/>
          <a:lstStyle/>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BASIC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Basic_left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(dataset["subscription_type"] == "Basic")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]["monthly_fee"]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basic_revenue_lost = Basic_left.sum()</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repeated for Standard and Premium</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Sub_table = pd.crosstab(</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dataset["subscription_type"],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Sub_table["Total"] = (Sub_table["Left"]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Sub_table["Stayed"])</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Sub_table["Churn_Rate"] = (Sub_table["Left"]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 Sub_table["Total"] * 100).round(2)</a:t>
            </a:r>
            <a:endParaRPr lang="en-US" sz="950" dirty="0"/>
          </a:p>
        </p:txBody>
      </p:sp>
      <p:sp>
        <p:nvSpPr>
          <p:cNvPr id="28" name="Shape 22"/>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29" name="Shape 23"/>
          <p:cNvSpPr/>
          <p:nvPr/>
        </p:nvSpPr>
        <p:spPr>
          <a:xfrm>
            <a:off x="548640" y="5358384"/>
            <a:ext cx="54864" cy="704088"/>
          </a:xfrm>
          <a:prstGeom prst="rect">
            <a:avLst/>
          </a:prstGeom>
          <a:solidFill>
            <a:srgbClr val="E50914"/>
          </a:solidFill>
          <a:ln w="12700">
            <a:solidFill>
              <a:srgbClr val="E50914"/>
            </a:solidFill>
            <a:prstDash val="solid"/>
          </a:ln>
        </p:spPr>
      </p:sp>
      <p:pic>
        <p:nvPicPr>
          <p:cNvPr id="30" name="Image 3" descr="/tmp/claude-0/-home-claude/0afb8f05-6c65-583f-af33-ecd94b11a885/scratchpad/eda/assets/bulb.png">    </p:cNvPr>
          <p:cNvPicPr>
            <a:picLocks noChangeAspect="1"/>
          </p:cNvPicPr>
          <p:nvPr/>
        </p:nvPicPr>
        <p:blipFill>
          <a:blip r:embed="rId5"/>
          <a:stretch>
            <a:fillRect/>
          </a:stretch>
        </p:blipFill>
        <p:spPr>
          <a:xfrm>
            <a:off x="804672" y="5513832"/>
            <a:ext cx="384048" cy="384048"/>
          </a:xfrm>
          <a:prstGeom prst="rect">
            <a:avLst/>
          </a:prstGeom>
        </p:spPr>
      </p:pic>
      <p:sp>
        <p:nvSpPr>
          <p:cNvPr id="31" name="Text 24"/>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32" name="Text 25"/>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No, the two are different plans. </a:t>
            </a:r>
            <a:pPr indent="0" marL="0">
              <a:buNone/>
            </a:pPr>
            <a:r>
              <a:rPr lang="en-US" sz="1200" b="1" dirty="0">
                <a:solidFill>
                  <a:srgbClr val="F5F5F1"/>
                </a:solidFill>
                <a:latin typeface="Segoe UI" pitchFamily="34" charset="0"/>
                <a:ea typeface="Segoe UI" pitchFamily="34" charset="-122"/>
                <a:cs typeface="Segoe UI" pitchFamily="34" charset="-120"/>
              </a:rPr>
              <a:t>Premium loses the most revenue ($13,366.57 a month)</a:t>
            </a:r>
            <a:pPr indent="0" marL="0">
              <a:buNone/>
            </a:pPr>
            <a:r>
              <a:rPr lang="en-US" sz="1200" dirty="0">
                <a:solidFill>
                  <a:srgbClr val="F5F5F1"/>
                </a:solidFill>
                <a:latin typeface="Segoe UI" pitchFamily="34" charset="0"/>
                <a:ea typeface="Segoe UI" pitchFamily="34" charset="-122"/>
                <a:cs typeface="Segoe UI" pitchFamily="34" charset="-120"/>
              </a:rPr>
              <a:t> despite having the </a:t>
            </a:r>
            <a:pPr indent="0" marL="0">
              <a:buNone/>
            </a:pPr>
            <a:r>
              <a:rPr lang="en-US" sz="1200" b="1" dirty="0">
                <a:solidFill>
                  <a:srgbClr val="F5F5F1"/>
                </a:solidFill>
                <a:latin typeface="Segoe UI" pitchFamily="34" charset="0"/>
                <a:ea typeface="Segoe UI" pitchFamily="34" charset="-122"/>
                <a:cs typeface="Segoe UI" pitchFamily="34" charset="-120"/>
              </a:rPr>
              <a:t>lowest churn rate (43.78%)</a:t>
            </a:r>
            <a:pPr indent="0" marL="0">
              <a:buNone/>
            </a:pPr>
            <a:r>
              <a:rPr lang="en-US" sz="1200" dirty="0">
                <a:solidFill>
                  <a:srgbClr val="F5F5F1"/>
                </a:solidFill>
                <a:latin typeface="Segoe UI" pitchFamily="34" charset="0"/>
                <a:ea typeface="Segoe UI" pitchFamily="34" charset="-122"/>
                <a:cs typeface="Segoe UI" pitchFamily="34" charset="-120"/>
              </a:rPr>
              <a:t>, because each Premium cancellation costs the most. </a:t>
            </a:r>
            <a:pPr indent="0" marL="0">
              <a:buNone/>
            </a:pPr>
            <a:r>
              <a:rPr lang="en-US" sz="1200" b="1" dirty="0">
                <a:solidFill>
                  <a:srgbClr val="F5F5F1"/>
                </a:solidFill>
                <a:latin typeface="Segoe UI" pitchFamily="34" charset="0"/>
                <a:ea typeface="Segoe UI" pitchFamily="34" charset="-122"/>
                <a:cs typeface="Segoe UI" pitchFamily="34" charset="-120"/>
              </a:rPr>
              <a:t>Basic has the highest churn rate (61.81%)</a:t>
            </a:r>
            <a:pPr indent="0" marL="0">
              <a:buNone/>
            </a:pPr>
            <a:r>
              <a:rPr lang="en-US" sz="1200" dirty="0">
                <a:solidFill>
                  <a:srgbClr val="F5F5F1"/>
                </a:solidFill>
                <a:latin typeface="Segoe UI" pitchFamily="34" charset="0"/>
                <a:ea typeface="Segoe UI" pitchFamily="34" charset="-122"/>
                <a:cs typeface="Segoe UI" pitchFamily="34" charset="-120"/>
              </a:rPr>
              <a:t> but the lowest revenue loss ($9,223.74). </a:t>
            </a:r>
            <a:pPr indent="0" marL="0">
              <a:buNone/>
            </a:pPr>
            <a:r>
              <a:rPr lang="en-US" sz="1200" b="1" dirty="0">
                <a:solidFill>
                  <a:srgbClr val="FF4D57"/>
                </a:solidFill>
                <a:latin typeface="Segoe UI" pitchFamily="34" charset="0"/>
                <a:ea typeface="Segoe UI" pitchFamily="34" charset="-122"/>
                <a:cs typeface="Segoe UI" pitchFamily="34" charset="-120"/>
              </a:rPr>
              <a:t>Retention should weigh revenue as well as churn rate.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QUESTION 15  ·  RETENTION PRIORITY</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Which single customer group should be prioritised for retention?</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Vulnerable groups ranked by size, churn rate, revenue still retained and revenue already lost.</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24 / 27</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29400" cy="914400"/>
        </p:xfrm>
        <a:graphic>
          <a:graphicData uri="http://schemas.openxmlformats.org/drawingml/2006/table">
            <a:tbl>
              <a:tblPr/>
              <a:tblGrid>
                <a:gridCol w="1874520"/>
                <a:gridCol w="960120"/>
                <a:gridCol w="1143000"/>
                <a:gridCol w="1325880"/>
                <a:gridCol w="1325880"/>
              </a:tblGrid>
              <a:tr h="402336">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Customer group</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Group size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Churn rate</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Revenue retained</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Revenue lost</a:t>
                      </a:r>
                      <a:endParaRPr lang="en-US" sz="110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402336">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Low viewing</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1,248</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85.58%</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$2,804.20</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b="1" dirty="0">
                          <a:solidFill>
                            <a:srgbClr val="F5F5F1"/>
                          </a:solidFill>
                          <a:latin typeface="Segoe UI" pitchFamily="34" charset="0"/>
                          <a:ea typeface="Segoe UI" pitchFamily="34" charset="-122"/>
                          <a:cs typeface="Segoe UI" pitchFamily="34" charset="-120"/>
                        </a:rPr>
                        <a:t>$14,229.32</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02336">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Inactive &gt;30 days</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2,353</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75.39%</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$8,591.21</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c>
                  <a:txBody>
                    <a:bodyPr/>
                    <a:lstStyle/>
                    <a:p>
                      <a:pPr algn="r" indent="0" marL="0">
                        <a:buNone/>
                      </a:pPr>
                      <a:r>
                        <a:rPr lang="en-US" sz="1150" b="1" dirty="0">
                          <a:solidFill>
                            <a:srgbClr val="FF4D57"/>
                          </a:solidFill>
                          <a:latin typeface="Segoe UI" pitchFamily="34" charset="0"/>
                          <a:ea typeface="Segoe UI" pitchFamily="34" charset="-122"/>
                          <a:cs typeface="Segoe UI" pitchFamily="34" charset="-120"/>
                        </a:rPr>
                        <a:t>$23,515.26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E0B0D"/>
                    </a:solidFill>
                  </a:tcPr>
                </a:tc>
              </a:tr>
              <a:tr h="402336">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Manual payment</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1,905</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58.58%</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$11,181.11</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algn="r" indent="0" marL="0">
                        <a:buNone/>
                      </a:pPr>
                      <a:r>
                        <a:rPr lang="en-US" sz="1150" b="1" dirty="0">
                          <a:solidFill>
                            <a:srgbClr val="F5F5F1"/>
                          </a:solidFill>
                          <a:latin typeface="Segoe UI" pitchFamily="34" charset="0"/>
                          <a:ea typeface="Segoe UI" pitchFamily="34" charset="-122"/>
                          <a:cs typeface="Segoe UI" pitchFamily="34" charset="-120"/>
                        </a:rPr>
                        <a:t>$15,223.84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02336">
                <a:tc>
                  <a:txBody>
                    <a:bodyPr/>
                    <a:lstStyle/>
                    <a:p>
                      <a:pPr algn="l" indent="0" marL="0">
                        <a:buNone/>
                      </a:pPr>
                      <a:r>
                        <a:rPr lang="en-US" sz="1150" b="1" dirty="0">
                          <a:solidFill>
                            <a:srgbClr val="F5F5F1"/>
                          </a:solidFill>
                          <a:latin typeface="Segoe UI" pitchFamily="34" charset="0"/>
                          <a:ea typeface="Segoe UI" pitchFamily="34" charset="-122"/>
                          <a:cs typeface="Segoe UI" pitchFamily="34" charset="-120"/>
                        </a:rPr>
                        <a:t>Basic subscribers</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1,660</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61.81%</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dirty="0">
                          <a:solidFill>
                            <a:srgbClr val="F5F5F1"/>
                          </a:solidFill>
                          <a:latin typeface="Segoe UI" pitchFamily="34" charset="0"/>
                          <a:ea typeface="Segoe UI" pitchFamily="34" charset="-122"/>
                          <a:cs typeface="Segoe UI" pitchFamily="34" charset="-120"/>
                        </a:rPr>
                        <a:t>$5,699.66</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algn="r" indent="0" marL="0">
                        <a:buNone/>
                      </a:pPr>
                      <a:r>
                        <a:rPr lang="en-US" sz="1150" b="1" dirty="0">
                          <a:solidFill>
                            <a:srgbClr val="F5F5F1"/>
                          </a:solidFill>
                          <a:latin typeface="Segoe UI" pitchFamily="34" charset="0"/>
                          <a:ea typeface="Segoe UI" pitchFamily="34" charset="-122"/>
                          <a:cs typeface="Segoe UI" pitchFamily="34" charset="-120"/>
                        </a:rPr>
                        <a:t>$9,223.74</a:t>
                      </a:r>
                      <a:endParaRPr lang="en-US" sz="1150" dirty="0">
                        <a:latin typeface="Segoe UI" charset="0"/>
                        <a:ea typeface="Segoe UI" charset="0"/>
                        <a:cs typeface="Segoe UI" charset="0"/>
                      </a:endParaRPr>
                    </a:p>
                  </a:txBody>
                  <a:tcPr marL="109728" marR="109728"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bl>
          </a:graphicData>
        </a:graphic>
      </p:graphicFrame>
      <p:sp>
        <p:nvSpPr>
          <p:cNvPr id="11" name="Shape 7"/>
          <p:cNvSpPr/>
          <p:nvPr/>
        </p:nvSpPr>
        <p:spPr>
          <a:xfrm>
            <a:off x="548640" y="3977640"/>
            <a:ext cx="6629400" cy="1097280"/>
          </a:xfrm>
          <a:prstGeom prst="roundRect">
            <a:avLst>
              <a:gd name="adj" fmla="val 6667"/>
            </a:avLst>
          </a:prstGeom>
          <a:solidFill>
            <a:srgbClr val="1E0B0D"/>
          </a:solidFill>
          <a:ln w="12700">
            <a:solidFill>
              <a:srgbClr val="E50914"/>
            </a:solidFill>
            <a:prstDash val="solid"/>
          </a:ln>
        </p:spPr>
      </p:sp>
      <p:sp>
        <p:nvSpPr>
          <p:cNvPr id="12" name="Shape 8"/>
          <p:cNvSpPr/>
          <p:nvPr/>
        </p:nvSpPr>
        <p:spPr>
          <a:xfrm>
            <a:off x="749808" y="3977640"/>
            <a:ext cx="548640" cy="36576"/>
          </a:xfrm>
          <a:prstGeom prst="rect">
            <a:avLst/>
          </a:prstGeom>
          <a:solidFill>
            <a:srgbClr val="E50914"/>
          </a:solidFill>
          <a:ln w="12700">
            <a:solidFill>
              <a:srgbClr val="E50914"/>
            </a:solidFill>
            <a:prstDash val="solid"/>
          </a:ln>
        </p:spPr>
      </p:sp>
      <p:pic>
        <p:nvPicPr>
          <p:cNvPr id="13" name="Image 1" descr="/tmp/claude-0/-home-claude/0afb8f05-6c65-583f-af33-ecd94b11a885/scratchpad/eda/assets/target.png">    </p:cNvPr>
          <p:cNvPicPr>
            <a:picLocks noChangeAspect="1"/>
          </p:cNvPicPr>
          <p:nvPr/>
        </p:nvPicPr>
        <p:blipFill>
          <a:blip r:embed="rId3"/>
          <a:stretch>
            <a:fillRect/>
          </a:stretch>
        </p:blipFill>
        <p:spPr>
          <a:xfrm>
            <a:off x="777240" y="4206240"/>
            <a:ext cx="548640" cy="548640"/>
          </a:xfrm>
          <a:prstGeom prst="rect">
            <a:avLst/>
          </a:prstGeom>
        </p:spPr>
      </p:pic>
      <p:sp>
        <p:nvSpPr>
          <p:cNvPr id="14" name="Text 9"/>
          <p:cNvSpPr txBox="1"/>
          <p:nvPr/>
        </p:nvSpPr>
        <p:spPr>
          <a:xfrm>
            <a:off x="1508760" y="4114800"/>
            <a:ext cx="5486400" cy="365760"/>
          </a:xfrm>
          <a:prstGeom prst="rect">
            <a:avLst/>
          </a:prstGeom>
          <a:noFill/>
          <a:ln/>
        </p:spPr>
        <p:txBody>
          <a:bodyPr wrap="square" lIns="0" tIns="0" rIns="0" bIns="0" rtlCol="0" anchor="ctr"/>
          <a:lstStyle/>
          <a:p>
            <a:pPr indent="0" marL="0">
              <a:buNone/>
            </a:pPr>
            <a:r>
              <a:rPr lang="en-US" sz="1500" b="1" dirty="0">
                <a:solidFill>
                  <a:srgbClr val="FF4D57"/>
                </a:solidFill>
                <a:latin typeface="Segoe UI" pitchFamily="34" charset="0"/>
                <a:ea typeface="Segoe UI" pitchFamily="34" charset="-122"/>
                <a:cs typeface="Segoe UI" pitchFamily="34" charset="-120"/>
              </a:rPr>
              <a:t>Priority: inactive for more than 30 days</a:t>
            </a:r>
            <a:endParaRPr lang="en-US" sz="1500" dirty="0"/>
          </a:p>
        </p:txBody>
      </p:sp>
      <p:sp>
        <p:nvSpPr>
          <p:cNvPr id="15" name="Text 10"/>
          <p:cNvSpPr txBox="1"/>
          <p:nvPr/>
        </p:nvSpPr>
        <p:spPr>
          <a:xfrm>
            <a:off x="1508760" y="4480560"/>
            <a:ext cx="5486400" cy="502920"/>
          </a:xfrm>
          <a:prstGeom prst="rect">
            <a:avLst/>
          </a:prstGeom>
          <a:noFill/>
          <a:ln/>
        </p:spPr>
        <p:txBody>
          <a:bodyPr wrap="square" lIns="0" tIns="0" rIns="0" bIns="0" rtlCol="0" anchor="t"/>
          <a:lstStyle/>
          <a:p>
            <a:pPr indent="0" marL="0">
              <a:buNone/>
            </a:pPr>
            <a:r>
              <a:rPr lang="en-US" sz="1100" dirty="0">
                <a:solidFill>
                  <a:srgbClr val="F5F5F1"/>
                </a:solidFill>
                <a:latin typeface="Segoe UI" pitchFamily="34" charset="0"/>
                <a:ea typeface="Segoe UI" pitchFamily="34" charset="-122"/>
                <a:cs typeface="Segoe UI" pitchFamily="34" charset="-120"/>
              </a:rPr>
              <a:t>Largest group (2,353 customers), highest revenue lost ($23,515.26) and $8,591.21 still retained each month.</a:t>
            </a:r>
            <a:endParaRPr lang="en-US" sz="1100" dirty="0"/>
          </a:p>
        </p:txBody>
      </p:sp>
      <p:sp>
        <p:nvSpPr>
          <p:cNvPr id="16" name="Shape 11"/>
          <p:cNvSpPr/>
          <p:nvPr/>
        </p:nvSpPr>
        <p:spPr>
          <a:xfrm>
            <a:off x="7406640" y="1783080"/>
            <a:ext cx="4233672" cy="3291840"/>
          </a:xfrm>
          <a:prstGeom prst="roundRect">
            <a:avLst>
              <a:gd name="adj" fmla="val 1667"/>
            </a:avLst>
          </a:prstGeom>
          <a:solidFill>
            <a:srgbClr val="0E0E0E"/>
          </a:solidFill>
          <a:ln w="9525">
            <a:solidFill>
              <a:srgbClr val="2A2A2A"/>
            </a:solidFill>
            <a:prstDash val="solid"/>
          </a:ln>
        </p:spPr>
      </p:sp>
      <p:sp>
        <p:nvSpPr>
          <p:cNvPr id="17" name="Shape 12"/>
          <p:cNvSpPr/>
          <p:nvPr/>
        </p:nvSpPr>
        <p:spPr>
          <a:xfrm>
            <a:off x="7589520" y="1938528"/>
            <a:ext cx="91440" cy="91440"/>
          </a:xfrm>
          <a:prstGeom prst="ellipse">
            <a:avLst/>
          </a:prstGeom>
          <a:solidFill>
            <a:srgbClr val="FF5F57"/>
          </a:solidFill>
          <a:ln w="12700">
            <a:solidFill>
              <a:srgbClr val="FF5F57"/>
            </a:solidFill>
            <a:prstDash val="solid"/>
          </a:ln>
        </p:spPr>
      </p:sp>
      <p:sp>
        <p:nvSpPr>
          <p:cNvPr id="18" name="Shape 13"/>
          <p:cNvSpPr/>
          <p:nvPr/>
        </p:nvSpPr>
        <p:spPr>
          <a:xfrm>
            <a:off x="7754112" y="1938528"/>
            <a:ext cx="91440" cy="91440"/>
          </a:xfrm>
          <a:prstGeom prst="ellipse">
            <a:avLst/>
          </a:prstGeom>
          <a:solidFill>
            <a:srgbClr val="FEBC2E"/>
          </a:solidFill>
          <a:ln w="12700">
            <a:solidFill>
              <a:srgbClr val="FEBC2E"/>
            </a:solidFill>
            <a:prstDash val="solid"/>
          </a:ln>
        </p:spPr>
      </p:sp>
      <p:sp>
        <p:nvSpPr>
          <p:cNvPr id="19" name="Shape 14"/>
          <p:cNvSpPr/>
          <p:nvPr/>
        </p:nvSpPr>
        <p:spPr>
          <a:xfrm>
            <a:off x="7918704" y="1938528"/>
            <a:ext cx="91440" cy="91440"/>
          </a:xfrm>
          <a:prstGeom prst="ellipse">
            <a:avLst/>
          </a:prstGeom>
          <a:solidFill>
            <a:srgbClr val="28C840"/>
          </a:solidFill>
          <a:ln w="12700">
            <a:solidFill>
              <a:srgbClr val="28C840"/>
            </a:solidFill>
            <a:prstDash val="solid"/>
          </a:ln>
        </p:spPr>
      </p:sp>
      <p:sp>
        <p:nvSpPr>
          <p:cNvPr id="20" name="Text 15"/>
          <p:cNvSpPr txBox="1"/>
          <p:nvPr/>
        </p:nvSpPr>
        <p:spPr>
          <a:xfrm>
            <a:off x="8138160" y="1874520"/>
            <a:ext cx="1828800" cy="219456"/>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Python</a:t>
            </a:r>
            <a:endParaRPr lang="en-US" sz="900" dirty="0"/>
          </a:p>
        </p:txBody>
      </p:sp>
      <p:sp>
        <p:nvSpPr>
          <p:cNvPr id="21" name="Text 16"/>
          <p:cNvSpPr txBox="1"/>
          <p:nvPr/>
        </p:nvSpPr>
        <p:spPr>
          <a:xfrm>
            <a:off x="7589520" y="2194560"/>
            <a:ext cx="3959352" cy="2788920"/>
          </a:xfrm>
          <a:prstGeom prst="rect">
            <a:avLst/>
          </a:prstGeom>
          <a:noFill/>
          <a:ln/>
        </p:spPr>
        <p:txBody>
          <a:bodyPr wrap="square" lIns="0" tIns="0" rIns="0" bIns="0" rtlCol="0" anchor="t"/>
          <a:lstStyle/>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inactive_left_revenue = dataset.loc[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(dataset["last_login_days"] &gt; 30) &amp;</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(dataset["churn_status"] == "Left"),</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"monthly_fee"].sum()      # 23515.26</a:t>
            </a:r>
            <a:endParaRPr lang="en-US" sz="950" dirty="0"/>
          </a:p>
          <a:p>
            <a:pPr indent="0" marL="0">
              <a:spcAft>
                <a:spcPts val="150"/>
              </a:spcAft>
              <a:buNone/>
            </a:pPr>
            <a:r>
              <a:rPr lang="en-US" sz="950" dirty="0">
                <a:solidFill>
                  <a:srgbClr val="7D7D7D"/>
                </a:solidFill>
                <a:latin typeface="Consolas" pitchFamily="34" charset="0"/>
                <a:ea typeface="Consolas" pitchFamily="34" charset="-122"/>
                <a:cs typeface="Consolas" pitchFamily="34" charset="-120"/>
              </a:rPr>
              <a:t># same for low viewing, manual, Basic</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retention_table = pd.DataFrame({</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"Customer Group":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"Group Size": [1248, 2353, 1905, 1660],</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"Churn Rate (%)": [85.58, 75.39,</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58.58, 61.81],</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"Revenue Retained": [...],</a:t>
            </a:r>
            <a:endParaRPr lang="en-US" sz="950" dirty="0"/>
          </a:p>
          <a:p>
            <a:pPr indent="0" marL="0">
              <a:spcAft>
                <a:spcPts val="150"/>
              </a:spcAft>
              <a:buNone/>
            </a:pPr>
            <a:r>
              <a:rPr lang="en-US" sz="950" dirty="0">
                <a:solidFill>
                  <a:srgbClr val="E8E3DA"/>
                </a:solidFill>
                <a:latin typeface="Consolas" pitchFamily="34" charset="0"/>
                <a:ea typeface="Consolas" pitchFamily="34" charset="-122"/>
                <a:cs typeface="Consolas" pitchFamily="34" charset="-120"/>
              </a:rPr>
              <a:t>    "Revenue Lost": [...]})</a:t>
            </a:r>
            <a:endParaRPr lang="en-US" sz="950" dirty="0"/>
          </a:p>
        </p:txBody>
      </p:sp>
      <p:sp>
        <p:nvSpPr>
          <p:cNvPr id="22" name="Shape 17"/>
          <p:cNvSpPr/>
          <p:nvPr/>
        </p:nvSpPr>
        <p:spPr>
          <a:xfrm>
            <a:off x="548640" y="5230368"/>
            <a:ext cx="11091672" cy="960120"/>
          </a:xfrm>
          <a:prstGeom prst="roundRect">
            <a:avLst>
              <a:gd name="adj" fmla="val 7619"/>
            </a:avLst>
          </a:prstGeom>
          <a:solidFill>
            <a:srgbClr val="151515"/>
          </a:solidFill>
          <a:ln w="9525">
            <a:solidFill>
              <a:srgbClr val="2A2A2A"/>
            </a:solidFill>
            <a:prstDash val="solid"/>
          </a:ln>
        </p:spPr>
      </p:sp>
      <p:sp>
        <p:nvSpPr>
          <p:cNvPr id="23" name="Shape 18"/>
          <p:cNvSpPr/>
          <p:nvPr/>
        </p:nvSpPr>
        <p:spPr>
          <a:xfrm>
            <a:off x="548640" y="5358384"/>
            <a:ext cx="54864" cy="704088"/>
          </a:xfrm>
          <a:prstGeom prst="rect">
            <a:avLst/>
          </a:prstGeom>
          <a:solidFill>
            <a:srgbClr val="E50914"/>
          </a:solidFill>
          <a:ln w="12700">
            <a:solidFill>
              <a:srgbClr val="E50914"/>
            </a:solidFill>
            <a:prstDash val="solid"/>
          </a:ln>
        </p:spPr>
      </p:sp>
      <p:pic>
        <p:nvPicPr>
          <p:cNvPr id="24" name="Image 2" descr="/tmp/claude-0/-home-claude/0afb8f05-6c65-583f-af33-ecd94b11a885/scratchpad/eda/assets/bulb.png">    </p:cNvPr>
          <p:cNvPicPr>
            <a:picLocks noChangeAspect="1"/>
          </p:cNvPicPr>
          <p:nvPr/>
        </p:nvPicPr>
        <p:blipFill>
          <a:blip r:embed="rId4"/>
          <a:stretch>
            <a:fillRect/>
          </a:stretch>
        </p:blipFill>
        <p:spPr>
          <a:xfrm>
            <a:off x="804672" y="5513832"/>
            <a:ext cx="384048" cy="384048"/>
          </a:xfrm>
          <a:prstGeom prst="rect">
            <a:avLst/>
          </a:prstGeom>
        </p:spPr>
      </p:pic>
      <p:sp>
        <p:nvSpPr>
          <p:cNvPr id="25" name="Text 19"/>
          <p:cNvSpPr txBox="1"/>
          <p:nvPr/>
        </p:nvSpPr>
        <p:spPr>
          <a:xfrm>
            <a:off x="1353312" y="5376672"/>
            <a:ext cx="1828800" cy="219456"/>
          </a:xfrm>
          <a:prstGeom prst="rect">
            <a:avLst/>
          </a:prstGeom>
          <a:noFill/>
          <a:ln/>
        </p:spPr>
        <p:txBody>
          <a:bodyPr wrap="square" lIns="0" tIns="0" rIns="0" bIns="0" rtlCol="0" anchor="ctr"/>
          <a:lstStyle/>
          <a:p>
            <a:pPr indent="0" marL="0">
              <a:buNone/>
            </a:pPr>
            <a:r>
              <a:rPr lang="en-US" sz="950" b="1" spc="200" kern="0" dirty="0">
                <a:solidFill>
                  <a:srgbClr val="FF4D57"/>
                </a:solidFill>
                <a:latin typeface="Segoe UI" pitchFamily="34" charset="0"/>
                <a:ea typeface="Segoe UI" pitchFamily="34" charset="-122"/>
                <a:cs typeface="Segoe UI" pitchFamily="34" charset="-120"/>
              </a:rPr>
              <a:t>INSIGHT</a:t>
            </a:r>
            <a:endParaRPr lang="en-US" sz="950" dirty="0"/>
          </a:p>
        </p:txBody>
      </p:sp>
      <p:sp>
        <p:nvSpPr>
          <p:cNvPr id="26" name="Text 20"/>
          <p:cNvSpPr txBox="1"/>
          <p:nvPr/>
        </p:nvSpPr>
        <p:spPr>
          <a:xfrm>
            <a:off x="1353312" y="5577840"/>
            <a:ext cx="10104120" cy="521208"/>
          </a:xfrm>
          <a:prstGeom prst="rect">
            <a:avLst/>
          </a:prstGeom>
          <a:noFill/>
          <a:ln/>
        </p:spPr>
        <p:txBody>
          <a:bodyPr wrap="square" lIns="0" tIns="0" rIns="0" bIns="0" rtlCol="0" anchor="t"/>
          <a:lstStyle/>
          <a:p>
            <a:pPr indent="0" marL="0">
              <a:buNone/>
            </a:pPr>
            <a:r>
              <a:rPr lang="en-US" sz="1200" dirty="0">
                <a:solidFill>
                  <a:srgbClr val="F5F5F1"/>
                </a:solidFill>
                <a:latin typeface="Segoe UI" pitchFamily="34" charset="0"/>
                <a:ea typeface="Segoe UI" pitchFamily="34" charset="-122"/>
                <a:cs typeface="Segoe UI" pitchFamily="34" charset="-120"/>
              </a:rPr>
              <a:t>Ranking groups by churn rate alone would point to low viewers, but </a:t>
            </a:r>
            <a:pPr indent="0" marL="0">
              <a:buNone/>
            </a:pPr>
            <a:r>
              <a:rPr lang="en-US" sz="1200" b="1" dirty="0">
                <a:solidFill>
                  <a:srgbClr val="FF4D57"/>
                </a:solidFill>
                <a:latin typeface="Segoe UI" pitchFamily="34" charset="0"/>
                <a:ea typeface="Segoe UI" pitchFamily="34" charset="-122"/>
                <a:cs typeface="Segoe UI" pitchFamily="34" charset="-120"/>
              </a:rPr>
              <a:t>customers inactive for more than 30 days are the retention priority</a:t>
            </a:r>
            <a:pPr indent="0" marL="0">
              <a:buNone/>
            </a:pPr>
            <a:r>
              <a:rPr lang="en-US" sz="1200" dirty="0">
                <a:solidFill>
                  <a:srgbClr val="F5F5F1"/>
                </a:solidFill>
                <a:latin typeface="Segoe UI" pitchFamily="34" charset="0"/>
                <a:ea typeface="Segoe UI" pitchFamily="34" charset="-122"/>
                <a:cs typeface="Segoe UI" pitchFamily="34" charset="-120"/>
              </a:rPr>
              <a:t>. They form the </a:t>
            </a:r>
            <a:pPr indent="0" marL="0">
              <a:buNone/>
            </a:pPr>
            <a:r>
              <a:rPr lang="en-US" sz="1200" b="1" dirty="0">
                <a:solidFill>
                  <a:srgbClr val="F5F5F1"/>
                </a:solidFill>
                <a:latin typeface="Segoe UI" pitchFamily="34" charset="0"/>
                <a:ea typeface="Segoe UI" pitchFamily="34" charset="-122"/>
                <a:cs typeface="Segoe UI" pitchFamily="34" charset="-120"/>
              </a:rPr>
              <a:t>largest group (2,353)</a:t>
            </a:r>
            <a:pPr indent="0" marL="0">
              <a:buNone/>
            </a:pPr>
            <a:r>
              <a:rPr lang="en-US" sz="1200" dirty="0">
                <a:solidFill>
                  <a:srgbClr val="F5F5F1"/>
                </a:solidFill>
                <a:latin typeface="Segoe UI" pitchFamily="34" charset="0"/>
                <a:ea typeface="Segoe UI" pitchFamily="34" charset="-122"/>
                <a:cs typeface="Segoe UI" pitchFamily="34" charset="-120"/>
              </a:rPr>
              <a:t>, carry the </a:t>
            </a:r>
            <a:pPr indent="0" marL="0">
              <a:buNone/>
            </a:pPr>
            <a:r>
              <a:rPr lang="en-US" sz="1200" b="1" dirty="0">
                <a:solidFill>
                  <a:srgbClr val="F5F5F1"/>
                </a:solidFill>
                <a:latin typeface="Segoe UI" pitchFamily="34" charset="0"/>
                <a:ea typeface="Segoe UI" pitchFamily="34" charset="-122"/>
                <a:cs typeface="Segoe UI" pitchFamily="34" charset="-120"/>
              </a:rPr>
              <a:t>highest monthly revenue lost ($23,515.26)</a:t>
            </a:r>
            <a:pPr indent="0" marL="0">
              <a:buNone/>
            </a:pPr>
            <a:r>
              <a:rPr lang="en-US" sz="1200" dirty="0">
                <a:solidFill>
                  <a:srgbClr val="F5F5F1"/>
                </a:solidFill>
                <a:latin typeface="Segoe UI" pitchFamily="34" charset="0"/>
                <a:ea typeface="Segoe UI" pitchFamily="34" charset="-122"/>
                <a:cs typeface="Segoe UI" pitchFamily="34" charset="-120"/>
              </a:rPr>
              <a:t>, and still hold </a:t>
            </a:r>
            <a:pPr indent="0" marL="0">
              <a:buNone/>
            </a:pPr>
            <a:r>
              <a:rPr lang="en-US" sz="1200" b="1" dirty="0">
                <a:solidFill>
                  <a:srgbClr val="F5F5F1"/>
                </a:solidFill>
                <a:latin typeface="Segoe UI" pitchFamily="34" charset="0"/>
                <a:ea typeface="Segoe UI" pitchFamily="34" charset="-122"/>
                <a:cs typeface="Segoe UI" pitchFamily="34" charset="-120"/>
              </a:rPr>
              <a:t>$8,591.21</a:t>
            </a:r>
            <a:pPr indent="0" marL="0">
              <a:buNone/>
            </a:pPr>
            <a:r>
              <a:rPr lang="en-US" sz="1200" dirty="0">
                <a:solidFill>
                  <a:srgbClr val="F5F5F1"/>
                </a:solidFill>
                <a:latin typeface="Segoe UI" pitchFamily="34" charset="0"/>
                <a:ea typeface="Segoe UI" pitchFamily="34" charset="-122"/>
                <a:cs typeface="Segoe UI" pitchFamily="34" charset="-120"/>
              </a:rPr>
              <a:t> of active monthly revenue that can be protected.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SUMMARY</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Key Findings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Questions 01 to 08: disengagement comes before churn, and behaviour matters more than demographics.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25 / 27</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548640"/>
                <a:gridCol w="2377440"/>
                <a:gridCol w="8165592"/>
              </a:tblGrid>
              <a:tr h="45720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Question</a:t>
                      </a:r>
                      <a:endParaRPr lang="en-US" sz="110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Key finding</a:t>
                      </a:r>
                      <a:endParaRPr lang="en-US" sz="110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01</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Customer preferences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Evenly spread; Premium, Drama, Tablet and Female lead by small margins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02</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Churn overview</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50.3% of customers left (2,515) and 49.7% stayed (2,485)</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03</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Silent subscribers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623 retained customers watch 7.79 hours a month or less, worth $9,209.77 a month</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04</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Inactive but paying</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579 retained customers inactive for over 30 days, worth $8,591.21 a month</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05</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Manual payments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Gift Card and Crypto: 38.1% of customers and 38.58% of monthly fees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06</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Danger zone</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Churn jumps from 34.38% to 75.17% after 30 days without logging in</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07</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Engagement</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Retained customers watch significantly more per day (p = 5.12e-119)</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08</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Warning signals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Low viewing plus 30+ days inactive: 100% churn across 583 customers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10561320" y="347472"/>
            <a:ext cx="1078992" cy="292608"/>
          </a:xfrm>
          <a:prstGeom prst="rect">
            <a:avLst/>
          </a:prstGeom>
        </p:spPr>
      </p:pic>
      <p:sp>
        <p:nvSpPr>
          <p:cNvPr id="3" name="Shape 0"/>
          <p:cNvSpPr/>
          <p:nvPr/>
        </p:nvSpPr>
        <p:spPr>
          <a:xfrm>
            <a:off x="548640" y="457200"/>
            <a:ext cx="320040" cy="45720"/>
          </a:xfrm>
          <a:prstGeom prst="rect">
            <a:avLst/>
          </a:prstGeom>
          <a:solidFill>
            <a:srgbClr val="E50914"/>
          </a:solidFill>
          <a:ln w="12700">
            <a:solidFill>
              <a:srgbClr val="E50914"/>
            </a:solidFill>
            <a:prstDash val="solid"/>
          </a:ln>
        </p:spPr>
      </p:sp>
      <p:sp>
        <p:nvSpPr>
          <p:cNvPr id="4" name="Text 1"/>
          <p:cNvSpPr txBox="1"/>
          <p:nvPr/>
        </p:nvSpPr>
        <p:spPr>
          <a:xfrm>
            <a:off x="960120" y="329184"/>
            <a:ext cx="8686800" cy="292608"/>
          </a:xfrm>
          <a:prstGeom prst="rect">
            <a:avLst/>
          </a:prstGeom>
          <a:noFill/>
          <a:ln/>
        </p:spPr>
        <p:txBody>
          <a:bodyPr wrap="square" lIns="0" tIns="0" rIns="0" bIns="0" rtlCol="0" anchor="ctr"/>
          <a:lstStyle/>
          <a:p>
            <a:pPr indent="0" marL="0">
              <a:buNone/>
            </a:pPr>
            <a:r>
              <a:rPr lang="en-US" sz="1100" b="1" spc="200" kern="0" dirty="0">
                <a:solidFill>
                  <a:srgbClr val="FF4D57"/>
                </a:solidFill>
                <a:latin typeface="Segoe UI" pitchFamily="34" charset="0"/>
                <a:ea typeface="Segoe UI" pitchFamily="34" charset="-122"/>
                <a:cs typeface="Segoe UI" pitchFamily="34" charset="-120"/>
              </a:rPr>
              <a:t>SUMMARY</a:t>
            </a:r>
            <a:endParaRPr lang="en-US" sz="1100" dirty="0"/>
          </a:p>
        </p:txBody>
      </p:sp>
      <p:sp>
        <p:nvSpPr>
          <p:cNvPr id="5" name="Text 2"/>
          <p:cNvSpPr txBox="1"/>
          <p:nvPr/>
        </p:nvSpPr>
        <p:spPr>
          <a:xfrm>
            <a:off x="548640" y="676656"/>
            <a:ext cx="9784080" cy="731520"/>
          </a:xfrm>
          <a:prstGeom prst="rect">
            <a:avLst/>
          </a:prstGeom>
          <a:noFill/>
          <a:ln/>
        </p:spPr>
        <p:txBody>
          <a:bodyPr wrap="square" lIns="0" tIns="0" rIns="0" bIns="0" rtlCol="0" anchor="t"/>
          <a:lstStyle/>
          <a:p>
            <a:pPr indent="0" marL="0">
              <a:buNone/>
            </a:pPr>
            <a:r>
              <a:rPr lang="en-US" sz="2200" b="1" dirty="0">
                <a:solidFill>
                  <a:srgbClr val="F5F5F1"/>
                </a:solidFill>
                <a:latin typeface="Segoe UI" pitchFamily="34" charset="0"/>
                <a:ea typeface="Segoe UI" pitchFamily="34" charset="-122"/>
                <a:cs typeface="Segoe UI" pitchFamily="34" charset="-120"/>
              </a:rPr>
              <a:t>Key Findings</a:t>
            </a:r>
            <a:endParaRPr lang="en-US" sz="2200" dirty="0"/>
          </a:p>
        </p:txBody>
      </p:sp>
      <p:sp>
        <p:nvSpPr>
          <p:cNvPr id="6" name="Text 3"/>
          <p:cNvSpPr txBox="1"/>
          <p:nvPr/>
        </p:nvSpPr>
        <p:spPr>
          <a:xfrm>
            <a:off x="548640" y="1426464"/>
            <a:ext cx="11064240" cy="292608"/>
          </a:xfrm>
          <a:prstGeom prst="rect">
            <a:avLst/>
          </a:prstGeom>
          <a:noFill/>
          <a:ln/>
        </p:spPr>
        <p:txBody>
          <a:bodyPr wrap="square" lIns="0" tIns="0" rIns="0" bIns="0" rtlCol="0" anchor="t"/>
          <a:lstStyle/>
          <a:p>
            <a:pPr indent="0" marL="0">
              <a:buNone/>
            </a:pPr>
            <a:r>
              <a:rPr lang="en-US" sz="1350" dirty="0">
                <a:solidFill>
                  <a:srgbClr val="A6A6A6"/>
                </a:solidFill>
                <a:latin typeface="Segoe UI" pitchFamily="34" charset="0"/>
                <a:ea typeface="Segoe UI" pitchFamily="34" charset="-122"/>
                <a:cs typeface="Segoe UI" pitchFamily="34" charset="-120"/>
              </a:rPr>
              <a:t>Questions 09 to 15: disengagement comes before churn, and behaviour matters more than demographics.</a:t>
            </a:r>
            <a:endParaRPr lang="en-US" sz="1350" dirty="0"/>
          </a:p>
        </p:txBody>
      </p:sp>
      <p:sp>
        <p:nvSpPr>
          <p:cNvPr id="7" name="Shape 4"/>
          <p:cNvSpPr/>
          <p:nvPr/>
        </p:nvSpPr>
        <p:spPr>
          <a:xfrm>
            <a:off x="548640" y="6355080"/>
            <a:ext cx="11091672" cy="0"/>
          </a:xfrm>
          <a:prstGeom prst="line">
            <a:avLst/>
          </a:prstGeom>
          <a:noFill/>
          <a:ln w="9525">
            <a:solidFill>
              <a:srgbClr val="2A2A2A"/>
            </a:solidFill>
            <a:prstDash val="solid"/>
          </a:ln>
        </p:spPr>
      </p:sp>
      <p:sp>
        <p:nvSpPr>
          <p:cNvPr id="8"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A6A6A6"/>
                </a:solidFill>
                <a:latin typeface="Segoe UI" pitchFamily="34" charset="0"/>
                <a:ea typeface="Segoe UI" pitchFamily="34" charset="-122"/>
                <a:cs typeface="Segoe UI" pitchFamily="34" charset="-120"/>
              </a:rPr>
              <a:t>Netflix Customer Churn Analysis   |   Exploratory Data Analysis   |   Gayathri Ilangovan</a:t>
            </a:r>
            <a:endParaRPr lang="en-US" sz="900" dirty="0"/>
          </a:p>
        </p:txBody>
      </p:sp>
      <p:sp>
        <p:nvSpPr>
          <p:cNvPr id="9" name="Text 6"/>
          <p:cNvSpPr txBox="1"/>
          <p:nvPr/>
        </p:nvSpPr>
        <p:spPr>
          <a:xfrm>
            <a:off x="9811512" y="6419088"/>
            <a:ext cx="1828800" cy="274320"/>
          </a:xfrm>
          <a:prstGeom prst="rect">
            <a:avLst/>
          </a:prstGeom>
          <a:noFill/>
          <a:ln/>
        </p:spPr>
        <p:txBody>
          <a:bodyPr wrap="square" lIns="0" tIns="0" rIns="0" bIns="0" rtlCol="0" anchor="ctr"/>
          <a:lstStyle/>
          <a:p>
            <a:pPr algn="r" indent="0" marL="0">
              <a:buNone/>
            </a:pPr>
            <a:r>
              <a:rPr lang="en-US" sz="900" dirty="0">
                <a:solidFill>
                  <a:srgbClr val="A6A6A6"/>
                </a:solidFill>
                <a:latin typeface="Segoe UI" pitchFamily="34" charset="0"/>
                <a:ea typeface="Segoe UI" pitchFamily="34" charset="-122"/>
                <a:cs typeface="Segoe UI" pitchFamily="34" charset="-120"/>
              </a:rPr>
              <a:t>26 / 27</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548640"/>
                <a:gridCol w="2377440"/>
                <a:gridCol w="8165592"/>
              </a:tblGrid>
              <a:tr h="45720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Question</a:t>
                      </a:r>
                      <a:endParaRPr lang="en-US" sz="110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Key finding</a:t>
                      </a:r>
                      <a:endParaRPr lang="en-US" sz="110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B20710"/>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09</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Plan type</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Among low viewers, Basic churns at 97.58% vs about 79.6% for Standard and Premium</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10</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Payment method</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Manual payers churn more at every viewing level: 94.88% vs 79.97% (low viewing)</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11</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Account sharing</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Churn falls from 57.85% to 37.54% at four profiles; a fifth adds no benefit</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12</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Gender, region, device</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No significant association with churn (p = 0.7225, 0.5517, 0.8642)</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13</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Atypical customers</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185 heavy viewers left and 180 light viewers stayed</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14</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Revenue by plan</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Premium loses the most ($13,366.57); Basic has the highest churn rate (61.81%)</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11111"/>
                    </a:solidFill>
                  </a:tcPr>
                </a:tc>
              </a:tr>
              <a:tr h="457200">
                <a:tc>
                  <a:txBody>
                    <a:bodyPr/>
                    <a:lstStyle/>
                    <a:p>
                      <a:pPr indent="0" marL="0">
                        <a:buNone/>
                      </a:pPr>
                      <a:r>
                        <a:rPr lang="en-US" sz="1150" b="1" dirty="0">
                          <a:solidFill>
                            <a:srgbClr val="FF4D57"/>
                          </a:solidFill>
                          <a:latin typeface="Segoe UI" pitchFamily="34" charset="0"/>
                          <a:ea typeface="Segoe UI" pitchFamily="34" charset="-122"/>
                          <a:cs typeface="Segoe UI" pitchFamily="34" charset="-120"/>
                        </a:rPr>
                        <a:t>15</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b="1" dirty="0">
                          <a:solidFill>
                            <a:srgbClr val="F5F5F1"/>
                          </a:solidFill>
                          <a:latin typeface="Segoe UI" pitchFamily="34" charset="0"/>
                          <a:ea typeface="Segoe UI" pitchFamily="34" charset="-122"/>
                          <a:cs typeface="Segoe UI" pitchFamily="34" charset="-120"/>
                        </a:rPr>
                        <a:t>Retention priority</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c>
                  <a:txBody>
                    <a:bodyPr/>
                    <a:lstStyle/>
                    <a:p>
                      <a:pPr indent="0" marL="0">
                        <a:buNone/>
                      </a:pPr>
                      <a:r>
                        <a:rPr lang="en-US" sz="1150" dirty="0">
                          <a:solidFill>
                            <a:srgbClr val="F5F5F1"/>
                          </a:solidFill>
                          <a:latin typeface="Segoe UI" pitchFamily="34" charset="0"/>
                          <a:ea typeface="Segoe UI" pitchFamily="34" charset="-122"/>
                          <a:cs typeface="Segoe UI" pitchFamily="34" charset="-120"/>
                        </a:rPr>
                        <a:t>Inactive &gt;30 days: largest group (2,353) and highest revenue lost ($23,515.26)</a:t>
                      </a:r>
                      <a:endParaRPr lang="en-US" sz="1150" dirty="0">
                        <a:latin typeface="Segoe UI" charset="0"/>
                        <a:ea typeface="Segoe UI" charset="0"/>
                        <a:cs typeface="Segoe UI" charset="0"/>
                      </a:endParaRPr>
                    </a:p>
                  </a:txBody>
                  <a:tcPr marL="146304" marR="146304" marT="0" marB="0"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51515"/>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0afb8f05-6c65-583f-af33-ecd94b11a885/scratchpad/eda/assets/logo.png">    </p:cNvPr>
          <p:cNvPicPr>
            <a:picLocks noChangeAspect="1"/>
          </p:cNvPicPr>
          <p:nvPr/>
        </p:nvPicPr>
        <p:blipFill>
          <a:blip r:embed="rId2"/>
          <a:stretch>
            <a:fillRect/>
          </a:stretch>
        </p:blipFill>
        <p:spPr>
          <a:xfrm>
            <a:off x="548640" y="502920"/>
            <a:ext cx="1353312" cy="365760"/>
          </a:xfrm>
          <a:prstGeom prst="rect">
            <a:avLst/>
          </a:prstGeom>
        </p:spPr>
      </p:pic>
      <p:sp>
        <p:nvSpPr>
          <p:cNvPr id="3" name="Text 0"/>
          <p:cNvSpPr txBox="1"/>
          <p:nvPr/>
        </p:nvSpPr>
        <p:spPr>
          <a:xfrm>
            <a:off x="548640" y="2286000"/>
            <a:ext cx="9144000" cy="1097280"/>
          </a:xfrm>
          <a:prstGeom prst="rect">
            <a:avLst/>
          </a:prstGeom>
          <a:noFill/>
          <a:ln/>
        </p:spPr>
        <p:txBody>
          <a:bodyPr wrap="square" lIns="0" tIns="0" rIns="0" bIns="0" rtlCol="0" anchor="ctr"/>
          <a:lstStyle/>
          <a:p>
            <a:pPr indent="0" marL="0">
              <a:buNone/>
            </a:pPr>
            <a:r>
              <a:rPr lang="en-US" sz="6000" b="1" dirty="0">
                <a:solidFill>
                  <a:srgbClr val="F5F5F1"/>
                </a:solidFill>
                <a:latin typeface="Segoe UI" pitchFamily="34" charset="0"/>
                <a:ea typeface="Segoe UI" pitchFamily="34" charset="-122"/>
                <a:cs typeface="Segoe UI" pitchFamily="34" charset="-120"/>
              </a:rPr>
              <a:t>Thank you</a:t>
            </a:r>
            <a:endParaRPr lang="en-US" sz="6000" dirty="0"/>
          </a:p>
        </p:txBody>
      </p:sp>
      <p:sp>
        <p:nvSpPr>
          <p:cNvPr id="4" name="Text 1"/>
          <p:cNvSpPr txBox="1"/>
          <p:nvPr/>
        </p:nvSpPr>
        <p:spPr>
          <a:xfrm>
            <a:off x="548640" y="3566160"/>
            <a:ext cx="9144000" cy="365760"/>
          </a:xfrm>
          <a:prstGeom prst="rect">
            <a:avLst/>
          </a:prstGeom>
          <a:noFill/>
          <a:ln/>
        </p:spPr>
        <p:txBody>
          <a:bodyPr wrap="square" lIns="0" tIns="0" rIns="0" bIns="0" rtlCol="0" anchor="ctr"/>
          <a:lstStyle/>
          <a:p>
            <a:pPr indent="0" marL="0">
              <a:buNone/>
            </a:pPr>
            <a:r>
              <a:rPr lang="en-US" sz="1400" dirty="0">
                <a:solidFill>
                  <a:srgbClr val="A6A6A6"/>
                </a:solidFill>
                <a:latin typeface="Segoe UI" pitchFamily="34" charset="0"/>
                <a:ea typeface="Segoe UI" pitchFamily="34" charset="-122"/>
                <a:cs typeface="Segoe UI" pitchFamily="34" charset="-120"/>
              </a:rPr>
              <a:t>Gayathri Ilangovan   |   ML &amp; Data Science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Customer Churn – Exploratory Data Analysis</dc:title>
  <dc:subject>PptxGenJS Presentation</dc:subject>
  <dc:creator>Gayathri Ilangovan</dc:creator>
  <cp:lastModifiedBy>Gayathri Ilangovan</cp:lastModifiedBy>
  <cp:revision>1</cp:revision>
  <dcterms:created xsi:type="dcterms:W3CDTF">2026-10-13T19:24:14Z</dcterms:created>
  <dcterms:modified xsi:type="dcterms:W3CDTF">2026-10-13T19:24:14Z</dcterms:modified>
</cp:coreProperties>
</file>